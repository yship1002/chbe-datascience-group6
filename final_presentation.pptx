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5.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6.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7.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8.xml" ContentType="application/vnd.openxmlformats-officedocument.presentationml.notesSlide+xml"/>
  <Override PartName="/ppt/tags/tag17.xml" ContentType="application/vnd.openxmlformats-officedocument.presentationml.tag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73" r:id="rId4"/>
  </p:sldMasterIdLst>
  <p:notesMasterIdLst>
    <p:notesMasterId r:id="rId19"/>
  </p:notesMasterIdLst>
  <p:handoutMasterIdLst>
    <p:handoutMasterId r:id="rId20"/>
  </p:handoutMasterIdLst>
  <p:sldIdLst>
    <p:sldId id="2693" r:id="rId5"/>
    <p:sldId id="2839" r:id="rId6"/>
    <p:sldId id="2843" r:id="rId7"/>
    <p:sldId id="2763" r:id="rId8"/>
    <p:sldId id="2831" r:id="rId9"/>
    <p:sldId id="2844" r:id="rId10"/>
    <p:sldId id="2846" r:id="rId11"/>
    <p:sldId id="2848" r:id="rId12"/>
    <p:sldId id="2849" r:id="rId13"/>
    <p:sldId id="2850" r:id="rId14"/>
    <p:sldId id="2851" r:id="rId15"/>
    <p:sldId id="2852" r:id="rId16"/>
    <p:sldId id="2853" r:id="rId17"/>
    <p:sldId id="2855" r:id="rId18"/>
  </p:sldIdLst>
  <p:sldSz cx="12192000" cy="6858000"/>
  <p:notesSz cx="7010400" cy="9296400"/>
  <p:custDataLst>
    <p:tags r:id="rId21"/>
  </p:custDataLst>
  <p:defaultTextStyle>
    <a:defPPr>
      <a:defRPr lang="en-US"/>
    </a:defPPr>
    <a:lvl1pPr algn="r" rtl="0" eaLnBrk="0" fontAlgn="base" hangingPunct="0">
      <a:spcBef>
        <a:spcPct val="0"/>
      </a:spcBef>
      <a:spcAft>
        <a:spcPct val="0"/>
      </a:spcAft>
      <a:defRPr sz="2400" b="1" kern="1200">
        <a:solidFill>
          <a:schemeClr val="tx1"/>
        </a:solidFill>
        <a:latin typeface="Times" pitchFamily="1" charset="0"/>
        <a:ea typeface="+mn-ea"/>
        <a:cs typeface="+mn-cs"/>
      </a:defRPr>
    </a:lvl1pPr>
    <a:lvl2pPr marL="457200" algn="r" rtl="0" eaLnBrk="0" fontAlgn="base" hangingPunct="0">
      <a:spcBef>
        <a:spcPct val="0"/>
      </a:spcBef>
      <a:spcAft>
        <a:spcPct val="0"/>
      </a:spcAft>
      <a:defRPr sz="2400" b="1" kern="1200">
        <a:solidFill>
          <a:schemeClr val="tx1"/>
        </a:solidFill>
        <a:latin typeface="Times" pitchFamily="1" charset="0"/>
        <a:ea typeface="+mn-ea"/>
        <a:cs typeface="+mn-cs"/>
      </a:defRPr>
    </a:lvl2pPr>
    <a:lvl3pPr marL="914400" algn="r" rtl="0" eaLnBrk="0" fontAlgn="base" hangingPunct="0">
      <a:spcBef>
        <a:spcPct val="0"/>
      </a:spcBef>
      <a:spcAft>
        <a:spcPct val="0"/>
      </a:spcAft>
      <a:defRPr sz="2400" b="1" kern="1200">
        <a:solidFill>
          <a:schemeClr val="tx1"/>
        </a:solidFill>
        <a:latin typeface="Times" pitchFamily="1" charset="0"/>
        <a:ea typeface="+mn-ea"/>
        <a:cs typeface="+mn-cs"/>
      </a:defRPr>
    </a:lvl3pPr>
    <a:lvl4pPr marL="1371600" algn="r" rtl="0" eaLnBrk="0" fontAlgn="base" hangingPunct="0">
      <a:spcBef>
        <a:spcPct val="0"/>
      </a:spcBef>
      <a:spcAft>
        <a:spcPct val="0"/>
      </a:spcAft>
      <a:defRPr sz="2400" b="1" kern="1200">
        <a:solidFill>
          <a:schemeClr val="tx1"/>
        </a:solidFill>
        <a:latin typeface="Times" pitchFamily="1" charset="0"/>
        <a:ea typeface="+mn-ea"/>
        <a:cs typeface="+mn-cs"/>
      </a:defRPr>
    </a:lvl4pPr>
    <a:lvl5pPr marL="1828800" algn="r" rtl="0" eaLnBrk="0" fontAlgn="base" hangingPunct="0">
      <a:spcBef>
        <a:spcPct val="0"/>
      </a:spcBef>
      <a:spcAft>
        <a:spcPct val="0"/>
      </a:spcAft>
      <a:defRPr sz="2400" b="1" kern="1200">
        <a:solidFill>
          <a:schemeClr val="tx1"/>
        </a:solidFill>
        <a:latin typeface="Times" pitchFamily="1" charset="0"/>
        <a:ea typeface="+mn-ea"/>
        <a:cs typeface="+mn-cs"/>
      </a:defRPr>
    </a:lvl5pPr>
    <a:lvl6pPr marL="2286000" algn="l" defTabSz="914400" rtl="0" eaLnBrk="1" latinLnBrk="0" hangingPunct="1">
      <a:defRPr sz="2400" b="1" kern="1200">
        <a:solidFill>
          <a:schemeClr val="tx1"/>
        </a:solidFill>
        <a:latin typeface="Times" pitchFamily="1" charset="0"/>
        <a:ea typeface="+mn-ea"/>
        <a:cs typeface="+mn-cs"/>
      </a:defRPr>
    </a:lvl6pPr>
    <a:lvl7pPr marL="2743200" algn="l" defTabSz="914400" rtl="0" eaLnBrk="1" latinLnBrk="0" hangingPunct="1">
      <a:defRPr sz="2400" b="1" kern="1200">
        <a:solidFill>
          <a:schemeClr val="tx1"/>
        </a:solidFill>
        <a:latin typeface="Times" pitchFamily="1" charset="0"/>
        <a:ea typeface="+mn-ea"/>
        <a:cs typeface="+mn-cs"/>
      </a:defRPr>
    </a:lvl7pPr>
    <a:lvl8pPr marL="3200400" algn="l" defTabSz="914400" rtl="0" eaLnBrk="1" latinLnBrk="0" hangingPunct="1">
      <a:defRPr sz="2400" b="1" kern="1200">
        <a:solidFill>
          <a:schemeClr val="tx1"/>
        </a:solidFill>
        <a:latin typeface="Times" pitchFamily="1" charset="0"/>
        <a:ea typeface="+mn-ea"/>
        <a:cs typeface="+mn-cs"/>
      </a:defRPr>
    </a:lvl8pPr>
    <a:lvl9pPr marL="3657600" algn="l" defTabSz="914400" rtl="0" eaLnBrk="1" latinLnBrk="0" hangingPunct="1">
      <a:defRPr sz="2400" b="1" kern="1200">
        <a:solidFill>
          <a:schemeClr val="tx1"/>
        </a:solidFill>
        <a:latin typeface="Times" pitchFamily="1" charset="0"/>
        <a:ea typeface="+mn-ea"/>
        <a:cs typeface="+mn-cs"/>
      </a:defRPr>
    </a:lvl9pPr>
  </p:defaultTextStyle>
  <p:extLst>
    <p:ext uri="{521415D9-36F7-43E2-AB2F-B90AF26B5E84}">
      <p14:sectionLst xmlns:p14="http://schemas.microsoft.com/office/powerpoint/2010/main">
        <p14:section name="Default Section" id="{CF4A3E0A-B44A-E946-BC27-22214CDA8A41}">
          <p14:sldIdLst>
            <p14:sldId id="2693"/>
            <p14:sldId id="2839"/>
            <p14:sldId id="2843"/>
            <p14:sldId id="2763"/>
            <p14:sldId id="2831"/>
            <p14:sldId id="2844"/>
            <p14:sldId id="2846"/>
            <p14:sldId id="2848"/>
            <p14:sldId id="2849"/>
            <p14:sldId id="2850"/>
            <p14:sldId id="2851"/>
            <p14:sldId id="2852"/>
            <p14:sldId id="2853"/>
            <p14:sldId id="2855"/>
          </p14:sldIdLst>
        </p14:section>
        <p14:section name="Untitled Section" id="{9298A022-E66D-7947-9095-73F4C049DFF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7437"/>
    <a:srgbClr val="003057"/>
    <a:srgbClr val="FFE081"/>
    <a:srgbClr val="FCB315"/>
    <a:srgbClr val="A4925A"/>
    <a:srgbClr val="76713C"/>
    <a:srgbClr val="FFFFFF"/>
    <a:srgbClr val="B3A369"/>
    <a:srgbClr val="102F54"/>
    <a:srgbClr val="B6E5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50"/>
    <p:restoredTop sz="94293"/>
  </p:normalViewPr>
  <p:slideViewPr>
    <p:cSldViewPr snapToGrid="0" snapToObjects="1">
      <p:cViewPr varScale="1">
        <p:scale>
          <a:sx n="88" d="100"/>
          <a:sy n="88" d="100"/>
        </p:scale>
        <p:origin x="1216"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2" d="100"/>
          <a:sy n="92" d="100"/>
        </p:scale>
        <p:origin x="3736"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ags" Target="tags/tag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3118739" y="8855459"/>
            <a:ext cx="774515" cy="257880"/>
          </a:xfrm>
          <a:prstGeom prst="rect">
            <a:avLst/>
          </a:prstGeom>
          <a:noFill/>
          <a:ln w="12700">
            <a:noFill/>
            <a:miter lim="800000"/>
            <a:headEnd/>
            <a:tailEnd/>
          </a:ln>
          <a:effectLst/>
        </p:spPr>
        <p:txBody>
          <a:bodyPr wrap="none" lIns="88761" tIns="45188" rIns="88761" bIns="45188">
            <a:spAutoFit/>
          </a:bodyPr>
          <a:lstStyle/>
          <a:p>
            <a:pPr algn="ctr" defTabSz="882650">
              <a:lnSpc>
                <a:spcPct val="90000"/>
              </a:lnSpc>
              <a:defRPr/>
            </a:pPr>
            <a:r>
              <a:rPr lang="en-US" sz="1200" b="0">
                <a:latin typeface="Arial" charset="0"/>
              </a:rPr>
              <a:t>Page </a:t>
            </a:r>
            <a:fld id="{3FB9933B-8F6F-4DCD-A195-AE73B400D6C1}" type="slidenum">
              <a:rPr lang="en-US" sz="1200" b="0">
                <a:latin typeface="Arial" charset="0"/>
              </a:rPr>
              <a:pPr algn="ctr" defTabSz="882650">
                <a:lnSpc>
                  <a:spcPct val="90000"/>
                </a:lnSpc>
                <a:defRPr/>
              </a:pPr>
              <a:t>‹#›</a:t>
            </a:fld>
            <a:endParaRPr lang="en-US" sz="1200" b="0">
              <a:latin typeface="Arial" charset="0"/>
            </a:endParaRPr>
          </a:p>
        </p:txBody>
      </p:sp>
      <p:sp>
        <p:nvSpPr>
          <p:cNvPr id="2" name="Slide Number Placeholder 1">
            <a:extLst>
              <a:ext uri="{FF2B5EF4-FFF2-40B4-BE49-F238E27FC236}">
                <a16:creationId xmlns:a16="http://schemas.microsoft.com/office/drawing/2014/main" id="{39425A43-6D67-4590-8EFD-4B9CA5A16B8B}"/>
              </a:ext>
            </a:extLst>
          </p:cNvPr>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2A009A24-BF5D-4859-A8CC-F608E237F0D6}" type="slidenum">
              <a:rPr lang="en-US" smtClean="0"/>
              <a:t>‹#›</a:t>
            </a:fld>
            <a:endParaRPr lang="en-US"/>
          </a:p>
        </p:txBody>
      </p:sp>
    </p:spTree>
    <p:extLst>
      <p:ext uri="{BB962C8B-B14F-4D97-AF65-F5344CB8AC3E}">
        <p14:creationId xmlns:p14="http://schemas.microsoft.com/office/powerpoint/2010/main" val="21131688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3118739" y="8855459"/>
            <a:ext cx="774515" cy="257880"/>
          </a:xfrm>
          <a:prstGeom prst="rect">
            <a:avLst/>
          </a:prstGeom>
          <a:noFill/>
          <a:ln w="12700">
            <a:noFill/>
            <a:miter lim="800000"/>
            <a:headEnd/>
            <a:tailEnd/>
          </a:ln>
          <a:effectLst/>
        </p:spPr>
        <p:txBody>
          <a:bodyPr wrap="none" lIns="88761" tIns="45188" rIns="88761" bIns="45188">
            <a:spAutoFit/>
          </a:bodyPr>
          <a:lstStyle/>
          <a:p>
            <a:pPr algn="ctr" defTabSz="882650">
              <a:lnSpc>
                <a:spcPct val="90000"/>
              </a:lnSpc>
              <a:defRPr/>
            </a:pPr>
            <a:r>
              <a:rPr lang="en-US" sz="1200" b="0">
                <a:latin typeface="Arial" charset="0"/>
              </a:rPr>
              <a:t>Page </a:t>
            </a:r>
            <a:fld id="{0F90B13C-B457-4461-88C3-8820C7234633}" type="slidenum">
              <a:rPr lang="en-US" sz="1200" b="0">
                <a:latin typeface="Arial" charset="0"/>
              </a:rPr>
              <a:pPr algn="ctr" defTabSz="882650">
                <a:lnSpc>
                  <a:spcPct val="90000"/>
                </a:lnSpc>
                <a:defRPr/>
              </a:pPr>
              <a:t>‹#›</a:t>
            </a:fld>
            <a:endParaRPr lang="en-US" sz="1200" b="0">
              <a:latin typeface="Arial" charset="0"/>
            </a:endParaRPr>
          </a:p>
        </p:txBody>
      </p:sp>
      <p:sp>
        <p:nvSpPr>
          <p:cNvPr id="4099" name="Rectangle 3"/>
          <p:cNvSpPr>
            <a:spLocks noGrp="1" noRot="1" noChangeAspect="1" noChangeArrowheads="1" noTextEdit="1"/>
          </p:cNvSpPr>
          <p:nvPr>
            <p:ph type="sldImg" idx="2"/>
          </p:nvPr>
        </p:nvSpPr>
        <p:spPr bwMode="auto">
          <a:xfrm>
            <a:off x="406400" y="696913"/>
            <a:ext cx="6197600" cy="3486150"/>
          </a:xfrm>
          <a:prstGeom prst="rect">
            <a:avLst/>
          </a:prstGeom>
          <a:noFill/>
          <a:ln w="12700">
            <a:solidFill>
              <a:schemeClr val="tx1"/>
            </a:solidFill>
            <a:miter lim="800000"/>
            <a:headEnd/>
            <a:tailEnd/>
          </a:ln>
        </p:spPr>
      </p:sp>
      <p:sp>
        <p:nvSpPr>
          <p:cNvPr id="2052" name="Rectangle 4"/>
          <p:cNvSpPr>
            <a:spLocks noGrp="1" noChangeArrowheads="1"/>
          </p:cNvSpPr>
          <p:nvPr>
            <p:ph type="body" sz="quarter" idx="3"/>
          </p:nvPr>
        </p:nvSpPr>
        <p:spPr bwMode="auto">
          <a:xfrm>
            <a:off x="935145" y="4415790"/>
            <a:ext cx="5140112" cy="4183380"/>
          </a:xfrm>
          <a:prstGeom prst="rect">
            <a:avLst/>
          </a:prstGeom>
          <a:noFill/>
          <a:ln w="12700">
            <a:noFill/>
            <a:miter lim="800000"/>
            <a:headEnd/>
            <a:tailEnd/>
          </a:ln>
          <a:effectLst/>
        </p:spPr>
        <p:txBody>
          <a:bodyPr vert="horz" wrap="square" lIns="91989" tIns="45188" rIns="91989" bIns="45188"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56462028"/>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Arial" charset="0"/>
        <a:ea typeface="+mn-ea"/>
        <a:cs typeface="+mn-cs"/>
      </a:defRPr>
    </a:lvl1pPr>
    <a:lvl2pPr marL="457200" algn="l" rtl="0" eaLnBrk="0" fontAlgn="base" hangingPunct="0">
      <a:lnSpc>
        <a:spcPct val="90000"/>
      </a:lnSpc>
      <a:spcBef>
        <a:spcPct val="40000"/>
      </a:spcBef>
      <a:spcAft>
        <a:spcPct val="0"/>
      </a:spcAft>
      <a:defRPr sz="1200" kern="1200">
        <a:solidFill>
          <a:schemeClr val="tx1"/>
        </a:solidFill>
        <a:latin typeface="Arial" charset="0"/>
        <a:ea typeface="+mn-ea"/>
        <a:cs typeface="+mn-cs"/>
      </a:defRPr>
    </a:lvl2pPr>
    <a:lvl3pPr marL="914400" algn="l" rtl="0" eaLnBrk="0" fontAlgn="base" hangingPunct="0">
      <a:lnSpc>
        <a:spcPct val="90000"/>
      </a:lnSpc>
      <a:spcBef>
        <a:spcPct val="40000"/>
      </a:spcBef>
      <a:spcAft>
        <a:spcPct val="0"/>
      </a:spcAft>
      <a:defRPr sz="1200" kern="1200">
        <a:solidFill>
          <a:schemeClr val="tx1"/>
        </a:solidFill>
        <a:latin typeface="Arial" charset="0"/>
        <a:ea typeface="+mn-ea"/>
        <a:cs typeface="+mn-cs"/>
      </a:defRPr>
    </a:lvl3pPr>
    <a:lvl4pPr marL="1371600" algn="l" rtl="0" eaLnBrk="0" fontAlgn="base" hangingPunct="0">
      <a:lnSpc>
        <a:spcPct val="90000"/>
      </a:lnSpc>
      <a:spcBef>
        <a:spcPct val="40000"/>
      </a:spcBef>
      <a:spcAft>
        <a:spcPct val="0"/>
      </a:spcAft>
      <a:defRPr sz="1200" kern="1200">
        <a:solidFill>
          <a:schemeClr val="tx1"/>
        </a:solidFill>
        <a:latin typeface="Arial" charset="0"/>
        <a:ea typeface="+mn-ea"/>
        <a:cs typeface="+mn-cs"/>
      </a:defRPr>
    </a:lvl4pPr>
    <a:lvl5pPr marL="1828800" algn="l" rtl="0" eaLnBrk="0" fontAlgn="base" hangingPunct="0">
      <a:lnSpc>
        <a:spcPct val="90000"/>
      </a:lnSpc>
      <a:spcBef>
        <a:spcPct val="4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5825178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AB2AF-D3C8-D67B-5B6A-DDC24003A3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E7E9A2-EA3C-BEB2-F042-CB731F240CFF}"/>
              </a:ext>
            </a:extLst>
          </p:cNvPr>
          <p:cNvSpPr>
            <a:spLocks noGrp="1" noRot="1" noChangeAspect="1"/>
          </p:cNvSpPr>
          <p:nvPr>
            <p:ph type="sldImg"/>
          </p:nvPr>
        </p:nvSpPr>
        <p:spPr>
          <a:xfrm>
            <a:off x="406400" y="696913"/>
            <a:ext cx="6197600" cy="3486150"/>
          </a:xfrm>
        </p:spPr>
      </p:sp>
      <p:sp>
        <p:nvSpPr>
          <p:cNvPr id="3" name="Notes Placeholder 2">
            <a:extLst>
              <a:ext uri="{FF2B5EF4-FFF2-40B4-BE49-F238E27FC236}">
                <a16:creationId xmlns:a16="http://schemas.microsoft.com/office/drawing/2014/main" id="{ED0C5CB4-405A-C99B-B375-28E9A4D634F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707536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3345C-B688-E490-4D97-CFFE882F45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73157F-4BDA-15EA-D42D-46DDDB6F6735}"/>
              </a:ext>
            </a:extLst>
          </p:cNvPr>
          <p:cNvSpPr>
            <a:spLocks noGrp="1" noRot="1" noChangeAspect="1"/>
          </p:cNvSpPr>
          <p:nvPr>
            <p:ph type="sldImg"/>
          </p:nvPr>
        </p:nvSpPr>
        <p:spPr>
          <a:xfrm>
            <a:off x="406400" y="696913"/>
            <a:ext cx="6197600" cy="3486150"/>
          </a:xfrm>
        </p:spPr>
      </p:sp>
      <p:sp>
        <p:nvSpPr>
          <p:cNvPr id="3" name="Notes Placeholder 2">
            <a:extLst>
              <a:ext uri="{FF2B5EF4-FFF2-40B4-BE49-F238E27FC236}">
                <a16:creationId xmlns:a16="http://schemas.microsoft.com/office/drawing/2014/main" id="{22FE2338-D6F2-E351-2704-7D137ADD6CF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0570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F1C05-BB26-6944-C76B-C8F19C4EF1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9CCFA1-FCC9-1012-44EA-86A06B4C794E}"/>
              </a:ext>
            </a:extLst>
          </p:cNvPr>
          <p:cNvSpPr>
            <a:spLocks noGrp="1" noRot="1" noChangeAspect="1"/>
          </p:cNvSpPr>
          <p:nvPr>
            <p:ph type="sldImg"/>
          </p:nvPr>
        </p:nvSpPr>
        <p:spPr>
          <a:xfrm>
            <a:off x="406400" y="696913"/>
            <a:ext cx="6197600" cy="3486150"/>
          </a:xfrm>
        </p:spPr>
      </p:sp>
      <p:sp>
        <p:nvSpPr>
          <p:cNvPr id="3" name="Notes Placeholder 2">
            <a:extLst>
              <a:ext uri="{FF2B5EF4-FFF2-40B4-BE49-F238E27FC236}">
                <a16:creationId xmlns:a16="http://schemas.microsoft.com/office/drawing/2014/main" id="{FB85BF7B-361F-305E-72B6-323336BAB15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736654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D72F5-DD49-CF0B-20C7-473D99A60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8F44C3-F8B2-BEFC-9620-4F76D0307ECA}"/>
              </a:ext>
            </a:extLst>
          </p:cNvPr>
          <p:cNvSpPr>
            <a:spLocks noGrp="1" noRot="1" noChangeAspect="1"/>
          </p:cNvSpPr>
          <p:nvPr>
            <p:ph type="sldImg"/>
          </p:nvPr>
        </p:nvSpPr>
        <p:spPr>
          <a:xfrm>
            <a:off x="406400" y="696913"/>
            <a:ext cx="6197600" cy="3486150"/>
          </a:xfrm>
        </p:spPr>
      </p:sp>
      <p:sp>
        <p:nvSpPr>
          <p:cNvPr id="3" name="Notes Placeholder 2">
            <a:extLst>
              <a:ext uri="{FF2B5EF4-FFF2-40B4-BE49-F238E27FC236}">
                <a16:creationId xmlns:a16="http://schemas.microsoft.com/office/drawing/2014/main" id="{550DA61D-7D3E-EE1F-FAA4-D9241393CC8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802426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F73BE-5992-E875-0E85-0EACCD2B70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3C2023-634E-9ACA-6532-A7F27AF8D1B9}"/>
              </a:ext>
            </a:extLst>
          </p:cNvPr>
          <p:cNvSpPr>
            <a:spLocks noGrp="1" noRot="1" noChangeAspect="1"/>
          </p:cNvSpPr>
          <p:nvPr>
            <p:ph type="sldImg"/>
          </p:nvPr>
        </p:nvSpPr>
        <p:spPr>
          <a:xfrm>
            <a:off x="406400" y="696913"/>
            <a:ext cx="6197600" cy="3486150"/>
          </a:xfrm>
        </p:spPr>
      </p:sp>
      <p:sp>
        <p:nvSpPr>
          <p:cNvPr id="3" name="Notes Placeholder 2">
            <a:extLst>
              <a:ext uri="{FF2B5EF4-FFF2-40B4-BE49-F238E27FC236}">
                <a16:creationId xmlns:a16="http://schemas.microsoft.com/office/drawing/2014/main" id="{07C4BF2D-7A47-E727-D887-EF250BEE0FC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319029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4E7E8-EA17-84A3-DEB1-327AEB8BBF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BC466B-3B70-904D-C230-15299769ADEF}"/>
              </a:ext>
            </a:extLst>
          </p:cNvPr>
          <p:cNvSpPr>
            <a:spLocks noGrp="1" noRot="1" noChangeAspect="1"/>
          </p:cNvSpPr>
          <p:nvPr>
            <p:ph type="sldImg"/>
          </p:nvPr>
        </p:nvSpPr>
        <p:spPr>
          <a:xfrm>
            <a:off x="406400" y="696913"/>
            <a:ext cx="6197600" cy="3486150"/>
          </a:xfrm>
        </p:spPr>
      </p:sp>
      <p:sp>
        <p:nvSpPr>
          <p:cNvPr id="3" name="Notes Placeholder 2">
            <a:extLst>
              <a:ext uri="{FF2B5EF4-FFF2-40B4-BE49-F238E27FC236}">
                <a16:creationId xmlns:a16="http://schemas.microsoft.com/office/drawing/2014/main" id="{63CEA23B-9292-3ECE-AAD3-489BC20B075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982379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F14EF-0263-E4E9-70EC-9B965F19D2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A42F48-A616-349C-204A-17104A9668AF}"/>
              </a:ext>
            </a:extLst>
          </p:cNvPr>
          <p:cNvSpPr>
            <a:spLocks noGrp="1" noRot="1" noChangeAspect="1"/>
          </p:cNvSpPr>
          <p:nvPr>
            <p:ph type="sldImg"/>
          </p:nvPr>
        </p:nvSpPr>
        <p:spPr>
          <a:xfrm>
            <a:off x="406400" y="696913"/>
            <a:ext cx="6197600" cy="3486150"/>
          </a:xfrm>
        </p:spPr>
      </p:sp>
      <p:sp>
        <p:nvSpPr>
          <p:cNvPr id="3" name="Notes Placeholder 2">
            <a:extLst>
              <a:ext uri="{FF2B5EF4-FFF2-40B4-BE49-F238E27FC236}">
                <a16:creationId xmlns:a16="http://schemas.microsoft.com/office/drawing/2014/main" id="{AF2F0842-1016-0354-381B-59AD7A05575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019088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2893-F0EB-7F7F-E08A-8685D9B09E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198F77-C090-1216-19BC-8E89B9D9B019}"/>
              </a:ext>
            </a:extLst>
          </p:cNvPr>
          <p:cNvSpPr>
            <a:spLocks noGrp="1" noRot="1" noChangeAspect="1"/>
          </p:cNvSpPr>
          <p:nvPr>
            <p:ph type="sldImg"/>
          </p:nvPr>
        </p:nvSpPr>
        <p:spPr>
          <a:xfrm>
            <a:off x="406400" y="696913"/>
            <a:ext cx="6197600" cy="3486150"/>
          </a:xfrm>
        </p:spPr>
      </p:sp>
      <p:sp>
        <p:nvSpPr>
          <p:cNvPr id="3" name="Notes Placeholder 2">
            <a:extLst>
              <a:ext uri="{FF2B5EF4-FFF2-40B4-BE49-F238E27FC236}">
                <a16:creationId xmlns:a16="http://schemas.microsoft.com/office/drawing/2014/main" id="{F25F4A78-21A3-F221-2D53-3B71F17A949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299483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Front Page">
    <p:bg>
      <p:bgPr>
        <a:solidFill>
          <a:schemeClr val="bg1"/>
        </a:solidFill>
        <a:effectLst/>
      </p:bgPr>
    </p:bg>
    <p:spTree>
      <p:nvGrpSpPr>
        <p:cNvPr id="1" name=""/>
        <p:cNvGrpSpPr/>
        <p:nvPr/>
      </p:nvGrpSpPr>
      <p:grpSpPr>
        <a:xfrm>
          <a:off x="0" y="0"/>
          <a:ext cx="0" cy="0"/>
          <a:chOff x="0" y="0"/>
          <a:chExt cx="0" cy="0"/>
        </a:xfrm>
      </p:grpSpPr>
      <p:pic>
        <p:nvPicPr>
          <p:cNvPr id="5" name="Picture 4" descr="A screenshot of a computer&#10;&#10;Description automatically generated with low confidence">
            <a:extLst>
              <a:ext uri="{FF2B5EF4-FFF2-40B4-BE49-F238E27FC236}">
                <a16:creationId xmlns:a16="http://schemas.microsoft.com/office/drawing/2014/main" id="{061740B6-D201-C6BE-0BEA-9CFA3C18A3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53609" y="5540333"/>
            <a:ext cx="5084782" cy="871978"/>
          </a:xfrm>
          <a:prstGeom prst="rect">
            <a:avLst/>
          </a:prstGeom>
        </p:spPr>
      </p:pic>
    </p:spTree>
    <p:extLst>
      <p:ext uri="{BB962C8B-B14F-4D97-AF65-F5344CB8AC3E}">
        <p14:creationId xmlns:p14="http://schemas.microsoft.com/office/powerpoint/2010/main" val="78867006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Empty Page">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8295CF5-A2C9-D517-A13B-D2AAB39A4218}"/>
              </a:ext>
            </a:extLst>
          </p:cNvPr>
          <p:cNvSpPr>
            <a:spLocks noGrp="1"/>
          </p:cNvSpPr>
          <p:nvPr>
            <p:ph type="title"/>
          </p:nvPr>
        </p:nvSpPr>
        <p:spPr>
          <a:xfrm>
            <a:off x="609600" y="214989"/>
            <a:ext cx="10972800" cy="667585"/>
          </a:xfrm>
          <a:prstGeom prst="rect">
            <a:avLst/>
          </a:prstGeom>
        </p:spPr>
        <p:txBody>
          <a:bodyPr/>
          <a:lstStyle>
            <a:lvl1pPr>
              <a:defRPr sz="3200">
                <a:solidFill>
                  <a:srgbClr val="003057"/>
                </a:solidFill>
              </a:defRPr>
            </a:lvl1pPr>
          </a:lstStyle>
          <a:p>
            <a:r>
              <a:rPr lang="en-US" dirty="0"/>
              <a:t>Click to edit Master title style</a:t>
            </a:r>
          </a:p>
        </p:txBody>
      </p:sp>
    </p:spTree>
    <p:extLst>
      <p:ext uri="{BB962C8B-B14F-4D97-AF65-F5344CB8AC3E}">
        <p14:creationId xmlns:p14="http://schemas.microsoft.com/office/powerpoint/2010/main" val="284457696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column">
    <p:spTree>
      <p:nvGrpSpPr>
        <p:cNvPr id="1" name=""/>
        <p:cNvGrpSpPr/>
        <p:nvPr/>
      </p:nvGrpSpPr>
      <p:grpSpPr>
        <a:xfrm>
          <a:off x="0" y="0"/>
          <a:ext cx="0" cy="0"/>
          <a:chOff x="0" y="0"/>
          <a:chExt cx="0" cy="0"/>
        </a:xfrm>
      </p:grpSpPr>
      <p:pic>
        <p:nvPicPr>
          <p:cNvPr id="5" name="Picture 4" descr="A screenshot of a video game&#10;&#10;Description automatically generated with medium confidence">
            <a:extLst>
              <a:ext uri="{FF2B5EF4-FFF2-40B4-BE49-F238E27FC236}">
                <a16:creationId xmlns:a16="http://schemas.microsoft.com/office/drawing/2014/main" id="{479FEB5C-73EF-0AC1-9C2F-1EAE0BD17E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67544" y="6419338"/>
            <a:ext cx="1645920" cy="493776"/>
          </a:xfrm>
          <a:prstGeom prst="rect">
            <a:avLst/>
          </a:prstGeom>
        </p:spPr>
      </p:pic>
      <p:sp>
        <p:nvSpPr>
          <p:cNvPr id="3" name="Title 1">
            <a:extLst>
              <a:ext uri="{FF2B5EF4-FFF2-40B4-BE49-F238E27FC236}">
                <a16:creationId xmlns:a16="http://schemas.microsoft.com/office/drawing/2014/main" id="{4194B52E-CB1C-22CD-1830-5F5328541E76}"/>
              </a:ext>
            </a:extLst>
          </p:cNvPr>
          <p:cNvSpPr>
            <a:spLocks noGrp="1"/>
          </p:cNvSpPr>
          <p:nvPr>
            <p:ph type="title"/>
          </p:nvPr>
        </p:nvSpPr>
        <p:spPr>
          <a:xfrm>
            <a:off x="609600" y="214989"/>
            <a:ext cx="10972800" cy="667585"/>
          </a:xfrm>
          <a:prstGeom prst="rect">
            <a:avLst/>
          </a:prstGeom>
        </p:spPr>
        <p:txBody>
          <a:bodyPr/>
          <a:lstStyle>
            <a:lvl1pPr>
              <a:defRPr sz="3200">
                <a:solidFill>
                  <a:srgbClr val="003057"/>
                </a:solidFill>
              </a:defRPr>
            </a:lvl1pPr>
          </a:lstStyle>
          <a:p>
            <a:r>
              <a:rPr lang="en-US" dirty="0"/>
              <a:t>Click to edit Master title style</a:t>
            </a:r>
          </a:p>
        </p:txBody>
      </p:sp>
      <p:sp>
        <p:nvSpPr>
          <p:cNvPr id="2" name="TextBox 1">
            <a:extLst>
              <a:ext uri="{FF2B5EF4-FFF2-40B4-BE49-F238E27FC236}">
                <a16:creationId xmlns:a16="http://schemas.microsoft.com/office/drawing/2014/main" id="{87AD62E0-7E89-1DBF-A084-79755AB0F764}"/>
              </a:ext>
            </a:extLst>
          </p:cNvPr>
          <p:cNvSpPr txBox="1"/>
          <p:nvPr userDrawn="1"/>
        </p:nvSpPr>
        <p:spPr>
          <a:xfrm>
            <a:off x="11411579" y="6458239"/>
            <a:ext cx="812800" cy="369332"/>
          </a:xfrm>
          <a:prstGeom prst="rect">
            <a:avLst/>
          </a:prstGeom>
          <a:noFill/>
          <a:ln w="28575">
            <a:noFill/>
            <a:prstDash val="lgDashDot"/>
          </a:ln>
        </p:spPr>
        <p:txBody>
          <a:bodyPr wrap="square" rtlCol="0" anchor="ctr">
            <a:spAutoFit/>
          </a:bodyPr>
          <a:lstStyle/>
          <a:p>
            <a:pPr algn="ctr"/>
            <a:fld id="{9CDA336B-04F3-494F-8E84-F1EE244AF4C7}" type="slidenum">
              <a:rPr lang="en-US" sz="1800" b="0" smtClean="0">
                <a:solidFill>
                  <a:srgbClr val="003057"/>
                </a:solidFill>
                <a:latin typeface="Arial" panose="020B0604020202020204" pitchFamily="34" charset="0"/>
                <a:cs typeface="Arial" panose="020B0604020202020204" pitchFamily="34" charset="0"/>
              </a:rPr>
              <a:t>‹#›</a:t>
            </a:fld>
            <a:endParaRPr lang="en-US" sz="1800" b="0" dirty="0">
              <a:solidFill>
                <a:srgbClr val="003057"/>
              </a:solidFill>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4CC542A7-D3EA-450C-9433-3473DA27FBAE}"/>
              </a:ext>
            </a:extLst>
          </p:cNvPr>
          <p:cNvSpPr>
            <a:spLocks noGrp="1"/>
          </p:cNvSpPr>
          <p:nvPr>
            <p:ph idx="1"/>
          </p:nvPr>
        </p:nvSpPr>
        <p:spPr>
          <a:xfrm>
            <a:off x="609600" y="1161288"/>
            <a:ext cx="10972800" cy="5120640"/>
          </a:xfrm>
          <a:prstGeom prst="rect">
            <a:avLst/>
          </a:prstGeom>
        </p:spPr>
        <p:txBody>
          <a:bodyPr/>
          <a:lstStyle>
            <a:lvl1pPr>
              <a:spcBef>
                <a:spcPts val="0"/>
              </a:spcBef>
              <a:spcAft>
                <a:spcPts val="1200"/>
              </a:spcAft>
              <a:defRPr sz="1800"/>
            </a:lvl1pPr>
            <a:lvl2pPr>
              <a:spcBef>
                <a:spcPts val="0"/>
              </a:spcBef>
              <a:spcAft>
                <a:spcPts val="1200"/>
              </a:spcAft>
              <a:defRPr sz="1800"/>
            </a:lvl2pPr>
            <a:lvl3pPr>
              <a:spcBef>
                <a:spcPts val="0"/>
              </a:spcBef>
              <a:spcAft>
                <a:spcPts val="1200"/>
              </a:spcAft>
              <a:defRPr sz="1800"/>
            </a:lvl3pPr>
            <a:lvl4pPr>
              <a:spcBef>
                <a:spcPts val="0"/>
              </a:spcBef>
              <a:spcAft>
                <a:spcPts val="1200"/>
              </a:spcAft>
              <a:defRPr sz="1800"/>
            </a:lvl4pPr>
            <a:lvl5pPr>
              <a:spcBef>
                <a:spcPts val="0"/>
              </a:spcBef>
              <a:spcAft>
                <a:spcPts val="1200"/>
              </a:spcAft>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6119398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F7CD2-0613-D958-2163-4493DC04DB69}"/>
              </a:ext>
            </a:extLst>
          </p:cNvPr>
          <p:cNvSpPr>
            <a:spLocks noGrp="1"/>
          </p:cNvSpPr>
          <p:nvPr>
            <p:ph type="title"/>
          </p:nvPr>
        </p:nvSpPr>
        <p:spPr>
          <a:xfrm>
            <a:off x="609600" y="214989"/>
            <a:ext cx="10972800" cy="667585"/>
          </a:xfrm>
          <a:prstGeom prst="rect">
            <a:avLst/>
          </a:prstGeom>
        </p:spPr>
        <p:txBody>
          <a:bodyPr/>
          <a:lstStyle>
            <a:lvl1pPr>
              <a:defRPr sz="3200">
                <a:solidFill>
                  <a:srgbClr val="003057"/>
                </a:solidFill>
              </a:defRPr>
            </a:lvl1pPr>
          </a:lstStyle>
          <a:p>
            <a:r>
              <a:rPr lang="en-US" dirty="0"/>
              <a:t>Click to edit Master title style</a:t>
            </a:r>
          </a:p>
        </p:txBody>
      </p:sp>
      <p:pic>
        <p:nvPicPr>
          <p:cNvPr id="8" name="Picture 7" descr="A screenshot of a video game&#10;&#10;Description automatically generated with medium confidence">
            <a:extLst>
              <a:ext uri="{FF2B5EF4-FFF2-40B4-BE49-F238E27FC236}">
                <a16:creationId xmlns:a16="http://schemas.microsoft.com/office/drawing/2014/main" id="{7170CB19-7A2F-08E1-5340-DAC4E694993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67544" y="6419338"/>
            <a:ext cx="1645920" cy="493776"/>
          </a:xfrm>
          <a:prstGeom prst="rect">
            <a:avLst/>
          </a:prstGeom>
        </p:spPr>
      </p:pic>
      <p:sp>
        <p:nvSpPr>
          <p:cNvPr id="9" name="TextBox 8">
            <a:extLst>
              <a:ext uri="{FF2B5EF4-FFF2-40B4-BE49-F238E27FC236}">
                <a16:creationId xmlns:a16="http://schemas.microsoft.com/office/drawing/2014/main" id="{9E570ECE-AAFF-E45D-E97F-EBABE5C51179}"/>
              </a:ext>
            </a:extLst>
          </p:cNvPr>
          <p:cNvSpPr txBox="1"/>
          <p:nvPr userDrawn="1"/>
        </p:nvSpPr>
        <p:spPr>
          <a:xfrm>
            <a:off x="11411579" y="6458239"/>
            <a:ext cx="812800" cy="369332"/>
          </a:xfrm>
          <a:prstGeom prst="rect">
            <a:avLst/>
          </a:prstGeom>
          <a:noFill/>
          <a:ln w="28575">
            <a:noFill/>
            <a:prstDash val="lgDashDot"/>
          </a:ln>
        </p:spPr>
        <p:txBody>
          <a:bodyPr wrap="square" rtlCol="0" anchor="ctr">
            <a:spAutoFit/>
          </a:bodyPr>
          <a:lstStyle/>
          <a:p>
            <a:pPr algn="ctr"/>
            <a:fld id="{9CDA336B-04F3-494F-8E84-F1EE244AF4C7}" type="slidenum">
              <a:rPr lang="en-US" sz="1800" b="0" smtClean="0">
                <a:solidFill>
                  <a:srgbClr val="003057"/>
                </a:solidFill>
                <a:latin typeface="Arial" panose="020B0604020202020204" pitchFamily="34" charset="0"/>
                <a:cs typeface="Arial" panose="020B0604020202020204" pitchFamily="34" charset="0"/>
              </a:rPr>
              <a:t>‹#›</a:t>
            </a:fld>
            <a:endParaRPr lang="en-US" sz="1800" b="0" dirty="0">
              <a:solidFill>
                <a:srgbClr val="003057"/>
              </a:solidFill>
              <a:latin typeface="Arial" panose="020B0604020202020204" pitchFamily="34" charset="0"/>
              <a:cs typeface="Arial" panose="020B0604020202020204" pitchFamily="34" charset="0"/>
            </a:endParaRPr>
          </a:p>
        </p:txBody>
      </p:sp>
      <p:sp>
        <p:nvSpPr>
          <p:cNvPr id="11" name="Content Placeholder 10">
            <a:extLst>
              <a:ext uri="{FF2B5EF4-FFF2-40B4-BE49-F238E27FC236}">
                <a16:creationId xmlns:a16="http://schemas.microsoft.com/office/drawing/2014/main" id="{F9F52C27-BFD1-D13B-4393-E343B7F8629E}"/>
              </a:ext>
            </a:extLst>
          </p:cNvPr>
          <p:cNvSpPr>
            <a:spLocks noGrp="1"/>
          </p:cNvSpPr>
          <p:nvPr>
            <p:ph sz="quarter" idx="12"/>
          </p:nvPr>
        </p:nvSpPr>
        <p:spPr>
          <a:xfrm>
            <a:off x="609600" y="1162050"/>
            <a:ext cx="5257800" cy="5119688"/>
          </a:xfrm>
          <a:prstGeom prst="rect">
            <a:avLst/>
          </a:prstGeom>
        </p:spPr>
        <p:txBody>
          <a:bodyPr/>
          <a:lstStyle>
            <a:lvl1pPr>
              <a:spcBef>
                <a:spcPts val="0"/>
              </a:spcBef>
              <a:spcAft>
                <a:spcPts val="1200"/>
              </a:spcAft>
              <a:defRPr sz="1800"/>
            </a:lvl1pPr>
            <a:lvl2pPr>
              <a:spcBef>
                <a:spcPts val="0"/>
              </a:spcBef>
              <a:spcAft>
                <a:spcPts val="1200"/>
              </a:spcAft>
              <a:defRPr sz="1800"/>
            </a:lvl2pPr>
            <a:lvl3pPr>
              <a:spcBef>
                <a:spcPts val="0"/>
              </a:spcBef>
              <a:spcAft>
                <a:spcPts val="1200"/>
              </a:spcAft>
              <a:defRPr sz="1800"/>
            </a:lvl3pPr>
            <a:lvl4pPr>
              <a:spcBef>
                <a:spcPts val="0"/>
              </a:spcBef>
              <a:spcAft>
                <a:spcPts val="1200"/>
              </a:spcAft>
              <a:defRPr sz="1800"/>
            </a:lvl4pPr>
            <a:lvl5pPr>
              <a:spcBef>
                <a:spcPts val="0"/>
              </a:spcBef>
              <a:spcAft>
                <a:spcPts val="1200"/>
              </a:spcAft>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78EBF88-1C85-2AF1-AB96-CA72AA2B9AD4}"/>
              </a:ext>
            </a:extLst>
          </p:cNvPr>
          <p:cNvSpPr>
            <a:spLocks noGrp="1"/>
          </p:cNvSpPr>
          <p:nvPr>
            <p:ph sz="quarter" idx="13"/>
          </p:nvPr>
        </p:nvSpPr>
        <p:spPr>
          <a:xfrm>
            <a:off x="6324600" y="1162050"/>
            <a:ext cx="5257800" cy="5119688"/>
          </a:xfrm>
          <a:prstGeom prst="rect">
            <a:avLst/>
          </a:prstGeom>
        </p:spPr>
        <p:txBody>
          <a:bodyPr/>
          <a:lstStyle>
            <a:lvl1pPr>
              <a:spcBef>
                <a:spcPts val="0"/>
              </a:spcBef>
              <a:spcAft>
                <a:spcPts val="1200"/>
              </a:spcAft>
              <a:defRPr sz="1800"/>
            </a:lvl1pPr>
            <a:lvl2pPr>
              <a:spcBef>
                <a:spcPts val="0"/>
              </a:spcBef>
              <a:spcAft>
                <a:spcPts val="1200"/>
              </a:spcAft>
              <a:defRPr sz="1800"/>
            </a:lvl2pPr>
            <a:lvl3pPr>
              <a:spcBef>
                <a:spcPts val="0"/>
              </a:spcBef>
              <a:spcAft>
                <a:spcPts val="1200"/>
              </a:spcAft>
              <a:defRPr sz="1800"/>
            </a:lvl3pPr>
            <a:lvl4pPr>
              <a:spcBef>
                <a:spcPts val="0"/>
              </a:spcBef>
              <a:spcAft>
                <a:spcPts val="1200"/>
              </a:spcAft>
              <a:defRPr sz="1800"/>
            </a:lvl4pPr>
            <a:lvl5pPr>
              <a:spcBef>
                <a:spcPts val="0"/>
              </a:spcBef>
              <a:spcAft>
                <a:spcPts val="1200"/>
              </a:spcAft>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2370556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column">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0DE72C92-0F35-AD7A-AE19-25B14D82B6E6}"/>
              </a:ext>
            </a:extLst>
          </p:cNvPr>
          <p:cNvSpPr>
            <a:spLocks noGrp="1"/>
          </p:cNvSpPr>
          <p:nvPr>
            <p:ph type="body" sz="quarter" idx="11"/>
          </p:nvPr>
        </p:nvSpPr>
        <p:spPr>
          <a:xfrm>
            <a:off x="609600" y="1161288"/>
            <a:ext cx="3429000" cy="5120640"/>
          </a:xfrm>
          <a:prstGeom prst="rect">
            <a:avLst/>
          </a:prstGeom>
        </p:spPr>
        <p:txBody>
          <a:bodyPr/>
          <a:lstStyle>
            <a:lvl1pPr>
              <a:spcBef>
                <a:spcPts val="0"/>
              </a:spcBef>
              <a:spcAft>
                <a:spcPts val="1200"/>
              </a:spcAft>
              <a:defRPr sz="1800"/>
            </a:lvl1pPr>
            <a:lvl2pPr>
              <a:spcBef>
                <a:spcPts val="0"/>
              </a:spcBef>
              <a:spcAft>
                <a:spcPts val="1200"/>
              </a:spcAft>
              <a:defRPr sz="1800"/>
            </a:lvl2pPr>
            <a:lvl3pPr>
              <a:spcBef>
                <a:spcPts val="0"/>
              </a:spcBef>
              <a:spcAft>
                <a:spcPts val="1200"/>
              </a:spcAft>
              <a:defRPr sz="1800"/>
            </a:lvl3pPr>
            <a:lvl4pPr>
              <a:spcBef>
                <a:spcPts val="0"/>
              </a:spcBef>
              <a:spcAft>
                <a:spcPts val="1200"/>
              </a:spcAft>
              <a:defRPr sz="1800"/>
            </a:lvl4pPr>
            <a:lvl5pPr>
              <a:spcBef>
                <a:spcPts val="0"/>
              </a:spcBef>
              <a:spcAft>
                <a:spcPts val="1200"/>
              </a:spcAft>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4">
            <a:extLst>
              <a:ext uri="{FF2B5EF4-FFF2-40B4-BE49-F238E27FC236}">
                <a16:creationId xmlns:a16="http://schemas.microsoft.com/office/drawing/2014/main" id="{214C72A2-59D4-EA0A-3548-C4FCB610365E}"/>
              </a:ext>
            </a:extLst>
          </p:cNvPr>
          <p:cNvSpPr>
            <a:spLocks noGrp="1"/>
          </p:cNvSpPr>
          <p:nvPr>
            <p:ph type="body" sz="quarter" idx="12"/>
          </p:nvPr>
        </p:nvSpPr>
        <p:spPr>
          <a:xfrm>
            <a:off x="4381500" y="1161288"/>
            <a:ext cx="3429000" cy="5120640"/>
          </a:xfrm>
          <a:prstGeom prst="rect">
            <a:avLst/>
          </a:prstGeom>
        </p:spPr>
        <p:txBody>
          <a:bodyPr/>
          <a:lstStyle>
            <a:lvl1pPr>
              <a:spcBef>
                <a:spcPts val="0"/>
              </a:spcBef>
              <a:spcAft>
                <a:spcPts val="1200"/>
              </a:spcAft>
              <a:defRPr sz="1800"/>
            </a:lvl1pPr>
            <a:lvl2pPr>
              <a:spcBef>
                <a:spcPts val="0"/>
              </a:spcBef>
              <a:spcAft>
                <a:spcPts val="1200"/>
              </a:spcAft>
              <a:defRPr sz="1800"/>
            </a:lvl2pPr>
            <a:lvl3pPr>
              <a:spcBef>
                <a:spcPts val="0"/>
              </a:spcBef>
              <a:spcAft>
                <a:spcPts val="1200"/>
              </a:spcAft>
              <a:defRPr sz="1800"/>
            </a:lvl3pPr>
            <a:lvl4pPr>
              <a:spcBef>
                <a:spcPts val="0"/>
              </a:spcBef>
              <a:spcAft>
                <a:spcPts val="1200"/>
              </a:spcAft>
              <a:defRPr sz="1800"/>
            </a:lvl4pPr>
            <a:lvl5pPr>
              <a:spcBef>
                <a:spcPts val="0"/>
              </a:spcBef>
              <a:spcAft>
                <a:spcPts val="1200"/>
              </a:spcAft>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4">
            <a:extLst>
              <a:ext uri="{FF2B5EF4-FFF2-40B4-BE49-F238E27FC236}">
                <a16:creationId xmlns:a16="http://schemas.microsoft.com/office/drawing/2014/main" id="{FF635AE3-DED7-E2E8-9B73-6707E6A767DB}"/>
              </a:ext>
            </a:extLst>
          </p:cNvPr>
          <p:cNvSpPr>
            <a:spLocks noGrp="1"/>
          </p:cNvSpPr>
          <p:nvPr>
            <p:ph type="body" sz="quarter" idx="13"/>
          </p:nvPr>
        </p:nvSpPr>
        <p:spPr>
          <a:xfrm>
            <a:off x="8153400" y="1161288"/>
            <a:ext cx="3429000" cy="5120640"/>
          </a:xfrm>
          <a:prstGeom prst="rect">
            <a:avLst/>
          </a:prstGeom>
        </p:spPr>
        <p:txBody>
          <a:bodyPr/>
          <a:lstStyle>
            <a:lvl1pPr>
              <a:spcBef>
                <a:spcPts val="0"/>
              </a:spcBef>
              <a:spcAft>
                <a:spcPts val="1200"/>
              </a:spcAft>
              <a:defRPr sz="1800"/>
            </a:lvl1pPr>
            <a:lvl2pPr>
              <a:spcBef>
                <a:spcPts val="0"/>
              </a:spcBef>
              <a:spcAft>
                <a:spcPts val="1200"/>
              </a:spcAft>
              <a:defRPr sz="1800"/>
            </a:lvl2pPr>
            <a:lvl3pPr>
              <a:spcBef>
                <a:spcPts val="0"/>
              </a:spcBef>
              <a:spcAft>
                <a:spcPts val="1200"/>
              </a:spcAft>
              <a:defRPr sz="1800"/>
            </a:lvl3pPr>
            <a:lvl4pPr>
              <a:spcBef>
                <a:spcPts val="0"/>
              </a:spcBef>
              <a:spcAft>
                <a:spcPts val="1200"/>
              </a:spcAft>
              <a:defRPr sz="1800"/>
            </a:lvl4pPr>
            <a:lvl5pPr>
              <a:spcBef>
                <a:spcPts val="0"/>
              </a:spcBef>
              <a:spcAft>
                <a:spcPts val="1200"/>
              </a:spcAft>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screenshot of a video game&#10;&#10;Description automatically generated with medium confidence">
            <a:extLst>
              <a:ext uri="{FF2B5EF4-FFF2-40B4-BE49-F238E27FC236}">
                <a16:creationId xmlns:a16="http://schemas.microsoft.com/office/drawing/2014/main" id="{49F165D2-8775-A411-8023-B27611C097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67544" y="6419338"/>
            <a:ext cx="1645920" cy="493776"/>
          </a:xfrm>
          <a:prstGeom prst="rect">
            <a:avLst/>
          </a:prstGeom>
        </p:spPr>
      </p:pic>
      <p:sp>
        <p:nvSpPr>
          <p:cNvPr id="9" name="TextBox 8">
            <a:extLst>
              <a:ext uri="{FF2B5EF4-FFF2-40B4-BE49-F238E27FC236}">
                <a16:creationId xmlns:a16="http://schemas.microsoft.com/office/drawing/2014/main" id="{0D440C2C-B435-F2B8-4F1C-E6219C88A8AB}"/>
              </a:ext>
            </a:extLst>
          </p:cNvPr>
          <p:cNvSpPr txBox="1"/>
          <p:nvPr userDrawn="1"/>
        </p:nvSpPr>
        <p:spPr>
          <a:xfrm>
            <a:off x="11411579" y="6458239"/>
            <a:ext cx="812800" cy="369332"/>
          </a:xfrm>
          <a:prstGeom prst="rect">
            <a:avLst/>
          </a:prstGeom>
          <a:noFill/>
          <a:ln w="28575">
            <a:noFill/>
            <a:prstDash val="lgDashDot"/>
          </a:ln>
        </p:spPr>
        <p:txBody>
          <a:bodyPr wrap="square" rtlCol="0" anchor="ctr">
            <a:spAutoFit/>
          </a:bodyPr>
          <a:lstStyle/>
          <a:p>
            <a:pPr algn="ctr"/>
            <a:fld id="{9CDA336B-04F3-494F-8E84-F1EE244AF4C7}" type="slidenum">
              <a:rPr lang="en-US" sz="1800" b="0" smtClean="0">
                <a:solidFill>
                  <a:srgbClr val="003057"/>
                </a:solidFill>
                <a:latin typeface="Arial" panose="020B0604020202020204" pitchFamily="34" charset="0"/>
                <a:cs typeface="Arial" panose="020B0604020202020204" pitchFamily="34" charset="0"/>
              </a:rPr>
              <a:t>‹#›</a:t>
            </a:fld>
            <a:endParaRPr lang="en-US" sz="1800" b="0" dirty="0">
              <a:solidFill>
                <a:srgbClr val="003057"/>
              </a:solidFill>
              <a:latin typeface="Arial" panose="020B0604020202020204" pitchFamily="34" charset="0"/>
              <a:cs typeface="Arial" panose="020B0604020202020204" pitchFamily="34" charset="0"/>
            </a:endParaRPr>
          </a:p>
        </p:txBody>
      </p:sp>
      <p:sp>
        <p:nvSpPr>
          <p:cNvPr id="10" name="Title 1">
            <a:extLst>
              <a:ext uri="{FF2B5EF4-FFF2-40B4-BE49-F238E27FC236}">
                <a16:creationId xmlns:a16="http://schemas.microsoft.com/office/drawing/2014/main" id="{2BD8BE4E-E649-A1CB-27D1-83ADA2F56583}"/>
              </a:ext>
            </a:extLst>
          </p:cNvPr>
          <p:cNvSpPr>
            <a:spLocks noGrp="1"/>
          </p:cNvSpPr>
          <p:nvPr>
            <p:ph type="title"/>
          </p:nvPr>
        </p:nvSpPr>
        <p:spPr>
          <a:xfrm>
            <a:off x="609600" y="214989"/>
            <a:ext cx="10972800" cy="667585"/>
          </a:xfrm>
          <a:prstGeom prst="rect">
            <a:avLst/>
          </a:prstGeom>
        </p:spPr>
        <p:txBody>
          <a:bodyPr/>
          <a:lstStyle>
            <a:lvl1pPr>
              <a:defRPr sz="3200">
                <a:solidFill>
                  <a:srgbClr val="003057"/>
                </a:solidFill>
              </a:defRPr>
            </a:lvl1pPr>
          </a:lstStyle>
          <a:p>
            <a:r>
              <a:rPr lang="en-US" dirty="0"/>
              <a:t>Click to edit Master title style</a:t>
            </a:r>
          </a:p>
        </p:txBody>
      </p:sp>
    </p:spTree>
    <p:extLst>
      <p:ext uri="{BB962C8B-B14F-4D97-AF65-F5344CB8AC3E}">
        <p14:creationId xmlns:p14="http://schemas.microsoft.com/office/powerpoint/2010/main" val="165414001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w/o GT Logo">
    <p:spTree>
      <p:nvGrpSpPr>
        <p:cNvPr id="1" name=""/>
        <p:cNvGrpSpPr/>
        <p:nvPr/>
      </p:nvGrpSpPr>
      <p:grpSpPr>
        <a:xfrm>
          <a:off x="0" y="0"/>
          <a:ext cx="0" cy="0"/>
          <a:chOff x="0" y="0"/>
          <a:chExt cx="0" cy="0"/>
        </a:xfrm>
      </p:grpSpPr>
      <p:sp>
        <p:nvSpPr>
          <p:cNvPr id="3" name="Content Placeholder 2"/>
          <p:cNvSpPr>
            <a:spLocks noGrp="1"/>
          </p:cNvSpPr>
          <p:nvPr>
            <p:ph idx="1"/>
          </p:nvPr>
        </p:nvSpPr>
        <p:spPr>
          <a:xfrm>
            <a:off x="612648" y="1161287"/>
            <a:ext cx="10972800" cy="5120640"/>
          </a:xfrm>
          <a:prstGeom prst="rect">
            <a:avLst/>
          </a:prstGeom>
        </p:spPr>
        <p:txBody>
          <a:bodyPr/>
          <a:lstStyle>
            <a:lvl1pPr>
              <a:spcBef>
                <a:spcPts val="0"/>
              </a:spcBef>
              <a:spcAft>
                <a:spcPts val="1200"/>
              </a:spcAft>
              <a:defRPr sz="1800"/>
            </a:lvl1pPr>
            <a:lvl2pPr>
              <a:spcBef>
                <a:spcPts val="0"/>
              </a:spcBef>
              <a:spcAft>
                <a:spcPts val="1200"/>
              </a:spcAft>
              <a:defRPr sz="1800"/>
            </a:lvl2pPr>
            <a:lvl3pPr>
              <a:spcBef>
                <a:spcPts val="0"/>
              </a:spcBef>
              <a:spcAft>
                <a:spcPts val="1200"/>
              </a:spcAft>
              <a:defRPr sz="1800"/>
            </a:lvl3pPr>
            <a:lvl4pPr>
              <a:spcBef>
                <a:spcPts val="0"/>
              </a:spcBef>
              <a:spcAft>
                <a:spcPts val="1200"/>
              </a:spcAft>
              <a:defRPr sz="1800"/>
            </a:lvl4pPr>
            <a:lvl5pPr>
              <a:spcBef>
                <a:spcPts val="0"/>
              </a:spcBef>
              <a:spcAft>
                <a:spcPts val="1200"/>
              </a:spcAft>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p:cNvCxnSpPr/>
          <p:nvPr userDrawn="1"/>
        </p:nvCxnSpPr>
        <p:spPr>
          <a:xfrm flipV="1">
            <a:off x="609600" y="990600"/>
            <a:ext cx="10972800" cy="0"/>
          </a:xfrm>
          <a:prstGeom prst="line">
            <a:avLst/>
          </a:prstGeom>
          <a:ln w="25400">
            <a:solidFill>
              <a:srgbClr val="B3A369"/>
            </a:solidFill>
            <a:prstDash val="solid"/>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0B2FA418-077A-243B-01BC-217111395E3A}"/>
              </a:ext>
            </a:extLst>
          </p:cNvPr>
          <p:cNvSpPr txBox="1"/>
          <p:nvPr userDrawn="1"/>
        </p:nvSpPr>
        <p:spPr>
          <a:xfrm>
            <a:off x="11411579" y="6458239"/>
            <a:ext cx="812800" cy="369332"/>
          </a:xfrm>
          <a:prstGeom prst="rect">
            <a:avLst/>
          </a:prstGeom>
          <a:noFill/>
          <a:ln w="28575">
            <a:noFill/>
            <a:prstDash val="lgDashDot"/>
          </a:ln>
        </p:spPr>
        <p:txBody>
          <a:bodyPr wrap="square" rtlCol="0" anchor="ctr">
            <a:spAutoFit/>
          </a:bodyPr>
          <a:lstStyle/>
          <a:p>
            <a:pPr algn="ctr"/>
            <a:fld id="{9CDA336B-04F3-494F-8E84-F1EE244AF4C7}" type="slidenum">
              <a:rPr lang="en-US" sz="1800" b="0" smtClean="0">
                <a:solidFill>
                  <a:srgbClr val="003057"/>
                </a:solidFill>
                <a:latin typeface="Arial" panose="020B0604020202020204" pitchFamily="34" charset="0"/>
                <a:cs typeface="Arial" panose="020B0604020202020204" pitchFamily="34" charset="0"/>
              </a:rPr>
              <a:t>‹#›</a:t>
            </a:fld>
            <a:endParaRPr lang="en-US" sz="1800" b="0" dirty="0">
              <a:solidFill>
                <a:srgbClr val="003057"/>
              </a:solidFill>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107AD089-4D7A-B206-A910-62738A11BA7C}"/>
              </a:ext>
            </a:extLst>
          </p:cNvPr>
          <p:cNvSpPr>
            <a:spLocks noGrp="1"/>
          </p:cNvSpPr>
          <p:nvPr>
            <p:ph type="title"/>
          </p:nvPr>
        </p:nvSpPr>
        <p:spPr>
          <a:xfrm>
            <a:off x="609600" y="214989"/>
            <a:ext cx="10972800" cy="667585"/>
          </a:xfrm>
          <a:prstGeom prst="rect">
            <a:avLst/>
          </a:prstGeom>
        </p:spPr>
        <p:txBody>
          <a:bodyPr/>
          <a:lstStyle>
            <a:lvl1pPr>
              <a:defRPr sz="3200">
                <a:solidFill>
                  <a:srgbClr val="003057"/>
                </a:solidFill>
              </a:defRPr>
            </a:lvl1pPr>
          </a:lstStyle>
          <a:p>
            <a:r>
              <a:rPr lang="en-US" dirty="0"/>
              <a:t>Click to edit Master title style</a:t>
            </a:r>
          </a:p>
        </p:txBody>
      </p:sp>
    </p:spTree>
    <p:extLst>
      <p:ext uri="{BB962C8B-B14F-4D97-AF65-F5344CB8AC3E}">
        <p14:creationId xmlns:p14="http://schemas.microsoft.com/office/powerpoint/2010/main" val="53923068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p:cNvCxnSpPr/>
          <p:nvPr userDrawn="1"/>
        </p:nvCxnSpPr>
        <p:spPr>
          <a:xfrm flipV="1">
            <a:off x="609600" y="990600"/>
            <a:ext cx="10972800" cy="0"/>
          </a:xfrm>
          <a:prstGeom prst="line">
            <a:avLst/>
          </a:prstGeom>
          <a:ln w="25400">
            <a:solidFill>
              <a:srgbClr val="A4925A"/>
            </a:solidFill>
            <a:prstDash val="soli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11937281"/>
      </p:ext>
    </p:extLst>
  </p:cSld>
  <p:clrMap bg1="lt1" tx1="dk1" bg2="lt2" tx2="dk2" accent1="accent1" accent2="accent2" accent3="accent3" accent4="accent4" accent5="accent5" accent6="accent6" hlink="hlink" folHlink="folHlink"/>
  <p:sldLayoutIdLst>
    <p:sldLayoutId id="2147483674" r:id="rId1"/>
    <p:sldLayoutId id="2147483682" r:id="rId2"/>
    <p:sldLayoutId id="2147483675" r:id="rId3"/>
    <p:sldLayoutId id="2147483684" r:id="rId4"/>
    <p:sldLayoutId id="2147483685" r:id="rId5"/>
    <p:sldLayoutId id="2147483676" r:id="rId6"/>
  </p:sldLayoutIdLst>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hf hdr="0" ftr="0" dt="0"/>
  <p:txStyles>
    <p:titleStyle>
      <a:lvl1pPr algn="ctr" defTabSz="457200" rtl="0" eaLnBrk="1" latinLnBrk="0" hangingPunct="1">
        <a:spcBef>
          <a:spcPct val="0"/>
        </a:spcBef>
        <a:buNone/>
        <a:defRPr sz="2800" b="1" kern="1200">
          <a:solidFill>
            <a:srgbClr val="003057"/>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4.png"/><Relationship Id="rId4"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17.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D9157D-29F9-5459-DC21-F39A48DDE5BF}"/>
              </a:ext>
            </a:extLst>
          </p:cNvPr>
          <p:cNvSpPr txBox="1"/>
          <p:nvPr>
            <p:custDataLst>
              <p:tags r:id="rId1"/>
            </p:custDataLst>
          </p:nvPr>
        </p:nvSpPr>
        <p:spPr>
          <a:xfrm>
            <a:off x="556259" y="2367171"/>
            <a:ext cx="11079482" cy="1969770"/>
          </a:xfrm>
          <a:prstGeom prst="rect">
            <a:avLst/>
          </a:prstGeom>
          <a:noFill/>
        </p:spPr>
        <p:txBody>
          <a:bodyPr wrap="square" rtlCol="0">
            <a:spAutoFit/>
          </a:bodyPr>
          <a:lstStyle/>
          <a:p>
            <a:pPr algn="ctr">
              <a:spcAft>
                <a:spcPts val="600"/>
              </a:spcAft>
            </a:pPr>
            <a:r>
              <a:rPr lang="en-US" sz="3200" dirty="0">
                <a:solidFill>
                  <a:schemeClr val="tx2"/>
                </a:solidFill>
                <a:latin typeface="Arial" panose="020B0604020202020204" pitchFamily="34" charset="0"/>
                <a:cs typeface="Arial" panose="020B0604020202020204" pitchFamily="34" charset="0"/>
              </a:rPr>
              <a:t>Classification Model to Predict the Financial Severity of Hazardous Material Transportation Incidents </a:t>
            </a:r>
          </a:p>
          <a:p>
            <a:pPr algn="ctr">
              <a:spcAft>
                <a:spcPts val="600"/>
              </a:spcAft>
            </a:pPr>
            <a:r>
              <a:rPr lang="en-US" altLang="zh-CN" dirty="0">
                <a:solidFill>
                  <a:srgbClr val="003057"/>
                </a:solidFill>
                <a:latin typeface="Arial" panose="020B0604020202020204" pitchFamily="34" charset="0"/>
                <a:cs typeface="Arial" panose="020B0604020202020204" pitchFamily="34" charset="0"/>
              </a:rPr>
              <a:t>Group 6</a:t>
            </a:r>
            <a:endParaRPr lang="en-US" altLang="zh-CN" baseline="30000" dirty="0">
              <a:solidFill>
                <a:srgbClr val="003057"/>
              </a:solidFill>
              <a:latin typeface="Arial" panose="020B0604020202020204" pitchFamily="34" charset="0"/>
              <a:cs typeface="Arial" panose="020B0604020202020204" pitchFamily="34" charset="0"/>
            </a:endParaRPr>
          </a:p>
          <a:p>
            <a:pPr algn="ctr">
              <a:spcAft>
                <a:spcPts val="600"/>
              </a:spcAft>
            </a:pPr>
            <a:r>
              <a:rPr lang="en-US" altLang="zh-CN" b="0" dirty="0">
                <a:solidFill>
                  <a:srgbClr val="003057"/>
                </a:solidFill>
                <a:latin typeface="Arial" panose="020B0604020202020204" pitchFamily="34" charset="0"/>
                <a:cs typeface="Arial" panose="020B0604020202020204" pitchFamily="34" charset="0"/>
              </a:rPr>
              <a:t>11.21.2025</a:t>
            </a:r>
          </a:p>
        </p:txBody>
      </p:sp>
    </p:spTree>
    <p:extLst>
      <p:ext uri="{BB962C8B-B14F-4D97-AF65-F5344CB8AC3E}">
        <p14:creationId xmlns:p14="http://schemas.microsoft.com/office/powerpoint/2010/main" val="2764979441"/>
      </p:ext>
    </p:extLst>
  </p:cSld>
  <p:clrMapOvr>
    <a:masterClrMapping/>
  </p:clrMapOvr>
  <mc:AlternateContent xmlns:mc="http://schemas.openxmlformats.org/markup-compatibility/2006" xmlns:p14="http://schemas.microsoft.com/office/powerpoint/2010/main">
    <mc:Choice Requires="p14">
      <p:transition spd="slow" p14:dur="2000" advClick="0" advTm="25906"/>
    </mc:Choice>
    <mc:Fallback xmlns="">
      <p:transition spd="slow" advClick="0" advTm="2590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0CB29-CFA4-09CB-DE90-E8B2D9A91412}"/>
              </a:ext>
            </a:extLst>
          </p:cNvPr>
          <p:cNvSpPr>
            <a:spLocks noGrp="1"/>
          </p:cNvSpPr>
          <p:nvPr>
            <p:ph type="title"/>
          </p:nvPr>
        </p:nvSpPr>
        <p:spPr>
          <a:xfrm>
            <a:off x="389461" y="191669"/>
            <a:ext cx="10972800" cy="667585"/>
          </a:xfrm>
        </p:spPr>
        <p:txBody>
          <a:bodyPr/>
          <a:lstStyle/>
          <a:p>
            <a:r>
              <a:rPr lang="en-US" dirty="0"/>
              <a:t>Motivation</a:t>
            </a:r>
          </a:p>
        </p:txBody>
      </p:sp>
      <p:sp>
        <p:nvSpPr>
          <p:cNvPr id="7" name="Rectangle 1">
            <a:extLst>
              <a:ext uri="{FF2B5EF4-FFF2-40B4-BE49-F238E27FC236}">
                <a16:creationId xmlns:a16="http://schemas.microsoft.com/office/drawing/2014/main" id="{72D9C426-A437-0F06-38E1-50CA050C8647}"/>
              </a:ext>
            </a:extLst>
          </p:cNvPr>
          <p:cNvSpPr>
            <a:spLocks noChangeArrowheads="1"/>
          </p:cNvSpPr>
          <p:nvPr/>
        </p:nvSpPr>
        <p:spPr bwMode="auto">
          <a:xfrm>
            <a:off x="530260" y="1443071"/>
            <a:ext cx="808435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2"/>
                </a:solidFill>
                <a:effectLst/>
                <a:latin typeface="Arial" panose="020B0604020202020204" pitchFamily="34" charset="0"/>
              </a:rPr>
              <a:t>PHMSA collects detailed incident reports on hazardous materials (hazmat) transportation accidents in the U.S.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2"/>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b="0" dirty="0">
                <a:solidFill>
                  <a:schemeClr val="tx2"/>
                </a:solidFill>
                <a:latin typeface="Arial" panose="020B0604020202020204" pitchFamily="34" charset="0"/>
              </a:rPr>
              <a:t>U</a:t>
            </a:r>
            <a:r>
              <a:rPr kumimoji="0" lang="en-US" altLang="en-US" b="0" i="0" u="none" strike="noStrike" cap="none" normalizeH="0" baseline="0" dirty="0">
                <a:ln>
                  <a:noFill/>
                </a:ln>
                <a:solidFill>
                  <a:schemeClr val="tx2"/>
                </a:solidFill>
                <a:effectLst/>
                <a:latin typeface="Arial" panose="020B0604020202020204" pitchFamily="34" charset="0"/>
              </a:rPr>
              <a:t>nderstanding financial impacts of hazmat incidents is crucial for improving safety and operational efficiency.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2"/>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2"/>
                </a:solidFill>
                <a:effectLst/>
                <a:latin typeface="Arial" panose="020B0604020202020204" pitchFamily="34" charset="0"/>
              </a:rPr>
              <a:t>Insights can guide optimal packaging choices, transportation logistics, and risk-mitigation strategies to reduce financial losses during incidents.</a:t>
            </a:r>
          </a:p>
        </p:txBody>
      </p:sp>
    </p:spTree>
    <p:extLst>
      <p:ext uri="{BB962C8B-B14F-4D97-AF65-F5344CB8AC3E}">
        <p14:creationId xmlns:p14="http://schemas.microsoft.com/office/powerpoint/2010/main" val="242845353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0508A-B20D-3A80-A08C-E3A1AC9621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970B8C-02DC-8CFB-25C9-14E88224A837}"/>
              </a:ext>
            </a:extLst>
          </p:cNvPr>
          <p:cNvSpPr>
            <a:spLocks noGrp="1"/>
          </p:cNvSpPr>
          <p:nvPr>
            <p:ph type="title"/>
          </p:nvPr>
        </p:nvSpPr>
        <p:spPr>
          <a:xfrm>
            <a:off x="389461" y="191669"/>
            <a:ext cx="10972800" cy="667585"/>
          </a:xfrm>
        </p:spPr>
        <p:txBody>
          <a:bodyPr/>
          <a:lstStyle/>
          <a:p>
            <a:r>
              <a:rPr lang="en-US" dirty="0"/>
              <a:t>Dataset Overview</a:t>
            </a:r>
          </a:p>
        </p:txBody>
      </p:sp>
      <p:sp>
        <p:nvSpPr>
          <p:cNvPr id="4" name="TextBox 3">
            <a:extLst>
              <a:ext uri="{FF2B5EF4-FFF2-40B4-BE49-F238E27FC236}">
                <a16:creationId xmlns:a16="http://schemas.microsoft.com/office/drawing/2014/main" id="{9C732AA8-6718-6F08-95EF-6A233776E3DB}"/>
              </a:ext>
            </a:extLst>
          </p:cNvPr>
          <p:cNvSpPr txBox="1"/>
          <p:nvPr/>
        </p:nvSpPr>
        <p:spPr>
          <a:xfrm>
            <a:off x="588935" y="1332855"/>
            <a:ext cx="8136611" cy="3785652"/>
          </a:xfrm>
          <a:prstGeom prst="rect">
            <a:avLst/>
          </a:prstGeom>
          <a:noFill/>
        </p:spPr>
        <p:txBody>
          <a:bodyPr wrap="square" rtlCol="0">
            <a:spAutoFit/>
          </a:bodyPr>
          <a:lstStyle/>
          <a:p>
            <a:pPr marL="342900" lvl="0" indent="-342900" algn="l">
              <a:buFont typeface="Arial" panose="020B0604020202020204" pitchFamily="34" charset="0"/>
              <a:buChar char="•"/>
            </a:pPr>
            <a:r>
              <a:rPr lang="en-US" altLang="en-US" b="0" dirty="0">
                <a:solidFill>
                  <a:schemeClr val="tx2"/>
                </a:solidFill>
                <a:latin typeface="Arial" panose="020B0604020202020204" pitchFamily="34" charset="0"/>
              </a:rPr>
              <a:t>10,237 incidents with 201 features</a:t>
            </a:r>
          </a:p>
          <a:p>
            <a:pPr marL="800100" lvl="1" indent="-342900" algn="l">
              <a:buFont typeface="Arial" panose="020B0604020202020204" pitchFamily="34" charset="0"/>
              <a:buChar char="•"/>
            </a:pPr>
            <a:r>
              <a:rPr lang="en-US" altLang="en-US" b="0" dirty="0">
                <a:solidFill>
                  <a:srgbClr val="857437"/>
                </a:solidFill>
                <a:latin typeface="Arial" panose="020B0604020202020204" pitchFamily="34" charset="0"/>
              </a:rPr>
              <a:t>describing transportation mode, location, hazmat type, failure cause, financial impacts, and more.</a:t>
            </a:r>
          </a:p>
          <a:p>
            <a:pPr marL="342900" lvl="0" indent="-342900" algn="l">
              <a:buFont typeface="Arial" panose="020B0604020202020204" pitchFamily="34" charset="0"/>
              <a:buChar char="•"/>
            </a:pPr>
            <a:endParaRPr lang="en-US" altLang="en-US" b="0" dirty="0">
              <a:solidFill>
                <a:schemeClr val="tx2"/>
              </a:solidFill>
              <a:latin typeface="Arial" panose="020B0604020202020204" pitchFamily="34" charset="0"/>
            </a:endParaRPr>
          </a:p>
          <a:p>
            <a:pPr marL="342900" lvl="0" indent="-342900" algn="l">
              <a:buFont typeface="Arial" panose="020B0604020202020204" pitchFamily="34" charset="0"/>
              <a:buChar char="•"/>
            </a:pPr>
            <a:r>
              <a:rPr lang="en-US" altLang="en-US" b="0" dirty="0">
                <a:solidFill>
                  <a:schemeClr val="tx2"/>
                </a:solidFill>
                <a:latin typeface="Arial" panose="020B0604020202020204" pitchFamily="34" charset="0"/>
              </a:rPr>
              <a:t>Target Variable: Total severity of Damages</a:t>
            </a:r>
          </a:p>
          <a:p>
            <a:pPr marL="800100" lvl="1" indent="-342900" algn="l">
              <a:buFont typeface="Arial" panose="020B0604020202020204" pitchFamily="34" charset="0"/>
              <a:buChar char="•"/>
            </a:pPr>
            <a:r>
              <a:rPr lang="en-US" altLang="en-US" b="0" dirty="0">
                <a:solidFill>
                  <a:srgbClr val="857437"/>
                </a:solidFill>
                <a:latin typeface="Arial" panose="020B0604020202020204" pitchFamily="34" charset="0"/>
              </a:rPr>
              <a:t>material loss, property damage, and cleanup costs</a:t>
            </a:r>
          </a:p>
          <a:p>
            <a:pPr marL="800100" lvl="1" indent="-342900" algn="l">
              <a:buFont typeface="Arial" panose="020B0604020202020204" pitchFamily="34" charset="0"/>
              <a:buChar char="•"/>
            </a:pPr>
            <a:endParaRPr lang="en-US" altLang="en-US" b="0" dirty="0">
              <a:solidFill>
                <a:srgbClr val="857437"/>
              </a:solidFill>
              <a:latin typeface="Arial" panose="020B0604020202020204" pitchFamily="34" charset="0"/>
            </a:endParaRPr>
          </a:p>
          <a:p>
            <a:pPr marL="342900" indent="-342900" algn="l">
              <a:buFont typeface="Arial" panose="020B0604020202020204" pitchFamily="34" charset="0"/>
              <a:buChar char="•"/>
            </a:pPr>
            <a:r>
              <a:rPr lang="en-US" altLang="en-US" b="0" dirty="0">
                <a:solidFill>
                  <a:srgbClr val="003057"/>
                </a:solidFill>
                <a:latin typeface="Arial" panose="020B0604020202020204" pitchFamily="34" charset="0"/>
              </a:rPr>
              <a:t>Goal: </a:t>
            </a:r>
            <a:r>
              <a:rPr lang="en-US" altLang="en-US" b="0" dirty="0" err="1">
                <a:solidFill>
                  <a:srgbClr val="003057"/>
                </a:solidFill>
                <a:latin typeface="Arial" panose="020B0604020202020204" pitchFamily="34" charset="0"/>
              </a:rPr>
              <a:t>balanced_accuracy</a:t>
            </a:r>
            <a:r>
              <a:rPr lang="en-US" altLang="en-US" b="0" dirty="0">
                <a:solidFill>
                  <a:srgbClr val="003057"/>
                </a:solidFill>
                <a:latin typeface="Arial" panose="020B0604020202020204" pitchFamily="34" charset="0"/>
              </a:rPr>
              <a:t> &gt;0.6</a:t>
            </a:r>
          </a:p>
          <a:p>
            <a:pPr lvl="0" algn="l"/>
            <a:endParaRPr lang="en-US" altLang="en-US" b="0" dirty="0">
              <a:latin typeface="Arial" panose="020B0604020202020204" pitchFamily="34" charset="0"/>
            </a:endParaRPr>
          </a:p>
          <a:p>
            <a:endParaRPr lang="en-US" b="0" dirty="0"/>
          </a:p>
        </p:txBody>
      </p:sp>
    </p:spTree>
    <p:extLst>
      <p:ext uri="{BB962C8B-B14F-4D97-AF65-F5344CB8AC3E}">
        <p14:creationId xmlns:p14="http://schemas.microsoft.com/office/powerpoint/2010/main" val="375262489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C5CEE-4E64-B2E2-55BD-46D3FE2DE9F7}"/>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5C527DD7-4B7D-BAAE-B313-5A27E676AF13}"/>
              </a:ext>
            </a:extLst>
          </p:cNvPr>
          <p:cNvSpPr>
            <a:spLocks noGrp="1"/>
          </p:cNvSpPr>
          <p:nvPr>
            <p:ph type="title"/>
            <p:custDataLst>
              <p:tags r:id="rId1"/>
            </p:custDataLst>
          </p:nvPr>
        </p:nvSpPr>
        <p:spPr>
          <a:xfrm>
            <a:off x="609600" y="214989"/>
            <a:ext cx="10972800" cy="667585"/>
          </a:xfrm>
        </p:spPr>
        <p:txBody>
          <a:bodyPr>
            <a:normAutofit/>
          </a:bodyPr>
          <a:lstStyle/>
          <a:p>
            <a:r>
              <a:rPr lang="en-US" dirty="0">
                <a:latin typeface="Arial" panose="020B0604020202020204" pitchFamily="34" charset="0"/>
                <a:cs typeface="Arial" panose="020B0604020202020204" pitchFamily="34" charset="0"/>
              </a:rPr>
              <a:t>Workflow</a:t>
            </a:r>
            <a:endParaRPr lang="en-US" dirty="0"/>
          </a:p>
        </p:txBody>
      </p:sp>
      <p:sp>
        <p:nvSpPr>
          <p:cNvPr id="11" name="Content Placeholder 2 2">
            <a:extLst>
              <a:ext uri="{FF2B5EF4-FFF2-40B4-BE49-F238E27FC236}">
                <a16:creationId xmlns:a16="http://schemas.microsoft.com/office/drawing/2014/main" id="{326FA81D-1C85-E7C1-B7C7-91E488166FC3}"/>
              </a:ext>
            </a:extLst>
          </p:cNvPr>
          <p:cNvSpPr txBox="1">
            <a:spLocks/>
          </p:cNvSpPr>
          <p:nvPr>
            <p:custDataLst>
              <p:tags r:id="rId2"/>
            </p:custDataLst>
          </p:nvPr>
        </p:nvSpPr>
        <p:spPr>
          <a:xfrm>
            <a:off x="609600" y="3784349"/>
            <a:ext cx="5162550" cy="2075582"/>
          </a:xfrm>
          <a:prstGeom prst="rect">
            <a:avLst/>
          </a:prstGeom>
        </p:spPr>
        <p:txBody>
          <a:bodyPr/>
          <a:lstStyle>
            <a:lvl1pPr marL="342900" indent="-3429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fontAlgn="auto">
              <a:buNone/>
            </a:pPr>
            <a:endParaRPr lang="en-US" b="0" dirty="0"/>
          </a:p>
        </p:txBody>
      </p:sp>
      <p:pic>
        <p:nvPicPr>
          <p:cNvPr id="2050" name="Picture 2" descr="A diagram of standard scaler&#10;&#10;AI-generated content may be incorrect.">
            <a:extLst>
              <a:ext uri="{FF2B5EF4-FFF2-40B4-BE49-F238E27FC236}">
                <a16:creationId xmlns:a16="http://schemas.microsoft.com/office/drawing/2014/main" id="{DF5AFB02-7123-0745-F3FE-6C3E0D2A52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3699" y="1983783"/>
            <a:ext cx="10808701" cy="3239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0285948"/>
      </p:ext>
    </p:extLst>
  </p:cSld>
  <p:clrMapOvr>
    <a:masterClrMapping/>
  </p:clrMapOvr>
  <mc:AlternateContent xmlns:mc="http://schemas.openxmlformats.org/markup-compatibility/2006" xmlns:p14="http://schemas.microsoft.com/office/powerpoint/2010/main">
    <mc:Choice Requires="p14">
      <p:transition spd="slow" p14:dur="2000" advClick="0" advTm="24201"/>
    </mc:Choice>
    <mc:Fallback xmlns="">
      <p:transition spd="slow" advClick="0" advTm="2420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BB0A6-0F62-DAA6-AC14-537B2F37DA89}"/>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7325803F-48A8-C2A9-A91A-F74B7B3F9778}"/>
              </a:ext>
            </a:extLst>
          </p:cNvPr>
          <p:cNvSpPr>
            <a:spLocks noGrp="1"/>
          </p:cNvSpPr>
          <p:nvPr>
            <p:ph type="title"/>
            <p:custDataLst>
              <p:tags r:id="rId1"/>
            </p:custDataLst>
          </p:nvPr>
        </p:nvSpPr>
        <p:spPr>
          <a:xfrm>
            <a:off x="609600" y="214989"/>
            <a:ext cx="10972800" cy="667585"/>
          </a:xfrm>
        </p:spPr>
        <p:txBody>
          <a:bodyPr>
            <a:normAutofit/>
          </a:bodyPr>
          <a:lstStyle/>
          <a:p>
            <a:r>
              <a:rPr lang="en-US" dirty="0">
                <a:latin typeface="Arial" panose="020B0604020202020204" pitchFamily="34" charset="0"/>
                <a:cs typeface="Arial" panose="020B0604020202020204" pitchFamily="34" charset="0"/>
              </a:rPr>
              <a:t>Baseline Model</a:t>
            </a:r>
            <a:endParaRPr lang="en-US" dirty="0"/>
          </a:p>
        </p:txBody>
      </p:sp>
      <p:sp>
        <p:nvSpPr>
          <p:cNvPr id="11" name="Content Placeholder 2">
            <a:extLst>
              <a:ext uri="{FF2B5EF4-FFF2-40B4-BE49-F238E27FC236}">
                <a16:creationId xmlns:a16="http://schemas.microsoft.com/office/drawing/2014/main" id="{F202B55F-B5AA-D0AF-36FE-65C36B07180B}"/>
              </a:ext>
            </a:extLst>
          </p:cNvPr>
          <p:cNvSpPr txBox="1">
            <a:spLocks/>
          </p:cNvSpPr>
          <p:nvPr>
            <p:custDataLst>
              <p:tags r:id="rId2"/>
            </p:custDataLst>
          </p:nvPr>
        </p:nvSpPr>
        <p:spPr>
          <a:xfrm>
            <a:off x="609600" y="3784349"/>
            <a:ext cx="5162550" cy="2075582"/>
          </a:xfrm>
          <a:prstGeom prst="rect">
            <a:avLst/>
          </a:prstGeom>
        </p:spPr>
        <p:txBody>
          <a:bodyPr/>
          <a:lstStyle>
            <a:lvl1pPr marL="342900" indent="-3429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fontAlgn="auto">
              <a:buNone/>
            </a:pPr>
            <a:endParaRPr lang="en-US" b="0" dirty="0"/>
          </a:p>
        </p:txBody>
      </p:sp>
      <p:sp>
        <p:nvSpPr>
          <p:cNvPr id="9" name="TextBox 8">
            <a:extLst>
              <a:ext uri="{FF2B5EF4-FFF2-40B4-BE49-F238E27FC236}">
                <a16:creationId xmlns:a16="http://schemas.microsoft.com/office/drawing/2014/main" id="{20E13E4A-D98C-3E80-116C-612E84C4C5A2}"/>
              </a:ext>
            </a:extLst>
          </p:cNvPr>
          <p:cNvSpPr txBox="1"/>
          <p:nvPr/>
        </p:nvSpPr>
        <p:spPr>
          <a:xfrm>
            <a:off x="609599" y="1644275"/>
            <a:ext cx="7248041" cy="2677656"/>
          </a:xfrm>
          <a:prstGeom prst="rect">
            <a:avLst/>
          </a:prstGeom>
          <a:noFill/>
        </p:spPr>
        <p:txBody>
          <a:bodyPr wrap="square" anchor="ctr">
            <a:spAutoFit/>
          </a:bodyPr>
          <a:lstStyle/>
          <a:p>
            <a:pPr marL="342900" indent="-342900" algn="l">
              <a:buFont typeface="Arial" panose="020B0604020202020204" pitchFamily="34" charset="0"/>
              <a:buChar char="•"/>
            </a:pPr>
            <a:r>
              <a:rPr lang="en-US" sz="2400" b="0" dirty="0">
                <a:solidFill>
                  <a:srgbClr val="003057"/>
                </a:solidFill>
                <a:latin typeface="Arial" panose="020B0604020202020204" pitchFamily="34" charset="0"/>
                <a:cs typeface="Arial" panose="020B0604020202020204" pitchFamily="34" charset="0"/>
              </a:rPr>
              <a:t>KNN as baseline</a:t>
            </a:r>
          </a:p>
          <a:p>
            <a:pPr marL="342900" indent="-342900" algn="l">
              <a:buFont typeface="Arial" panose="020B0604020202020204" pitchFamily="34" charset="0"/>
              <a:buChar char="•"/>
            </a:pPr>
            <a:endParaRPr lang="en-US" sz="2400" b="0" dirty="0">
              <a:solidFill>
                <a:srgbClr val="003057"/>
              </a:solidFill>
              <a:latin typeface="Arial" panose="020B0604020202020204" pitchFamily="34" charset="0"/>
              <a:cs typeface="Arial" panose="020B0604020202020204" pitchFamily="34" charset="0"/>
            </a:endParaRPr>
          </a:p>
          <a:p>
            <a:pPr marL="342900" indent="-342900" algn="l">
              <a:buFont typeface="Arial" panose="020B0604020202020204" pitchFamily="34" charset="0"/>
              <a:buChar char="•"/>
            </a:pPr>
            <a:r>
              <a:rPr lang="en-US" b="0" dirty="0">
                <a:solidFill>
                  <a:srgbClr val="003057"/>
                </a:solidFill>
                <a:latin typeface="Arial" panose="020B0604020202020204" pitchFamily="34" charset="0"/>
                <a:cs typeface="Arial" panose="020B0604020202020204" pitchFamily="34" charset="0"/>
              </a:rPr>
              <a:t>5-fold Stratified Cross-Validation</a:t>
            </a:r>
          </a:p>
          <a:p>
            <a:pPr marL="800100" lvl="1" indent="-342900" algn="l">
              <a:buFont typeface="Arial" panose="020B0604020202020204" pitchFamily="34" charset="0"/>
              <a:buChar char="•"/>
            </a:pPr>
            <a:r>
              <a:rPr lang="en-US" b="0" dirty="0">
                <a:solidFill>
                  <a:srgbClr val="857437"/>
                </a:solidFill>
                <a:latin typeface="Arial" panose="020B0604020202020204" pitchFamily="34" charset="0"/>
                <a:cs typeface="Arial" panose="020B0604020202020204" pitchFamily="34" charset="0"/>
              </a:rPr>
              <a:t>preserving class balance within each fold</a:t>
            </a:r>
          </a:p>
          <a:p>
            <a:pPr marL="800100" lvl="1" indent="-342900" algn="l">
              <a:buFont typeface="Arial" panose="020B0604020202020204" pitchFamily="34" charset="0"/>
              <a:buChar char="•"/>
            </a:pPr>
            <a:endParaRPr lang="en-US" b="0" dirty="0">
              <a:solidFill>
                <a:srgbClr val="857437"/>
              </a:solidFill>
              <a:latin typeface="Arial" panose="020B0604020202020204" pitchFamily="34" charset="0"/>
              <a:cs typeface="Arial" panose="020B0604020202020204" pitchFamily="34" charset="0"/>
            </a:endParaRPr>
          </a:p>
          <a:p>
            <a:pPr marL="342900" indent="-342900" algn="l">
              <a:buFont typeface="Arial" panose="020B0604020202020204" pitchFamily="34" charset="0"/>
              <a:buChar char="•"/>
            </a:pPr>
            <a:r>
              <a:rPr lang="en-US" b="0" dirty="0" err="1">
                <a:solidFill>
                  <a:srgbClr val="003057"/>
                </a:solidFill>
                <a:latin typeface="Arial" panose="020B0604020202020204" pitchFamily="34" charset="0"/>
                <a:cs typeface="Arial" panose="020B0604020202020204" pitchFamily="34" charset="0"/>
              </a:rPr>
              <a:t>GridSearchCV</a:t>
            </a:r>
            <a:r>
              <a:rPr lang="en-US" b="0" dirty="0">
                <a:solidFill>
                  <a:srgbClr val="003057"/>
                </a:solidFill>
                <a:latin typeface="Arial" panose="020B0604020202020204" pitchFamily="34" charset="0"/>
                <a:cs typeface="Arial" panose="020B0604020202020204" pitchFamily="34" charset="0"/>
              </a:rPr>
              <a:t> to tune hyperparameters</a:t>
            </a:r>
          </a:p>
          <a:p>
            <a:pPr marL="800100" lvl="1" indent="-342900" algn="l">
              <a:buFont typeface="Arial" panose="020B0604020202020204" pitchFamily="34" charset="0"/>
              <a:buChar char="•"/>
            </a:pPr>
            <a:r>
              <a:rPr lang="en-US" b="0" dirty="0">
                <a:solidFill>
                  <a:srgbClr val="857437"/>
                </a:solidFill>
                <a:latin typeface="Arial" panose="020B0604020202020204" pitchFamily="34" charset="0"/>
                <a:cs typeface="Arial" panose="020B0604020202020204" pitchFamily="34" charset="0"/>
              </a:rPr>
              <a:t>Number of neighbors</a:t>
            </a:r>
          </a:p>
        </p:txBody>
      </p:sp>
    </p:spTree>
    <p:extLst>
      <p:ext uri="{BB962C8B-B14F-4D97-AF65-F5344CB8AC3E}">
        <p14:creationId xmlns:p14="http://schemas.microsoft.com/office/powerpoint/2010/main" val="1637981055"/>
      </p:ext>
    </p:extLst>
  </p:cSld>
  <p:clrMapOvr>
    <a:masterClrMapping/>
  </p:clrMapOvr>
  <mc:AlternateContent xmlns:mc="http://schemas.openxmlformats.org/markup-compatibility/2006" xmlns:p14="http://schemas.microsoft.com/office/powerpoint/2010/main">
    <mc:Choice Requires="p14">
      <p:transition spd="slow" p14:dur="2000" advClick="0" advTm="24201"/>
    </mc:Choice>
    <mc:Fallback xmlns="">
      <p:transition spd="slow" advClick="0" advTm="2420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9415D-2B28-DC70-F795-943126A716AC}"/>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0D8DA9DD-79A7-0C53-3134-65A4AEF9DBA6}"/>
              </a:ext>
            </a:extLst>
          </p:cNvPr>
          <p:cNvSpPr>
            <a:spLocks noGrp="1"/>
          </p:cNvSpPr>
          <p:nvPr>
            <p:ph type="title"/>
            <p:custDataLst>
              <p:tags r:id="rId1"/>
            </p:custDataLst>
          </p:nvPr>
        </p:nvSpPr>
        <p:spPr>
          <a:xfrm>
            <a:off x="609600" y="214989"/>
            <a:ext cx="10972800" cy="667585"/>
          </a:xfrm>
        </p:spPr>
        <p:txBody>
          <a:bodyPr>
            <a:normAutofit/>
          </a:bodyPr>
          <a:lstStyle/>
          <a:p>
            <a:r>
              <a:rPr lang="en-US" dirty="0">
                <a:latin typeface="Arial" panose="020B0604020202020204" pitchFamily="34" charset="0"/>
                <a:cs typeface="Arial" panose="020B0604020202020204" pitchFamily="34" charset="0"/>
              </a:rPr>
              <a:t>Baseline Model</a:t>
            </a:r>
            <a:endParaRPr lang="en-US" dirty="0"/>
          </a:p>
        </p:txBody>
      </p:sp>
      <p:sp>
        <p:nvSpPr>
          <p:cNvPr id="11" name="Content Placeholder 2">
            <a:extLst>
              <a:ext uri="{FF2B5EF4-FFF2-40B4-BE49-F238E27FC236}">
                <a16:creationId xmlns:a16="http://schemas.microsoft.com/office/drawing/2014/main" id="{1E48B220-A7BE-58FF-2715-C429F4B5EE97}"/>
              </a:ext>
            </a:extLst>
          </p:cNvPr>
          <p:cNvSpPr txBox="1">
            <a:spLocks/>
          </p:cNvSpPr>
          <p:nvPr>
            <p:custDataLst>
              <p:tags r:id="rId2"/>
            </p:custDataLst>
          </p:nvPr>
        </p:nvSpPr>
        <p:spPr>
          <a:xfrm>
            <a:off x="609600" y="3784349"/>
            <a:ext cx="5162550" cy="2075582"/>
          </a:xfrm>
          <a:prstGeom prst="rect">
            <a:avLst/>
          </a:prstGeom>
        </p:spPr>
        <p:txBody>
          <a:bodyPr/>
          <a:lstStyle>
            <a:lvl1pPr marL="342900" indent="-3429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fontAlgn="auto">
              <a:buNone/>
            </a:pPr>
            <a:endParaRPr lang="en-US" b="0" dirty="0"/>
          </a:p>
        </p:txBody>
      </p:sp>
      <p:sp>
        <p:nvSpPr>
          <p:cNvPr id="9" name="TextBox 8">
            <a:extLst>
              <a:ext uri="{FF2B5EF4-FFF2-40B4-BE49-F238E27FC236}">
                <a16:creationId xmlns:a16="http://schemas.microsoft.com/office/drawing/2014/main" id="{E97588D3-E810-FE9E-587B-1CEE513978DD}"/>
              </a:ext>
            </a:extLst>
          </p:cNvPr>
          <p:cNvSpPr txBox="1"/>
          <p:nvPr/>
        </p:nvSpPr>
        <p:spPr>
          <a:xfrm>
            <a:off x="406831" y="1477219"/>
            <a:ext cx="4831596" cy="3416320"/>
          </a:xfrm>
          <a:prstGeom prst="rect">
            <a:avLst/>
          </a:prstGeom>
          <a:noFill/>
        </p:spPr>
        <p:txBody>
          <a:bodyPr wrap="square" anchor="ctr">
            <a:spAutoFit/>
          </a:bodyPr>
          <a:lstStyle/>
          <a:p>
            <a:pPr marL="342900" indent="-342900" algn="l">
              <a:buFont typeface="Arial" panose="020B0604020202020204" pitchFamily="34" charset="0"/>
              <a:buChar char="•"/>
            </a:pPr>
            <a:r>
              <a:rPr lang="en-US" b="0" dirty="0">
                <a:solidFill>
                  <a:srgbClr val="003057"/>
                </a:solidFill>
                <a:latin typeface="Arial" panose="020B0604020202020204" pitchFamily="34" charset="0"/>
                <a:cs typeface="Arial" panose="020B0604020202020204" pitchFamily="34" charset="0"/>
              </a:rPr>
              <a:t>Balanced accuracy=0.45</a:t>
            </a:r>
          </a:p>
          <a:p>
            <a:pPr marL="800100" lvl="1" indent="-342900" algn="l">
              <a:buFont typeface="Arial" panose="020B0604020202020204" pitchFamily="34" charset="0"/>
              <a:buChar char="•"/>
            </a:pPr>
            <a:r>
              <a:rPr lang="en-US" b="0" dirty="0">
                <a:solidFill>
                  <a:srgbClr val="857437"/>
                </a:solidFill>
                <a:latin typeface="Arial" panose="020B0604020202020204" pitchFamily="34" charset="0"/>
                <a:cs typeface="Arial" panose="020B0604020202020204" pitchFamily="34" charset="0"/>
              </a:rPr>
              <a:t>averages recall across classes to reduce bias toward the majority class</a:t>
            </a:r>
          </a:p>
          <a:p>
            <a:pPr marL="800100" lvl="1" indent="-342900" algn="l">
              <a:buFont typeface="Arial" panose="020B0604020202020204" pitchFamily="34" charset="0"/>
              <a:buChar char="•"/>
            </a:pPr>
            <a:endParaRPr lang="en-US" b="0" dirty="0">
              <a:solidFill>
                <a:srgbClr val="857437"/>
              </a:solidFill>
              <a:latin typeface="Arial" panose="020B0604020202020204" pitchFamily="34" charset="0"/>
              <a:cs typeface="Arial" panose="020B0604020202020204" pitchFamily="34" charset="0"/>
            </a:endParaRPr>
          </a:p>
          <a:p>
            <a:pPr marL="342900" indent="-342900" algn="l">
              <a:buFont typeface="Arial" panose="020B0604020202020204" pitchFamily="34" charset="0"/>
              <a:buChar char="•"/>
            </a:pPr>
            <a:r>
              <a:rPr lang="en-US" b="0" dirty="0">
                <a:solidFill>
                  <a:srgbClr val="003057"/>
                </a:solidFill>
                <a:latin typeface="Arial" panose="020B0604020202020204" pitchFamily="34" charset="0"/>
                <a:cs typeface="Arial" panose="020B0604020202020204" pitchFamily="34" charset="0"/>
              </a:rPr>
              <a:t>Suffer high dimension and can’t capture relationship well</a:t>
            </a:r>
          </a:p>
          <a:p>
            <a:pPr marL="800100" lvl="1" indent="-342900" algn="l">
              <a:buFont typeface="Arial" panose="020B0604020202020204" pitchFamily="34" charset="0"/>
              <a:buChar char="•"/>
            </a:pPr>
            <a:r>
              <a:rPr lang="en-US" b="0" dirty="0">
                <a:solidFill>
                  <a:srgbClr val="857437"/>
                </a:solidFill>
                <a:latin typeface="Arial" panose="020B0604020202020204" pitchFamily="34" charset="0"/>
                <a:cs typeface="Arial" panose="020B0604020202020204" pitchFamily="34" charset="0"/>
              </a:rPr>
              <a:t>More advanced model needed</a:t>
            </a:r>
          </a:p>
        </p:txBody>
      </p:sp>
      <p:pic>
        <p:nvPicPr>
          <p:cNvPr id="10" name="Picture 9" descr="A blue squares with white text&#10;&#10;AI-generated content may be incorrect.">
            <a:extLst>
              <a:ext uri="{FF2B5EF4-FFF2-40B4-BE49-F238E27FC236}">
                <a16:creationId xmlns:a16="http://schemas.microsoft.com/office/drawing/2014/main" id="{4914067A-0830-FBE1-2AD7-291D125678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00068" y="1207584"/>
            <a:ext cx="5488230" cy="4652347"/>
          </a:xfrm>
          <a:prstGeom prst="rect">
            <a:avLst/>
          </a:prstGeom>
        </p:spPr>
      </p:pic>
    </p:spTree>
    <p:extLst>
      <p:ext uri="{BB962C8B-B14F-4D97-AF65-F5344CB8AC3E}">
        <p14:creationId xmlns:p14="http://schemas.microsoft.com/office/powerpoint/2010/main" val="2564226179"/>
      </p:ext>
    </p:extLst>
  </p:cSld>
  <p:clrMapOvr>
    <a:masterClrMapping/>
  </p:clrMapOvr>
  <mc:AlternateContent xmlns:mc="http://schemas.openxmlformats.org/markup-compatibility/2006" xmlns:p14="http://schemas.microsoft.com/office/powerpoint/2010/main">
    <mc:Choice Requires="p14">
      <p:transition spd="slow" p14:dur="2000" advClick="0" advTm="24201"/>
    </mc:Choice>
    <mc:Fallback xmlns="">
      <p:transition spd="slow" advClick="0" advTm="2420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50A57-ED86-3069-A276-0DF3257F18F2}"/>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41F21980-B6EF-DB86-66A6-07C9F6D4BCE5}"/>
              </a:ext>
            </a:extLst>
          </p:cNvPr>
          <p:cNvSpPr>
            <a:spLocks noGrp="1"/>
          </p:cNvSpPr>
          <p:nvPr>
            <p:ph type="title"/>
            <p:custDataLst>
              <p:tags r:id="rId1"/>
            </p:custDataLst>
          </p:nvPr>
        </p:nvSpPr>
        <p:spPr>
          <a:xfrm>
            <a:off x="609600" y="214989"/>
            <a:ext cx="10972800" cy="667585"/>
          </a:xfrm>
        </p:spPr>
        <p:txBody>
          <a:bodyPr>
            <a:normAutofit/>
          </a:bodyPr>
          <a:lstStyle/>
          <a:p>
            <a:r>
              <a:rPr lang="en-US" dirty="0">
                <a:latin typeface="Arial" panose="020B0604020202020204" pitchFamily="34" charset="0"/>
                <a:cs typeface="Arial" panose="020B0604020202020204" pitchFamily="34" charset="0"/>
              </a:rPr>
              <a:t>Improved Model</a:t>
            </a:r>
            <a:endParaRPr lang="en-US" dirty="0"/>
          </a:p>
        </p:txBody>
      </p:sp>
      <p:sp>
        <p:nvSpPr>
          <p:cNvPr id="11" name="Content Placeholder 2">
            <a:extLst>
              <a:ext uri="{FF2B5EF4-FFF2-40B4-BE49-F238E27FC236}">
                <a16:creationId xmlns:a16="http://schemas.microsoft.com/office/drawing/2014/main" id="{7DE546BB-39A5-A3E1-89F8-0579740B8AD9}"/>
              </a:ext>
            </a:extLst>
          </p:cNvPr>
          <p:cNvSpPr txBox="1">
            <a:spLocks/>
          </p:cNvSpPr>
          <p:nvPr>
            <p:custDataLst>
              <p:tags r:id="rId2"/>
            </p:custDataLst>
          </p:nvPr>
        </p:nvSpPr>
        <p:spPr>
          <a:xfrm>
            <a:off x="609600" y="3784349"/>
            <a:ext cx="5162550" cy="2075582"/>
          </a:xfrm>
          <a:prstGeom prst="rect">
            <a:avLst/>
          </a:prstGeom>
        </p:spPr>
        <p:txBody>
          <a:bodyPr/>
          <a:lstStyle>
            <a:lvl1pPr marL="342900" indent="-3429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fontAlgn="auto">
              <a:buNone/>
            </a:pPr>
            <a:endParaRPr lang="en-US" b="0" dirty="0"/>
          </a:p>
        </p:txBody>
      </p:sp>
      <p:sp>
        <p:nvSpPr>
          <p:cNvPr id="9" name="TextBox 8">
            <a:extLst>
              <a:ext uri="{FF2B5EF4-FFF2-40B4-BE49-F238E27FC236}">
                <a16:creationId xmlns:a16="http://schemas.microsoft.com/office/drawing/2014/main" id="{CAF939C4-5140-15D6-E162-2E2EF83E2FDC}"/>
              </a:ext>
            </a:extLst>
          </p:cNvPr>
          <p:cNvSpPr txBox="1"/>
          <p:nvPr/>
        </p:nvSpPr>
        <p:spPr>
          <a:xfrm>
            <a:off x="609600" y="1152859"/>
            <a:ext cx="7031065" cy="5262979"/>
          </a:xfrm>
          <a:prstGeom prst="rect">
            <a:avLst/>
          </a:prstGeom>
          <a:noFill/>
        </p:spPr>
        <p:txBody>
          <a:bodyPr wrap="square" anchor="ctr">
            <a:spAutoFit/>
          </a:bodyPr>
          <a:lstStyle/>
          <a:p>
            <a:pPr marL="342900" indent="-342900" algn="l">
              <a:buFont typeface="Arial" panose="020B0604020202020204" pitchFamily="34" charset="0"/>
              <a:buChar char="•"/>
            </a:pPr>
            <a:r>
              <a:rPr lang="en-US" b="0" dirty="0">
                <a:solidFill>
                  <a:srgbClr val="003057"/>
                </a:solidFill>
                <a:latin typeface="Arial" panose="020B0604020202020204" pitchFamily="34" charset="0"/>
                <a:cs typeface="Arial" panose="020B0604020202020204" pitchFamily="34" charset="0"/>
              </a:rPr>
              <a:t>Decision tree and random forest</a:t>
            </a:r>
          </a:p>
          <a:p>
            <a:pPr marL="800100" lvl="1" indent="-342900" algn="l">
              <a:buFont typeface="Arial" panose="020B0604020202020204" pitchFamily="34" charset="0"/>
              <a:buChar char="•"/>
            </a:pPr>
            <a:r>
              <a:rPr lang="en-US" b="0" dirty="0" err="1">
                <a:solidFill>
                  <a:srgbClr val="857437"/>
                </a:solidFill>
                <a:latin typeface="Arial" panose="020B0604020202020204" pitchFamily="34" charset="0"/>
                <a:cs typeface="Arial" panose="020B0604020202020204" pitchFamily="34" charset="0"/>
              </a:rPr>
              <a:t>class_weight</a:t>
            </a:r>
            <a:r>
              <a:rPr lang="en-US" b="0" dirty="0">
                <a:solidFill>
                  <a:srgbClr val="857437"/>
                </a:solidFill>
                <a:latin typeface="Arial" panose="020B0604020202020204" pitchFamily="34" charset="0"/>
                <a:cs typeface="Arial" panose="020B0604020202020204" pitchFamily="34" charset="0"/>
              </a:rPr>
              <a:t>=balanced</a:t>
            </a:r>
          </a:p>
          <a:p>
            <a:pPr marL="800100" lvl="1" indent="-342900" algn="l">
              <a:buFont typeface="Arial" panose="020B0604020202020204" pitchFamily="34" charset="0"/>
              <a:buChar char="•"/>
            </a:pPr>
            <a:endParaRPr lang="en-US" b="0" dirty="0">
              <a:solidFill>
                <a:srgbClr val="857437"/>
              </a:solidFill>
              <a:latin typeface="Arial" panose="020B0604020202020204" pitchFamily="34" charset="0"/>
              <a:cs typeface="Arial" panose="020B0604020202020204" pitchFamily="34" charset="0"/>
            </a:endParaRPr>
          </a:p>
          <a:p>
            <a:pPr marL="342900" lvl="0" indent="-342900" algn="l">
              <a:buFont typeface="Arial" panose="020B0604020202020204" pitchFamily="34" charset="0"/>
              <a:buChar char="•"/>
            </a:pPr>
            <a:r>
              <a:rPr lang="en-US" altLang="en-US" b="0" dirty="0">
                <a:solidFill>
                  <a:srgbClr val="003057"/>
                </a:solidFill>
                <a:latin typeface="Arial" panose="020B0604020202020204" pitchFamily="34" charset="0"/>
              </a:rPr>
              <a:t> Decision Tree:</a:t>
            </a:r>
          </a:p>
          <a:p>
            <a:pPr marL="800100" lvl="1" indent="-342900" algn="l">
              <a:buFont typeface="Arial" panose="020B0604020202020204" pitchFamily="34" charset="0"/>
              <a:buChar char="•"/>
            </a:pPr>
            <a:r>
              <a:rPr lang="en-US" altLang="en-US" b="0" dirty="0" err="1">
                <a:solidFill>
                  <a:srgbClr val="857437"/>
                </a:solidFill>
                <a:latin typeface="Arial" panose="020B0604020202020204" pitchFamily="34" charset="0"/>
              </a:rPr>
              <a:t>max_depth</a:t>
            </a:r>
            <a:endParaRPr lang="en-US" altLang="en-US" b="0" dirty="0">
              <a:solidFill>
                <a:srgbClr val="857437"/>
              </a:solidFill>
              <a:latin typeface="Arial" panose="020B0604020202020204" pitchFamily="34" charset="0"/>
            </a:endParaRPr>
          </a:p>
          <a:p>
            <a:pPr marL="800100" lvl="1" indent="-342900" algn="l">
              <a:buFont typeface="Arial" panose="020B0604020202020204" pitchFamily="34" charset="0"/>
              <a:buChar char="•"/>
            </a:pPr>
            <a:r>
              <a:rPr lang="en-US" altLang="en-US" b="0" dirty="0" err="1">
                <a:solidFill>
                  <a:srgbClr val="857437"/>
                </a:solidFill>
                <a:latin typeface="Arial" panose="020B0604020202020204" pitchFamily="34" charset="0"/>
              </a:rPr>
              <a:t>min_samples_split</a:t>
            </a:r>
            <a:endParaRPr lang="en-US" altLang="en-US" b="0" dirty="0">
              <a:solidFill>
                <a:srgbClr val="857437"/>
              </a:solidFill>
              <a:latin typeface="Arial" panose="020B0604020202020204" pitchFamily="34" charset="0"/>
            </a:endParaRPr>
          </a:p>
          <a:p>
            <a:pPr marL="800100" lvl="1" indent="-342900" algn="l">
              <a:buFont typeface="Arial" panose="020B0604020202020204" pitchFamily="34" charset="0"/>
              <a:buChar char="•"/>
            </a:pPr>
            <a:r>
              <a:rPr lang="en-US" altLang="en-US" b="0" dirty="0">
                <a:solidFill>
                  <a:srgbClr val="857437"/>
                </a:solidFill>
                <a:latin typeface="Arial" panose="020B0604020202020204" pitchFamily="34" charset="0"/>
              </a:rPr>
              <a:t>criterion ∈ {“</a:t>
            </a:r>
            <a:r>
              <a:rPr lang="en-US" altLang="en-US" b="0" dirty="0" err="1">
                <a:solidFill>
                  <a:srgbClr val="857437"/>
                </a:solidFill>
                <a:latin typeface="Arial" panose="020B0604020202020204" pitchFamily="34" charset="0"/>
              </a:rPr>
              <a:t>gini</a:t>
            </a:r>
            <a:r>
              <a:rPr lang="en-US" altLang="en-US" b="0" dirty="0">
                <a:solidFill>
                  <a:srgbClr val="857437"/>
                </a:solidFill>
                <a:latin typeface="Arial" panose="020B0604020202020204" pitchFamily="34" charset="0"/>
              </a:rPr>
              <a:t>”, “entropy”}</a:t>
            </a:r>
          </a:p>
          <a:p>
            <a:pPr marL="800100" lvl="1" indent="-342900" algn="l">
              <a:buFont typeface="Arial" panose="020B0604020202020204" pitchFamily="34" charset="0"/>
              <a:buChar char="•"/>
            </a:pPr>
            <a:endParaRPr lang="en-US" altLang="en-US" b="0" dirty="0">
              <a:solidFill>
                <a:srgbClr val="857437"/>
              </a:solidFill>
              <a:latin typeface="Arial" panose="020B0604020202020204" pitchFamily="34" charset="0"/>
            </a:endParaRPr>
          </a:p>
          <a:p>
            <a:pPr marL="342900" lvl="0" indent="-342900" algn="l">
              <a:buFont typeface="Arial" panose="020B0604020202020204" pitchFamily="34" charset="0"/>
              <a:buChar char="•"/>
            </a:pPr>
            <a:r>
              <a:rPr lang="en-US" altLang="en-US" b="0" dirty="0">
                <a:solidFill>
                  <a:srgbClr val="003057"/>
                </a:solidFill>
                <a:latin typeface="Arial" panose="020B0604020202020204" pitchFamily="34" charset="0"/>
              </a:rPr>
              <a:t>Random Forest:</a:t>
            </a:r>
          </a:p>
          <a:p>
            <a:pPr marL="800100" lvl="1" indent="-342900" algn="l">
              <a:buFont typeface="Arial" panose="020B0604020202020204" pitchFamily="34" charset="0"/>
              <a:buChar char="•"/>
            </a:pPr>
            <a:r>
              <a:rPr lang="en-US" altLang="en-US" b="0" dirty="0">
                <a:solidFill>
                  <a:srgbClr val="857437"/>
                </a:solidFill>
                <a:latin typeface="Arial" panose="020B0604020202020204" pitchFamily="34" charset="0"/>
              </a:rPr>
              <a:t>All Decision Tree parameters</a:t>
            </a:r>
          </a:p>
          <a:p>
            <a:pPr marL="800100" lvl="1" indent="-342900" algn="l">
              <a:buFont typeface="Arial" panose="020B0604020202020204" pitchFamily="34" charset="0"/>
              <a:buChar char="•"/>
            </a:pPr>
            <a:r>
              <a:rPr lang="en-US" altLang="en-US" b="0" dirty="0" err="1">
                <a:solidFill>
                  <a:srgbClr val="857437"/>
                </a:solidFill>
                <a:latin typeface="Arial" panose="020B0604020202020204" pitchFamily="34" charset="0"/>
              </a:rPr>
              <a:t>n_estimators</a:t>
            </a:r>
            <a:r>
              <a:rPr lang="en-US" altLang="en-US" b="0" dirty="0">
                <a:solidFill>
                  <a:srgbClr val="857437"/>
                </a:solidFill>
                <a:latin typeface="Arial" panose="020B0604020202020204" pitchFamily="34" charset="0"/>
              </a:rPr>
              <a:t> (number of trees)</a:t>
            </a:r>
          </a:p>
          <a:p>
            <a:pPr marL="342900" indent="-342900" algn="l">
              <a:buFont typeface="Arial" panose="020B0604020202020204" pitchFamily="34" charset="0"/>
              <a:buChar char="•"/>
            </a:pPr>
            <a:endParaRPr lang="en-US" b="0" dirty="0">
              <a:solidFill>
                <a:srgbClr val="003057"/>
              </a:solidFill>
              <a:latin typeface="Arial" panose="020B0604020202020204" pitchFamily="34" charset="0"/>
              <a:cs typeface="Arial" panose="020B0604020202020204" pitchFamily="34" charset="0"/>
            </a:endParaRPr>
          </a:p>
          <a:p>
            <a:pPr marL="342900" indent="-342900" algn="l">
              <a:buFont typeface="Arial" panose="020B0604020202020204" pitchFamily="34" charset="0"/>
              <a:buChar char="•"/>
            </a:pPr>
            <a:endParaRPr lang="en-US" b="0" dirty="0">
              <a:solidFill>
                <a:srgbClr val="003057"/>
              </a:solidFill>
              <a:latin typeface="Arial" panose="020B0604020202020204" pitchFamily="34" charset="0"/>
              <a:cs typeface="Arial" panose="020B0604020202020204" pitchFamily="34" charset="0"/>
            </a:endParaRPr>
          </a:p>
          <a:p>
            <a:pPr marL="342900" indent="-342900" algn="l">
              <a:buFont typeface="Arial" panose="020B0604020202020204" pitchFamily="34" charset="0"/>
              <a:buChar char="•"/>
            </a:pPr>
            <a:endParaRPr lang="en-US" b="0" dirty="0">
              <a:solidFill>
                <a:srgbClr val="003057"/>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2279096"/>
      </p:ext>
    </p:extLst>
  </p:cSld>
  <p:clrMapOvr>
    <a:masterClrMapping/>
  </p:clrMapOvr>
  <mc:AlternateContent xmlns:mc="http://schemas.openxmlformats.org/markup-compatibility/2006" xmlns:p14="http://schemas.microsoft.com/office/powerpoint/2010/main">
    <mc:Choice Requires="p14">
      <p:transition spd="slow" p14:dur="2000" advClick="0" advTm="24201"/>
    </mc:Choice>
    <mc:Fallback xmlns="">
      <p:transition spd="slow" advClick="0" advTm="2420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2D3C3-BF0E-EBC8-36D4-71010302AD57}"/>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6AA048CF-D3E4-46A2-A3B8-F59169F9B69B}"/>
              </a:ext>
            </a:extLst>
          </p:cNvPr>
          <p:cNvSpPr>
            <a:spLocks noGrp="1"/>
          </p:cNvSpPr>
          <p:nvPr>
            <p:ph type="title"/>
            <p:custDataLst>
              <p:tags r:id="rId1"/>
            </p:custDataLst>
          </p:nvPr>
        </p:nvSpPr>
        <p:spPr>
          <a:xfrm>
            <a:off x="609600" y="214989"/>
            <a:ext cx="10972800" cy="667585"/>
          </a:xfrm>
        </p:spPr>
        <p:txBody>
          <a:bodyPr>
            <a:normAutofit/>
          </a:bodyPr>
          <a:lstStyle/>
          <a:p>
            <a:r>
              <a:rPr lang="en-US" dirty="0">
                <a:latin typeface="Arial" panose="020B0604020202020204" pitchFamily="34" charset="0"/>
                <a:cs typeface="Arial" panose="020B0604020202020204" pitchFamily="34" charset="0"/>
              </a:rPr>
              <a:t>Improved Model</a:t>
            </a:r>
            <a:endParaRPr lang="en-US" dirty="0"/>
          </a:p>
        </p:txBody>
      </p:sp>
      <p:sp>
        <p:nvSpPr>
          <p:cNvPr id="11" name="Content Placeholder 2">
            <a:extLst>
              <a:ext uri="{FF2B5EF4-FFF2-40B4-BE49-F238E27FC236}">
                <a16:creationId xmlns:a16="http://schemas.microsoft.com/office/drawing/2014/main" id="{61D56B3E-5132-DCCE-5C64-363BC8DAE2FD}"/>
              </a:ext>
            </a:extLst>
          </p:cNvPr>
          <p:cNvSpPr txBox="1">
            <a:spLocks/>
          </p:cNvSpPr>
          <p:nvPr>
            <p:custDataLst>
              <p:tags r:id="rId2"/>
            </p:custDataLst>
          </p:nvPr>
        </p:nvSpPr>
        <p:spPr>
          <a:xfrm>
            <a:off x="609600" y="3784349"/>
            <a:ext cx="5162550" cy="2075582"/>
          </a:xfrm>
          <a:prstGeom prst="rect">
            <a:avLst/>
          </a:prstGeom>
        </p:spPr>
        <p:txBody>
          <a:bodyPr/>
          <a:lstStyle>
            <a:lvl1pPr marL="342900" indent="-3429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fontAlgn="auto">
              <a:buNone/>
            </a:pPr>
            <a:endParaRPr lang="en-US" b="0" dirty="0"/>
          </a:p>
        </p:txBody>
      </p:sp>
      <p:sp>
        <p:nvSpPr>
          <p:cNvPr id="9" name="TextBox 8">
            <a:extLst>
              <a:ext uri="{FF2B5EF4-FFF2-40B4-BE49-F238E27FC236}">
                <a16:creationId xmlns:a16="http://schemas.microsoft.com/office/drawing/2014/main" id="{1C068C61-F05B-0A17-1225-7F75B84D018D}"/>
              </a:ext>
            </a:extLst>
          </p:cNvPr>
          <p:cNvSpPr txBox="1"/>
          <p:nvPr/>
        </p:nvSpPr>
        <p:spPr>
          <a:xfrm>
            <a:off x="609599" y="1265231"/>
            <a:ext cx="7263539" cy="461665"/>
          </a:xfrm>
          <a:prstGeom prst="rect">
            <a:avLst/>
          </a:prstGeom>
          <a:noFill/>
        </p:spPr>
        <p:txBody>
          <a:bodyPr wrap="square" anchor="ctr">
            <a:spAutoFit/>
          </a:bodyPr>
          <a:lstStyle/>
          <a:p>
            <a:pPr marL="342900" indent="-342900" algn="l">
              <a:buFont typeface="Arial" panose="020B0604020202020204" pitchFamily="34" charset="0"/>
              <a:buChar char="•"/>
            </a:pPr>
            <a:r>
              <a:rPr lang="en-US" b="0" dirty="0">
                <a:solidFill>
                  <a:srgbClr val="003057"/>
                </a:solidFill>
                <a:latin typeface="Arial" panose="020B0604020202020204" pitchFamily="34" charset="0"/>
                <a:cs typeface="Arial" panose="020B0604020202020204" pitchFamily="34" charset="0"/>
              </a:rPr>
              <a:t>Decision Tree: balanced accuracy=0.63 &gt; 0.45</a:t>
            </a:r>
          </a:p>
        </p:txBody>
      </p:sp>
      <p:pic>
        <p:nvPicPr>
          <p:cNvPr id="3" name="Picture 2">
            <a:extLst>
              <a:ext uri="{FF2B5EF4-FFF2-40B4-BE49-F238E27FC236}">
                <a16:creationId xmlns:a16="http://schemas.microsoft.com/office/drawing/2014/main" id="{6E2E45A9-AFC6-7599-02BF-1E8636DC26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65566" y="1651191"/>
            <a:ext cx="5624210" cy="4834848"/>
          </a:xfrm>
          <a:prstGeom prst="rect">
            <a:avLst/>
          </a:prstGeom>
        </p:spPr>
      </p:pic>
      <p:pic>
        <p:nvPicPr>
          <p:cNvPr id="4" name="Picture 3" descr="A blue squares with white text&#10;&#10;AI-generated content may be incorrect.">
            <a:extLst>
              <a:ext uri="{FF2B5EF4-FFF2-40B4-BE49-F238E27FC236}">
                <a16:creationId xmlns:a16="http://schemas.microsoft.com/office/drawing/2014/main" id="{976F3186-5DF0-F3D8-E231-5E9F9E1FF85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336" y="1833692"/>
            <a:ext cx="5488230" cy="4652347"/>
          </a:xfrm>
          <a:prstGeom prst="rect">
            <a:avLst/>
          </a:prstGeom>
        </p:spPr>
      </p:pic>
    </p:spTree>
    <p:extLst>
      <p:ext uri="{BB962C8B-B14F-4D97-AF65-F5344CB8AC3E}">
        <p14:creationId xmlns:p14="http://schemas.microsoft.com/office/powerpoint/2010/main" val="2884421100"/>
      </p:ext>
    </p:extLst>
  </p:cSld>
  <p:clrMapOvr>
    <a:masterClrMapping/>
  </p:clrMapOvr>
  <mc:AlternateContent xmlns:mc="http://schemas.openxmlformats.org/markup-compatibility/2006" xmlns:p14="http://schemas.microsoft.com/office/powerpoint/2010/main">
    <mc:Choice Requires="p14">
      <p:transition spd="slow" p14:dur="2000" advClick="0" advTm="24201"/>
    </mc:Choice>
    <mc:Fallback xmlns="">
      <p:transition spd="slow" advClick="0" advTm="2420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D9451-604C-047A-2AB1-7A7C1F7B6D4B}"/>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8A7DF7F4-D390-B32C-14C4-8EC32FF19591}"/>
              </a:ext>
            </a:extLst>
          </p:cNvPr>
          <p:cNvSpPr>
            <a:spLocks noGrp="1"/>
          </p:cNvSpPr>
          <p:nvPr>
            <p:ph type="title"/>
            <p:custDataLst>
              <p:tags r:id="rId1"/>
            </p:custDataLst>
          </p:nvPr>
        </p:nvSpPr>
        <p:spPr>
          <a:xfrm>
            <a:off x="609600" y="214989"/>
            <a:ext cx="10972800" cy="667585"/>
          </a:xfrm>
        </p:spPr>
        <p:txBody>
          <a:bodyPr>
            <a:normAutofit/>
          </a:bodyPr>
          <a:lstStyle/>
          <a:p>
            <a:r>
              <a:rPr lang="en-US" dirty="0">
                <a:latin typeface="Arial" panose="020B0604020202020204" pitchFamily="34" charset="0"/>
                <a:cs typeface="Arial" panose="020B0604020202020204" pitchFamily="34" charset="0"/>
              </a:rPr>
              <a:t>Improved Model</a:t>
            </a:r>
            <a:endParaRPr lang="en-US" dirty="0"/>
          </a:p>
        </p:txBody>
      </p:sp>
      <p:sp>
        <p:nvSpPr>
          <p:cNvPr id="11" name="Content Placeholder 2">
            <a:extLst>
              <a:ext uri="{FF2B5EF4-FFF2-40B4-BE49-F238E27FC236}">
                <a16:creationId xmlns:a16="http://schemas.microsoft.com/office/drawing/2014/main" id="{A0A7F080-0E31-D701-6162-D52F4CF01D3D}"/>
              </a:ext>
            </a:extLst>
          </p:cNvPr>
          <p:cNvSpPr txBox="1">
            <a:spLocks/>
          </p:cNvSpPr>
          <p:nvPr>
            <p:custDataLst>
              <p:tags r:id="rId2"/>
            </p:custDataLst>
          </p:nvPr>
        </p:nvSpPr>
        <p:spPr>
          <a:xfrm>
            <a:off x="609600" y="3784349"/>
            <a:ext cx="5162550" cy="2075582"/>
          </a:xfrm>
          <a:prstGeom prst="rect">
            <a:avLst/>
          </a:prstGeom>
        </p:spPr>
        <p:txBody>
          <a:bodyPr/>
          <a:lstStyle>
            <a:lvl1pPr marL="342900" indent="-3429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fontAlgn="auto">
              <a:buNone/>
            </a:pPr>
            <a:endParaRPr lang="en-US" b="0" dirty="0"/>
          </a:p>
        </p:txBody>
      </p:sp>
      <p:sp>
        <p:nvSpPr>
          <p:cNvPr id="9" name="TextBox 8">
            <a:extLst>
              <a:ext uri="{FF2B5EF4-FFF2-40B4-BE49-F238E27FC236}">
                <a16:creationId xmlns:a16="http://schemas.microsoft.com/office/drawing/2014/main" id="{7804F7F3-69E7-BB19-5181-6BFFEA51C432}"/>
              </a:ext>
            </a:extLst>
          </p:cNvPr>
          <p:cNvSpPr txBox="1"/>
          <p:nvPr/>
        </p:nvSpPr>
        <p:spPr>
          <a:xfrm>
            <a:off x="609599" y="1265231"/>
            <a:ext cx="7263539" cy="461665"/>
          </a:xfrm>
          <a:prstGeom prst="rect">
            <a:avLst/>
          </a:prstGeom>
          <a:noFill/>
        </p:spPr>
        <p:txBody>
          <a:bodyPr wrap="square" anchor="ctr">
            <a:spAutoFit/>
          </a:bodyPr>
          <a:lstStyle/>
          <a:p>
            <a:pPr marL="342900" indent="-342900" algn="l">
              <a:buFont typeface="Arial" panose="020B0604020202020204" pitchFamily="34" charset="0"/>
              <a:buChar char="•"/>
            </a:pPr>
            <a:r>
              <a:rPr lang="en-US" b="0" dirty="0">
                <a:solidFill>
                  <a:srgbClr val="003057"/>
                </a:solidFill>
                <a:latin typeface="Arial" panose="020B0604020202020204" pitchFamily="34" charset="0"/>
                <a:cs typeface="Arial" panose="020B0604020202020204" pitchFamily="34" charset="0"/>
              </a:rPr>
              <a:t>Random Forest: balanced accuracy=0.7 &gt; 0.45</a:t>
            </a:r>
          </a:p>
        </p:txBody>
      </p:sp>
      <p:pic>
        <p:nvPicPr>
          <p:cNvPr id="4" name="Picture 3" descr="A blue squares with white text&#10;&#10;AI-generated content may be incorrect.">
            <a:extLst>
              <a:ext uri="{FF2B5EF4-FFF2-40B4-BE49-F238E27FC236}">
                <a16:creationId xmlns:a16="http://schemas.microsoft.com/office/drawing/2014/main" id="{9EC578FB-5B31-3D84-15A0-6F0A285482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336" y="1833692"/>
            <a:ext cx="5488230" cy="4652347"/>
          </a:xfrm>
          <a:prstGeom prst="rect">
            <a:avLst/>
          </a:prstGeom>
        </p:spPr>
      </p:pic>
      <p:pic>
        <p:nvPicPr>
          <p:cNvPr id="5" name="Picture 4" descr="A blue squares with white text&#10;&#10;AI-generated content may be incorrect.">
            <a:extLst>
              <a:ext uri="{FF2B5EF4-FFF2-40B4-BE49-F238E27FC236}">
                <a16:creationId xmlns:a16="http://schemas.microsoft.com/office/drawing/2014/main" id="{9FA7BF4A-31CB-AD6C-3DDA-657CE85C322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65565" y="1726895"/>
            <a:ext cx="5423209" cy="4759143"/>
          </a:xfrm>
          <a:prstGeom prst="rect">
            <a:avLst/>
          </a:prstGeom>
        </p:spPr>
      </p:pic>
    </p:spTree>
    <p:extLst>
      <p:ext uri="{BB962C8B-B14F-4D97-AF65-F5344CB8AC3E}">
        <p14:creationId xmlns:p14="http://schemas.microsoft.com/office/powerpoint/2010/main" val="2615020426"/>
      </p:ext>
    </p:extLst>
  </p:cSld>
  <p:clrMapOvr>
    <a:masterClrMapping/>
  </p:clrMapOvr>
  <mc:AlternateContent xmlns:mc="http://schemas.openxmlformats.org/markup-compatibility/2006" xmlns:p14="http://schemas.microsoft.com/office/powerpoint/2010/main">
    <mc:Choice Requires="p14">
      <p:transition spd="slow" p14:dur="2000" advClick="0" advTm="24201"/>
    </mc:Choice>
    <mc:Fallback xmlns="">
      <p:transition spd="slow" advClick="0" advTm="2420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C1290-7F1E-D785-72E0-33E2EDA313EE}"/>
              </a:ext>
            </a:extLst>
          </p:cNvPr>
          <p:cNvSpPr>
            <a:spLocks noGrp="1"/>
          </p:cNvSpPr>
          <p:nvPr>
            <p:ph type="title"/>
          </p:nvPr>
        </p:nvSpPr>
        <p:spPr/>
        <p:txBody>
          <a:bodyPr/>
          <a:lstStyle/>
          <a:p>
            <a:r>
              <a:rPr lang="en-US" dirty="0"/>
              <a:t>Neural Network?</a:t>
            </a:r>
          </a:p>
        </p:txBody>
      </p:sp>
      <p:sp>
        <p:nvSpPr>
          <p:cNvPr id="6" name="Rectangle 1">
            <a:extLst>
              <a:ext uri="{FF2B5EF4-FFF2-40B4-BE49-F238E27FC236}">
                <a16:creationId xmlns:a16="http://schemas.microsoft.com/office/drawing/2014/main" id="{EC1EF18A-DB59-63C0-6E44-1422DD641B71}"/>
              </a:ext>
            </a:extLst>
          </p:cNvPr>
          <p:cNvSpPr>
            <a:spLocks noChangeArrowheads="1"/>
          </p:cNvSpPr>
          <p:nvPr/>
        </p:nvSpPr>
        <p:spPr bwMode="auto">
          <a:xfrm>
            <a:off x="609600" y="1404116"/>
            <a:ext cx="26834068"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3057"/>
                </a:solidFill>
                <a:effectLst/>
                <a:latin typeface="Arial" panose="020B0604020202020204" pitchFamily="34" charset="0"/>
              </a:rPr>
              <a:t>Input layer: matches the number of features.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rgbClr val="003057"/>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3057"/>
                </a:solidFill>
                <a:effectLst/>
                <a:latin typeface="Arial" panose="020B0604020202020204" pitchFamily="34" charset="0"/>
              </a:rPr>
              <a:t>Hidden Layer 1:</a:t>
            </a:r>
          </a:p>
          <a:p>
            <a:pPr lvl="1" algn="l">
              <a:buFontTx/>
              <a:buChar char="•"/>
            </a:pPr>
            <a:r>
              <a:rPr kumimoji="0" lang="en-US" altLang="en-US" b="0" i="0" u="none" strike="noStrike" cap="none" normalizeH="0" baseline="0" dirty="0">
                <a:ln>
                  <a:noFill/>
                </a:ln>
                <a:solidFill>
                  <a:srgbClr val="857437"/>
                </a:solidFill>
                <a:effectLst/>
                <a:latin typeface="Arial" panose="020B0604020202020204" pitchFamily="34" charset="0"/>
              </a:rPr>
              <a:t>128 neurons, </a:t>
            </a:r>
            <a:r>
              <a:rPr kumimoji="0" lang="en-US" altLang="en-US" b="0" i="0" u="none" strike="noStrike" cap="none" normalizeH="0" baseline="0" dirty="0" err="1">
                <a:ln>
                  <a:noFill/>
                </a:ln>
                <a:solidFill>
                  <a:srgbClr val="857437"/>
                </a:solidFill>
                <a:effectLst/>
                <a:latin typeface="Arial" panose="020B0604020202020204" pitchFamily="34" charset="0"/>
              </a:rPr>
              <a:t>ReLU</a:t>
            </a:r>
            <a:r>
              <a:rPr kumimoji="0" lang="en-US" altLang="en-US" b="0" i="0" u="none" strike="noStrike" cap="none" normalizeH="0" baseline="0" dirty="0">
                <a:ln>
                  <a:noFill/>
                </a:ln>
                <a:solidFill>
                  <a:srgbClr val="857437"/>
                </a:solidFill>
                <a:effectLst/>
                <a:latin typeface="Arial" panose="020B0604020202020204" pitchFamily="34" charset="0"/>
              </a:rPr>
              <a:t> activation</a:t>
            </a:r>
          </a:p>
          <a:p>
            <a:pPr lvl="1" algn="l">
              <a:buFontTx/>
              <a:buChar char="•"/>
            </a:pPr>
            <a:r>
              <a:rPr kumimoji="0" lang="en-US" altLang="en-US" b="0" i="0" u="none" strike="noStrike" cap="none" normalizeH="0" baseline="0" dirty="0">
                <a:ln>
                  <a:noFill/>
                </a:ln>
                <a:solidFill>
                  <a:srgbClr val="857437"/>
                </a:solidFill>
                <a:effectLst/>
                <a:latin typeface="Arial" panose="020B0604020202020204" pitchFamily="34" charset="0"/>
              </a:rPr>
              <a:t>Batch Normalization</a:t>
            </a:r>
          </a:p>
          <a:p>
            <a:pPr lvl="1" algn="l">
              <a:buFontTx/>
              <a:buChar char="•"/>
            </a:pPr>
            <a:r>
              <a:rPr kumimoji="0" lang="en-US" altLang="en-US" b="0" i="0" u="none" strike="noStrike" cap="none" normalizeH="0" baseline="0" dirty="0">
                <a:ln>
                  <a:noFill/>
                </a:ln>
                <a:solidFill>
                  <a:srgbClr val="857437"/>
                </a:solidFill>
                <a:effectLst/>
                <a:latin typeface="Arial" panose="020B0604020202020204" pitchFamily="34" charset="0"/>
              </a:rPr>
              <a:t>30% Dropout for regularization</a:t>
            </a:r>
          </a:p>
          <a:p>
            <a:pPr lvl="1" algn="l">
              <a:buFontTx/>
              <a:buChar char="•"/>
            </a:pPr>
            <a:endParaRPr kumimoji="0" lang="en-US" altLang="en-US" b="0" i="0" u="none" strike="noStrike" cap="none" normalizeH="0" baseline="0" dirty="0">
              <a:ln>
                <a:noFill/>
              </a:ln>
              <a:solidFill>
                <a:srgbClr val="857437"/>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3057"/>
                </a:solidFill>
                <a:effectLst/>
                <a:latin typeface="Arial" panose="020B0604020202020204" pitchFamily="34" charset="0"/>
              </a:rPr>
              <a:t>Hidden Layer 2:</a:t>
            </a:r>
          </a:p>
          <a:p>
            <a:pPr lvl="1" algn="l">
              <a:buFontTx/>
              <a:buChar char="•"/>
            </a:pPr>
            <a:r>
              <a:rPr kumimoji="0" lang="en-US" altLang="en-US" b="0" i="0" u="none" strike="noStrike" cap="none" normalizeH="0" baseline="0" dirty="0">
                <a:ln>
                  <a:noFill/>
                </a:ln>
                <a:solidFill>
                  <a:srgbClr val="857437"/>
                </a:solidFill>
                <a:effectLst/>
                <a:latin typeface="Arial" panose="020B0604020202020204" pitchFamily="34" charset="0"/>
              </a:rPr>
              <a:t>64 neurons, </a:t>
            </a:r>
            <a:r>
              <a:rPr kumimoji="0" lang="en-US" altLang="en-US" b="0" i="0" u="none" strike="noStrike" cap="none" normalizeH="0" baseline="0" dirty="0" err="1">
                <a:ln>
                  <a:noFill/>
                </a:ln>
                <a:solidFill>
                  <a:srgbClr val="857437"/>
                </a:solidFill>
                <a:effectLst/>
                <a:latin typeface="Arial" panose="020B0604020202020204" pitchFamily="34" charset="0"/>
              </a:rPr>
              <a:t>ReLU</a:t>
            </a:r>
            <a:r>
              <a:rPr kumimoji="0" lang="en-US" altLang="en-US" b="0" i="0" u="none" strike="noStrike" cap="none" normalizeH="0" baseline="0" dirty="0">
                <a:ln>
                  <a:noFill/>
                </a:ln>
                <a:solidFill>
                  <a:srgbClr val="857437"/>
                </a:solidFill>
                <a:effectLst/>
                <a:latin typeface="Arial" panose="020B0604020202020204" pitchFamily="34" charset="0"/>
              </a:rPr>
              <a:t> activation</a:t>
            </a:r>
          </a:p>
          <a:p>
            <a:pPr lvl="1" algn="l">
              <a:buFontTx/>
              <a:buChar char="•"/>
            </a:pPr>
            <a:r>
              <a:rPr kumimoji="0" lang="en-US" altLang="en-US" b="0" i="0" u="none" strike="noStrike" cap="none" normalizeH="0" baseline="0" dirty="0">
                <a:ln>
                  <a:noFill/>
                </a:ln>
                <a:solidFill>
                  <a:srgbClr val="857437"/>
                </a:solidFill>
                <a:effectLst/>
                <a:latin typeface="Arial" panose="020B0604020202020204" pitchFamily="34" charset="0"/>
              </a:rPr>
              <a:t>Batch Normalization</a:t>
            </a:r>
          </a:p>
          <a:p>
            <a:pPr lvl="1" algn="l">
              <a:buFontTx/>
              <a:buChar char="•"/>
            </a:pPr>
            <a:r>
              <a:rPr kumimoji="0" lang="en-US" altLang="en-US" b="0" i="0" u="none" strike="noStrike" cap="none" normalizeH="0" baseline="0" dirty="0">
                <a:ln>
                  <a:noFill/>
                </a:ln>
                <a:solidFill>
                  <a:srgbClr val="857437"/>
                </a:solidFill>
                <a:effectLst/>
                <a:latin typeface="Arial" panose="020B0604020202020204" pitchFamily="34" charset="0"/>
              </a:rPr>
              <a:t>20% Dropout </a:t>
            </a:r>
            <a:r>
              <a:rPr lang="en-US" altLang="en-US" b="0" dirty="0">
                <a:solidFill>
                  <a:srgbClr val="857437"/>
                </a:solidFill>
                <a:latin typeface="Arial" panose="020B0604020202020204" pitchFamily="34" charset="0"/>
              </a:rPr>
              <a:t>for regularization</a:t>
            </a:r>
            <a:endParaRPr kumimoji="0" lang="en-US" altLang="en-US" b="0" i="0" u="none" strike="noStrike" cap="none" normalizeH="0" baseline="0" dirty="0">
              <a:ln>
                <a:noFill/>
              </a:ln>
              <a:solidFill>
                <a:srgbClr val="857437"/>
              </a:solidFill>
              <a:effectLst/>
              <a:latin typeface="Arial" panose="020B0604020202020204" pitchFamily="34" charset="0"/>
            </a:endParaRPr>
          </a:p>
          <a:p>
            <a:pPr lvl="1" algn="l">
              <a:buFontTx/>
              <a:buChar char="•"/>
            </a:pPr>
            <a:endParaRPr kumimoji="0" lang="en-US" altLang="en-US" b="0" i="0" u="none" strike="noStrike" cap="none" normalizeH="0" baseline="0" dirty="0">
              <a:ln>
                <a:noFill/>
              </a:ln>
              <a:solidFill>
                <a:srgbClr val="857437"/>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03057"/>
                </a:solidFill>
                <a:effectLst/>
                <a:latin typeface="Arial" panose="020B0604020202020204" pitchFamily="34" charset="0"/>
              </a:rPr>
              <a:t>Output layer: 3 neurons, </a:t>
            </a:r>
            <a:r>
              <a:rPr kumimoji="0" lang="en-US" altLang="en-US" b="0" i="0" u="none" strike="noStrike" cap="none" normalizeH="0" baseline="0" dirty="0" err="1">
                <a:ln>
                  <a:noFill/>
                </a:ln>
                <a:solidFill>
                  <a:srgbClr val="003057"/>
                </a:solidFill>
                <a:effectLst/>
                <a:latin typeface="Arial" panose="020B0604020202020204" pitchFamily="34" charset="0"/>
              </a:rPr>
              <a:t>Softmax</a:t>
            </a:r>
            <a:r>
              <a:rPr kumimoji="0" lang="en-US" altLang="en-US" b="0" i="0" u="none" strike="noStrike" cap="none" normalizeH="0" baseline="0" dirty="0">
                <a:ln>
                  <a:noFill/>
                </a:ln>
                <a:solidFill>
                  <a:srgbClr val="003057"/>
                </a:solidFill>
                <a:effectLst/>
                <a:latin typeface="Arial" panose="020B0604020202020204" pitchFamily="34" charset="0"/>
              </a:rPr>
              <a:t> activation (probabilities for each class)</a:t>
            </a:r>
          </a:p>
        </p:txBody>
      </p:sp>
    </p:spTree>
    <p:extLst>
      <p:ext uri="{BB962C8B-B14F-4D97-AF65-F5344CB8AC3E}">
        <p14:creationId xmlns:p14="http://schemas.microsoft.com/office/powerpoint/2010/main" val="196022516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41FEB-9BCB-3180-701A-A04EB01F2E2C}"/>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317C2BE6-13E4-1F43-B11E-1C1538E7DBE9}"/>
              </a:ext>
            </a:extLst>
          </p:cNvPr>
          <p:cNvSpPr>
            <a:spLocks noGrp="1"/>
          </p:cNvSpPr>
          <p:nvPr>
            <p:ph type="title"/>
            <p:custDataLst>
              <p:tags r:id="rId1"/>
            </p:custDataLst>
          </p:nvPr>
        </p:nvSpPr>
        <p:spPr>
          <a:xfrm>
            <a:off x="609600" y="214989"/>
            <a:ext cx="10972800" cy="667585"/>
          </a:xfrm>
        </p:spPr>
        <p:txBody>
          <a:bodyPr>
            <a:normAutofit/>
          </a:bodyPr>
          <a:lstStyle/>
          <a:p>
            <a:r>
              <a:rPr lang="en-US" dirty="0">
                <a:latin typeface="Arial" panose="020B0604020202020204" pitchFamily="34" charset="0"/>
                <a:cs typeface="Arial" panose="020B0604020202020204" pitchFamily="34" charset="0"/>
              </a:rPr>
              <a:t>Improved Model</a:t>
            </a:r>
            <a:endParaRPr lang="en-US" dirty="0"/>
          </a:p>
        </p:txBody>
      </p:sp>
      <p:sp>
        <p:nvSpPr>
          <p:cNvPr id="11" name="Content Placeholder 2">
            <a:extLst>
              <a:ext uri="{FF2B5EF4-FFF2-40B4-BE49-F238E27FC236}">
                <a16:creationId xmlns:a16="http://schemas.microsoft.com/office/drawing/2014/main" id="{851D65A8-55CE-C32E-6800-447DD62DC53D}"/>
              </a:ext>
            </a:extLst>
          </p:cNvPr>
          <p:cNvSpPr txBox="1">
            <a:spLocks/>
          </p:cNvSpPr>
          <p:nvPr>
            <p:custDataLst>
              <p:tags r:id="rId2"/>
            </p:custDataLst>
          </p:nvPr>
        </p:nvSpPr>
        <p:spPr>
          <a:xfrm>
            <a:off x="609600" y="3784349"/>
            <a:ext cx="5162550" cy="2075582"/>
          </a:xfrm>
          <a:prstGeom prst="rect">
            <a:avLst/>
          </a:prstGeom>
        </p:spPr>
        <p:txBody>
          <a:bodyPr/>
          <a:lstStyle>
            <a:lvl1pPr marL="342900" indent="-3429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ts val="0"/>
              </a:spcBef>
              <a:spcAft>
                <a:spcPts val="12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fontAlgn="auto">
              <a:buNone/>
            </a:pPr>
            <a:endParaRPr lang="en-US" b="0" dirty="0"/>
          </a:p>
        </p:txBody>
      </p:sp>
      <p:sp>
        <p:nvSpPr>
          <p:cNvPr id="9" name="TextBox 8">
            <a:extLst>
              <a:ext uri="{FF2B5EF4-FFF2-40B4-BE49-F238E27FC236}">
                <a16:creationId xmlns:a16="http://schemas.microsoft.com/office/drawing/2014/main" id="{A8852314-59F3-0350-DA02-CA2ED9AC8B4D}"/>
              </a:ext>
            </a:extLst>
          </p:cNvPr>
          <p:cNvSpPr txBox="1"/>
          <p:nvPr/>
        </p:nvSpPr>
        <p:spPr>
          <a:xfrm>
            <a:off x="609599" y="1265231"/>
            <a:ext cx="7263539" cy="461665"/>
          </a:xfrm>
          <a:prstGeom prst="rect">
            <a:avLst/>
          </a:prstGeom>
          <a:noFill/>
        </p:spPr>
        <p:txBody>
          <a:bodyPr wrap="square" anchor="ctr">
            <a:spAutoFit/>
          </a:bodyPr>
          <a:lstStyle/>
          <a:p>
            <a:pPr marL="342900" indent="-342900" algn="l">
              <a:buFont typeface="Arial" panose="020B0604020202020204" pitchFamily="34" charset="0"/>
              <a:buChar char="•"/>
            </a:pPr>
            <a:r>
              <a:rPr lang="en-US" b="0" dirty="0">
                <a:solidFill>
                  <a:srgbClr val="003057"/>
                </a:solidFill>
                <a:latin typeface="Arial" panose="020B0604020202020204" pitchFamily="34" charset="0"/>
                <a:cs typeface="Arial" panose="020B0604020202020204" pitchFamily="34" charset="0"/>
              </a:rPr>
              <a:t>Neural Network: balanced accuracy=0.61 &gt; 0.45</a:t>
            </a:r>
          </a:p>
        </p:txBody>
      </p:sp>
      <p:pic>
        <p:nvPicPr>
          <p:cNvPr id="4" name="Picture 3" descr="A blue squares with white text&#10;&#10;AI-generated content may be incorrect.">
            <a:extLst>
              <a:ext uri="{FF2B5EF4-FFF2-40B4-BE49-F238E27FC236}">
                <a16:creationId xmlns:a16="http://schemas.microsoft.com/office/drawing/2014/main" id="{E8637873-AC0F-E822-B78A-032732192D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336" y="1833692"/>
            <a:ext cx="5488230" cy="4652347"/>
          </a:xfrm>
          <a:prstGeom prst="rect">
            <a:avLst/>
          </a:prstGeom>
        </p:spPr>
      </p:pic>
      <p:pic>
        <p:nvPicPr>
          <p:cNvPr id="3" name="Picture 2" descr="A blue squares with white text&#10;&#10;AI-generated content may be incorrect.">
            <a:extLst>
              <a:ext uri="{FF2B5EF4-FFF2-40B4-BE49-F238E27FC236}">
                <a16:creationId xmlns:a16="http://schemas.microsoft.com/office/drawing/2014/main" id="{BEAFB005-D0BD-44B7-6546-E0C4F252CB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72150" y="1797492"/>
            <a:ext cx="5488230" cy="4724746"/>
          </a:xfrm>
          <a:prstGeom prst="rect">
            <a:avLst/>
          </a:prstGeom>
        </p:spPr>
      </p:pic>
    </p:spTree>
    <p:extLst>
      <p:ext uri="{BB962C8B-B14F-4D97-AF65-F5344CB8AC3E}">
        <p14:creationId xmlns:p14="http://schemas.microsoft.com/office/powerpoint/2010/main" val="2759114535"/>
      </p:ext>
    </p:extLst>
  </p:cSld>
  <p:clrMapOvr>
    <a:masterClrMapping/>
  </p:clrMapOvr>
  <mc:AlternateContent xmlns:mc="http://schemas.openxmlformats.org/markup-compatibility/2006" xmlns:p14="http://schemas.microsoft.com/office/powerpoint/2010/main">
    <mc:Choice Requires="p14">
      <p:transition spd="slow" p14:dur="2000" advClick="0" advTm="24201"/>
    </mc:Choice>
    <mc:Fallback xmlns="">
      <p:transition spd="slow" advClick="0" advTm="2420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DE5A3-19CD-8FF7-1903-CAE666AD46E3}"/>
              </a:ext>
            </a:extLst>
          </p:cNvPr>
          <p:cNvSpPr>
            <a:spLocks noGrp="1"/>
          </p:cNvSpPr>
          <p:nvPr>
            <p:ph type="title"/>
          </p:nvPr>
        </p:nvSpPr>
        <p:spPr/>
        <p:txBody>
          <a:bodyPr/>
          <a:lstStyle/>
          <a:p>
            <a:r>
              <a:rPr lang="en-US" dirty="0"/>
              <a:t>Feature Reduction</a:t>
            </a:r>
          </a:p>
        </p:txBody>
      </p:sp>
      <p:sp>
        <p:nvSpPr>
          <p:cNvPr id="5" name="Rectangle 1">
            <a:extLst>
              <a:ext uri="{FF2B5EF4-FFF2-40B4-BE49-F238E27FC236}">
                <a16:creationId xmlns:a16="http://schemas.microsoft.com/office/drawing/2014/main" id="{DF8E3335-E3D0-1481-7394-0BC4A63A9D61}"/>
              </a:ext>
            </a:extLst>
          </p:cNvPr>
          <p:cNvSpPr>
            <a:spLocks noGrp="1" noChangeArrowheads="1"/>
          </p:cNvSpPr>
          <p:nvPr>
            <p:ph sz="quarter" idx="12"/>
          </p:nvPr>
        </p:nvSpPr>
        <p:spPr bwMode="auto">
          <a:xfrm>
            <a:off x="609600" y="1520420"/>
            <a:ext cx="109728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rgbClr val="003057"/>
                </a:solidFill>
                <a:effectLst/>
                <a:latin typeface="Arial" panose="020B0604020202020204" pitchFamily="34" charset="0"/>
              </a:rPr>
              <a:t>Over 200 features</a:t>
            </a:r>
          </a:p>
          <a:p>
            <a:pPr lvl="1" indent="-342900" defTabSz="914400" eaLnBrk="0" fontAlgn="base" hangingPunct="0">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rgbClr val="857437"/>
                </a:solidFill>
                <a:effectLst/>
                <a:latin typeface="Arial" panose="020B0604020202020204" pitchFamily="34" charset="0"/>
              </a:rPr>
              <a:t>Improve interpretability, </a:t>
            </a:r>
            <a:r>
              <a:rPr lang="en-US" altLang="en-US" sz="2400" dirty="0">
                <a:solidFill>
                  <a:srgbClr val="857437"/>
                </a:solidFill>
                <a:latin typeface="Arial" panose="020B0604020202020204" pitchFamily="34" charset="0"/>
              </a:rPr>
              <a:t>robustness, </a:t>
            </a:r>
            <a:r>
              <a:rPr kumimoji="0" lang="en-US" altLang="en-US" sz="2400" i="0" u="none" strike="noStrike" cap="none" normalizeH="0" baseline="0" dirty="0">
                <a:ln>
                  <a:noFill/>
                </a:ln>
                <a:solidFill>
                  <a:srgbClr val="857437"/>
                </a:solidFill>
                <a:effectLst/>
                <a:latin typeface="Arial" panose="020B0604020202020204" pitchFamily="34" charset="0"/>
              </a:rPr>
              <a:t>training efficiency</a:t>
            </a:r>
          </a:p>
          <a:p>
            <a:pPr defTabSz="914400" eaLnBrk="0" fontAlgn="base" hangingPunct="0">
              <a:spcBef>
                <a:spcPct val="0"/>
              </a:spcBef>
              <a:spcAft>
                <a:spcPct val="0"/>
              </a:spcAft>
              <a:buFont typeface="Arial" panose="020B0604020202020204" pitchFamily="34" charset="0"/>
              <a:buChar char="•"/>
            </a:pPr>
            <a:r>
              <a:rPr lang="en-US" sz="2400" dirty="0">
                <a:solidFill>
                  <a:srgbClr val="003057"/>
                </a:solidFill>
              </a:rPr>
              <a:t>Permutation Importance </a:t>
            </a:r>
          </a:p>
          <a:p>
            <a:pPr lvl="1" indent="-342900" defTabSz="914400" eaLnBrk="0" fontAlgn="base" hangingPunct="0">
              <a:spcBef>
                <a:spcPct val="0"/>
              </a:spcBef>
              <a:spcAft>
                <a:spcPct val="0"/>
              </a:spcAft>
              <a:buFont typeface="Arial" panose="020B0604020202020204" pitchFamily="34" charset="0"/>
              <a:buChar char="•"/>
            </a:pPr>
            <a:r>
              <a:rPr lang="en-US" sz="2400" dirty="0">
                <a:solidFill>
                  <a:srgbClr val="857437"/>
                </a:solidFill>
              </a:rPr>
              <a:t>Rank features by how much model accuracy drops when each feature is randomly shuffled</a:t>
            </a:r>
          </a:p>
          <a:p>
            <a:pPr defTabSz="914400" eaLnBrk="0" fontAlgn="base" hangingPunct="0">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rgbClr val="003057"/>
                </a:solidFill>
                <a:effectLst/>
                <a:latin typeface="Arial" panose="020B0604020202020204" pitchFamily="34" charset="0"/>
              </a:rPr>
              <a:t>Select top 10 features including</a:t>
            </a:r>
          </a:p>
          <a:p>
            <a:pPr lvl="1" indent="-342900" defTabSz="914400" eaLnBrk="0" fontAlgn="base" hangingPunct="0">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rgbClr val="857437"/>
                </a:solidFill>
                <a:effectLst/>
                <a:latin typeface="Arial" panose="020B0604020202020204" pitchFamily="34" charset="0"/>
              </a:rPr>
              <a:t>Quantity Released (most important)</a:t>
            </a:r>
          </a:p>
          <a:p>
            <a:pPr lvl="1" indent="-342900" defTabSz="914400" eaLnBrk="0" fontAlgn="base" hangingPunct="0">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rgbClr val="857437"/>
                </a:solidFill>
                <a:effectLst/>
                <a:latin typeface="Arial" panose="020B0604020202020204" pitchFamily="34" charset="0"/>
              </a:rPr>
              <a:t>Estimated Speed</a:t>
            </a:r>
          </a:p>
          <a:p>
            <a:pPr lvl="1" indent="-342900" defTabSz="914400" eaLnBrk="0" fontAlgn="base" hangingPunct="0">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rgbClr val="857437"/>
                </a:solidFill>
                <a:effectLst/>
                <a:latin typeface="Arial" panose="020B0604020202020204" pitchFamily="34" charset="0"/>
              </a:rPr>
              <a:t>Vehicle Overturn (Yes)….</a:t>
            </a:r>
          </a:p>
          <a:p>
            <a:pPr defTabSz="914400" eaLnBrk="0" fontAlgn="base" hangingPunct="0">
              <a:spcBef>
                <a:spcPct val="0"/>
              </a:spcBef>
              <a:spcAft>
                <a:spcPct val="0"/>
              </a:spcAft>
              <a:buFont typeface="Arial" panose="020B0604020202020204" pitchFamily="34" charset="0"/>
              <a:buChar char="•"/>
            </a:pPr>
            <a:r>
              <a:rPr lang="en-US" altLang="en-US" sz="2400" dirty="0">
                <a:solidFill>
                  <a:srgbClr val="003057"/>
                </a:solidFill>
                <a:latin typeface="Arial" panose="020B0604020202020204" pitchFamily="34" charset="0"/>
              </a:rPr>
              <a:t>Retrained random forest with top 10 features</a:t>
            </a:r>
          </a:p>
          <a:p>
            <a:pPr lvl="1" indent="-342900" defTabSz="914400" eaLnBrk="0" fontAlgn="base" hangingPunct="0">
              <a:spcBef>
                <a:spcPct val="0"/>
              </a:spcBef>
              <a:spcAft>
                <a:spcPct val="0"/>
              </a:spcAft>
              <a:buFont typeface="Arial" panose="020B0604020202020204" pitchFamily="34" charset="0"/>
              <a:buChar char="•"/>
            </a:pPr>
            <a:r>
              <a:rPr lang="en-US" altLang="en-US" sz="2400" dirty="0">
                <a:solidFill>
                  <a:srgbClr val="857437"/>
                </a:solidFill>
                <a:latin typeface="Arial" panose="020B0604020202020204" pitchFamily="34" charset="0"/>
              </a:rPr>
              <a:t>0.7 -&gt; 0.6 not bad…</a:t>
            </a:r>
            <a:endParaRPr kumimoji="0" lang="en-US" altLang="en-US" sz="2400" i="0" u="none" strike="noStrike" cap="none" normalizeH="0" baseline="0" dirty="0">
              <a:ln>
                <a:noFill/>
              </a:ln>
              <a:solidFill>
                <a:srgbClr val="857437"/>
              </a:solidFill>
              <a:effectLst/>
              <a:latin typeface="Arial" panose="020B0604020202020204" pitchFamily="34" charset="0"/>
            </a:endParaRPr>
          </a:p>
        </p:txBody>
      </p:sp>
    </p:spTree>
    <p:extLst>
      <p:ext uri="{BB962C8B-B14F-4D97-AF65-F5344CB8AC3E}">
        <p14:creationId xmlns:p14="http://schemas.microsoft.com/office/powerpoint/2010/main" val="268943591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AD595-99F4-88EC-C039-0E549567CA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FDB2D9-DAE2-380D-B131-60DADCD24ADF}"/>
              </a:ext>
            </a:extLst>
          </p:cNvPr>
          <p:cNvSpPr>
            <a:spLocks noGrp="1"/>
          </p:cNvSpPr>
          <p:nvPr>
            <p:ph type="title"/>
          </p:nvPr>
        </p:nvSpPr>
        <p:spPr/>
        <p:txBody>
          <a:bodyPr/>
          <a:lstStyle/>
          <a:p>
            <a:r>
              <a:rPr lang="en-US" dirty="0"/>
              <a:t>Conclusion</a:t>
            </a:r>
          </a:p>
        </p:txBody>
      </p:sp>
      <p:sp>
        <p:nvSpPr>
          <p:cNvPr id="5" name="Rectangle 1">
            <a:extLst>
              <a:ext uri="{FF2B5EF4-FFF2-40B4-BE49-F238E27FC236}">
                <a16:creationId xmlns:a16="http://schemas.microsoft.com/office/drawing/2014/main" id="{6757F67C-A7C3-5364-B7EB-F0A949737E54}"/>
              </a:ext>
            </a:extLst>
          </p:cNvPr>
          <p:cNvSpPr>
            <a:spLocks noGrp="1" noChangeArrowheads="1"/>
          </p:cNvSpPr>
          <p:nvPr>
            <p:ph sz="quarter" idx="12"/>
          </p:nvPr>
        </p:nvSpPr>
        <p:spPr bwMode="auto">
          <a:xfrm>
            <a:off x="609600" y="1240137"/>
            <a:ext cx="109728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rgbClr val="003057"/>
                </a:solidFill>
                <a:effectLst/>
                <a:latin typeface="Arial" panose="020B0604020202020204" pitchFamily="34" charset="0"/>
              </a:rPr>
              <a:t>Overall successful project</a:t>
            </a:r>
          </a:p>
          <a:p>
            <a:pPr lvl="1" indent="-342900" defTabSz="914400" eaLnBrk="0" fontAlgn="base" hangingPunct="0">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rgbClr val="857437"/>
                </a:solidFill>
                <a:effectLst/>
                <a:latin typeface="Arial" panose="020B0604020202020204" pitchFamily="34" charset="0"/>
              </a:rPr>
              <a:t>Change project midway</a:t>
            </a:r>
          </a:p>
          <a:p>
            <a:pPr lvl="1" indent="-342900" defTabSz="914400" eaLnBrk="0" fontAlgn="base" hangingPunct="0">
              <a:spcBef>
                <a:spcPct val="0"/>
              </a:spcBef>
              <a:spcAft>
                <a:spcPct val="0"/>
              </a:spcAft>
              <a:buFont typeface="Arial" panose="020B0604020202020204" pitchFamily="34" charset="0"/>
              <a:buChar char="•"/>
            </a:pPr>
            <a:r>
              <a:rPr lang="en-US" altLang="en-US" sz="2400" dirty="0">
                <a:solidFill>
                  <a:srgbClr val="857437"/>
                </a:solidFill>
                <a:latin typeface="Arial" panose="020B0604020202020204" pitchFamily="34" charset="0"/>
              </a:rPr>
              <a:t>Class imbalance</a:t>
            </a:r>
            <a:endParaRPr kumimoji="0" lang="en-US" altLang="en-US" sz="2400" i="0" u="none" strike="noStrike" cap="none" normalizeH="0" baseline="0" dirty="0">
              <a:ln>
                <a:noFill/>
              </a:ln>
              <a:solidFill>
                <a:srgbClr val="857437"/>
              </a:solidFill>
              <a:effectLst/>
              <a:latin typeface="Arial" panose="020B0604020202020204" pitchFamily="34" charset="0"/>
            </a:endParaRPr>
          </a:p>
          <a:p>
            <a:pPr lvl="1" indent="-342900" defTabSz="914400" eaLnBrk="0" fontAlgn="base" hangingPunct="0">
              <a:spcBef>
                <a:spcPct val="0"/>
              </a:spcBef>
              <a:spcAft>
                <a:spcPct val="0"/>
              </a:spcAft>
              <a:buFont typeface="Arial" panose="020B0604020202020204" pitchFamily="34" charset="0"/>
              <a:buChar char="•"/>
            </a:pPr>
            <a:r>
              <a:rPr lang="en-US" altLang="en-US" sz="2400" dirty="0">
                <a:solidFill>
                  <a:srgbClr val="857437"/>
                </a:solidFill>
                <a:latin typeface="Arial" panose="020B0604020202020204" pitchFamily="34" charset="0"/>
              </a:rPr>
              <a:t>Extensive data cleaning, feature engineering</a:t>
            </a:r>
          </a:p>
          <a:p>
            <a:pPr lvl="1" indent="-342900" defTabSz="914400" eaLnBrk="0" fontAlgn="base" hangingPunct="0">
              <a:spcBef>
                <a:spcPct val="0"/>
              </a:spcBef>
              <a:spcAft>
                <a:spcPct val="0"/>
              </a:spcAft>
              <a:buFont typeface="Arial" panose="020B0604020202020204" pitchFamily="34" charset="0"/>
              <a:buChar char="•"/>
            </a:pPr>
            <a:endParaRPr kumimoji="0" lang="en-US" altLang="en-US" sz="2400" i="0" u="none" strike="noStrike" cap="none" normalizeH="0" baseline="0" dirty="0">
              <a:ln>
                <a:noFill/>
              </a:ln>
              <a:solidFill>
                <a:srgbClr val="857437"/>
              </a:solidFill>
              <a:effectLst/>
              <a:latin typeface="Arial" panose="020B0604020202020204" pitchFamily="34" charset="0"/>
            </a:endParaRPr>
          </a:p>
          <a:p>
            <a:pPr defTabSz="914400" eaLnBrk="0" fontAlgn="base" hangingPunct="0">
              <a:spcBef>
                <a:spcPct val="0"/>
              </a:spcBef>
              <a:spcAft>
                <a:spcPct val="0"/>
              </a:spcAft>
              <a:buFont typeface="Arial" panose="020B0604020202020204" pitchFamily="34" charset="0"/>
              <a:buChar char="•"/>
            </a:pPr>
            <a:r>
              <a:rPr lang="en-US" sz="2400" dirty="0">
                <a:solidFill>
                  <a:srgbClr val="003057"/>
                </a:solidFill>
              </a:rPr>
              <a:t>Lessons learnt</a:t>
            </a:r>
          </a:p>
          <a:p>
            <a:pPr lvl="1" defTabSz="914400" eaLnBrk="0" fontAlgn="base" hangingPunct="0">
              <a:spcBef>
                <a:spcPct val="0"/>
              </a:spcBef>
              <a:spcAft>
                <a:spcPct val="0"/>
              </a:spcAft>
              <a:buFont typeface="Arial" panose="020B0604020202020204" pitchFamily="34" charset="0"/>
              <a:buChar char="•"/>
            </a:pPr>
            <a:r>
              <a:rPr lang="en-US" sz="2400" dirty="0">
                <a:solidFill>
                  <a:srgbClr val="857437"/>
                </a:solidFill>
              </a:rPr>
              <a:t>Proper evaluation metric (</a:t>
            </a:r>
            <a:r>
              <a:rPr lang="en-US" sz="2400" dirty="0" err="1">
                <a:solidFill>
                  <a:srgbClr val="857437"/>
                </a:solidFill>
              </a:rPr>
              <a:t>balanced_accuracy</a:t>
            </a:r>
            <a:r>
              <a:rPr lang="en-US" sz="2400" dirty="0">
                <a:solidFill>
                  <a:srgbClr val="857437"/>
                </a:solidFill>
              </a:rPr>
              <a:t>)</a:t>
            </a:r>
          </a:p>
          <a:p>
            <a:pPr lvl="1" defTabSz="914400" eaLnBrk="0" fontAlgn="base" hangingPunct="0">
              <a:spcBef>
                <a:spcPct val="0"/>
              </a:spcBef>
              <a:spcAft>
                <a:spcPct val="0"/>
              </a:spcAft>
              <a:buFont typeface="Arial" panose="020B0604020202020204" pitchFamily="34" charset="0"/>
              <a:buChar char="•"/>
            </a:pPr>
            <a:r>
              <a:rPr lang="en-US" sz="2400" dirty="0">
                <a:solidFill>
                  <a:srgbClr val="857437"/>
                </a:solidFill>
              </a:rPr>
              <a:t>Tree–based models remain robust for structured tabular data</a:t>
            </a:r>
          </a:p>
          <a:p>
            <a:pPr lvl="1" defTabSz="914400" eaLnBrk="0" fontAlgn="base" hangingPunct="0">
              <a:spcBef>
                <a:spcPct val="0"/>
              </a:spcBef>
              <a:spcAft>
                <a:spcPct val="0"/>
              </a:spcAft>
              <a:buFont typeface="Arial" panose="020B0604020202020204" pitchFamily="34" charset="0"/>
              <a:buChar char="•"/>
            </a:pPr>
            <a:r>
              <a:rPr lang="en-US" sz="2400" dirty="0">
                <a:solidFill>
                  <a:srgbClr val="857437"/>
                </a:solidFill>
              </a:rPr>
              <a:t>Intuition is a good sanity check</a:t>
            </a:r>
          </a:p>
          <a:p>
            <a:pPr lvl="1" defTabSz="914400" eaLnBrk="0" fontAlgn="base" hangingPunct="0">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rgbClr val="857437"/>
                </a:solidFill>
                <a:effectLst/>
                <a:latin typeface="Arial" panose="020B0604020202020204" pitchFamily="34" charset="0"/>
              </a:rPr>
              <a:t>More complex model is not always good</a:t>
            </a:r>
          </a:p>
        </p:txBody>
      </p:sp>
    </p:spTree>
    <p:extLst>
      <p:ext uri="{BB962C8B-B14F-4D97-AF65-F5344CB8AC3E}">
        <p14:creationId xmlns:p14="http://schemas.microsoft.com/office/powerpoint/2010/main" val="15879783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B4651-8737-492A-F216-23E81428AF85}"/>
            </a:ext>
          </a:extLst>
        </p:cNvPr>
        <p:cNvGrpSpPr/>
        <p:nvPr/>
      </p:nvGrpSpPr>
      <p:grpSpPr>
        <a:xfrm>
          <a:off x="0" y="0"/>
          <a:ext cx="0" cy="0"/>
          <a:chOff x="0" y="0"/>
          <a:chExt cx="0" cy="0"/>
        </a:xfrm>
      </p:grpSpPr>
      <p:pic>
        <p:nvPicPr>
          <p:cNvPr id="128002" name="Picture 2">
            <a:extLst>
              <a:ext uri="{FF2B5EF4-FFF2-40B4-BE49-F238E27FC236}">
                <a16:creationId xmlns:a16="http://schemas.microsoft.com/office/drawing/2014/main" id="{7DB3F72C-ABEF-070B-E690-1B23076FE1C4}"/>
              </a:ext>
            </a:extLst>
          </p:cNvPr>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2650419" y="2216006"/>
            <a:ext cx="6891162" cy="242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3771508"/>
      </p:ext>
    </p:extLst>
  </p:cSld>
  <p:clrMapOvr>
    <a:masterClrMapping/>
  </p:clrMapOvr>
  <mc:AlternateContent xmlns:mc="http://schemas.openxmlformats.org/markup-compatibility/2006" xmlns:p14="http://schemas.microsoft.com/office/powerpoint/2010/main">
    <mc:Choice Requires="p14">
      <p:transition spd="slow" p14:dur="2000" advClick="0" advTm="2394"/>
    </mc:Choice>
    <mc:Fallback xmlns="">
      <p:transition spd="slow" advClick="0" advTm="2394"/>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602"/>
  <p:tag name="DEFAULTHEIGHT" val="446"/>
</p:tagLst>
</file>

<file path=ppt/tags/tag2.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3.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4.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5.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6.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7.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8.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9.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10.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11.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12.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13.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14.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15.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16.xml><?xml version="1.0" encoding="utf-8"?>
<p:tagLst xmlns:a="http://schemas.openxmlformats.org/drawingml/2006/main" xmlns:r="http://schemas.openxmlformats.org/officeDocument/2006/relationships" xmlns:p="http://schemas.openxmlformats.org/presentationml/2006/main">
  <p:tag name="ISLATEXITDISPLAY" val="False"/>
</p:tagLst>
</file>

<file path=ppt/tags/tag17.xml><?xml version="1.0" encoding="utf-8"?>
<p:tagLst xmlns:a="http://schemas.openxmlformats.org/drawingml/2006/main" xmlns:r="http://schemas.openxmlformats.org/officeDocument/2006/relationships" xmlns:p="http://schemas.openxmlformats.org/presentationml/2006/main">
  <p:tag name="ISLATEXITDISPLAY" val="False"/>
</p:tagLst>
</file>

<file path=ppt/theme/theme1.xml><?xml version="1.0" encoding="utf-8"?>
<a:theme xmlns:a="http://schemas.openxmlformats.org/drawingml/2006/main" name="Scott Group Slide">
  <a:themeElements>
    <a:clrScheme name="GT">
      <a:dk1>
        <a:srgbClr val="000000"/>
      </a:dk1>
      <a:lt1>
        <a:srgbClr val="FFFFFF"/>
      </a:lt1>
      <a:dk2>
        <a:srgbClr val="003057"/>
      </a:dk2>
      <a:lt2>
        <a:srgbClr val="F9F6E5"/>
      </a:lt2>
      <a:accent1>
        <a:srgbClr val="847436"/>
      </a:accent1>
      <a:accent2>
        <a:srgbClr val="A39259"/>
      </a:accent2>
      <a:accent3>
        <a:srgbClr val="B2A368"/>
      </a:accent3>
      <a:accent4>
        <a:srgbClr val="EEB10F"/>
      </a:accent4>
      <a:accent5>
        <a:srgbClr val="54585A"/>
      </a:accent5>
      <a:accent6>
        <a:srgbClr val="B3B7B1"/>
      </a:accent6>
      <a:hlink>
        <a:srgbClr val="3A5CAD"/>
      </a:hlink>
      <a:folHlink>
        <a:srgbClr val="5F249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3-presentation-template-0125.potx" id="{14C69A6E-7E89-4240-9ECE-6104BF379F34}" vid="{B754758F-6D6B-4D40-A4A9-D7492EE7B96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80BB9F4-99C5-9744-9794-8C7CA23DA179}">
  <we:reference id="4b785c87-866c-4bad-85d8-5d1ae467ac9a" version="3.16.1.0" store="EXCatalog" storeType="EXCatalog"/>
  <we:alternateReferences>
    <we:reference id="WA104381909" version="3.16.1.0" store="en-US" storeType="OMEX"/>
  </we:alternateReferences>
  <we:properties>
    <we:property name="EQUATION_HISTORY" value="&quot;[{\&quot;mathml\&quot;:\&quot;&lt;math style=\\\&quot;font-family:stix;font-size:16px;\\\&quot; xmlns=\\\&quot;http://www.w3.org/1998/Math/MathML\\\&quot;&gt;&lt;mstyle mathsize=\\\&quot;16px\\\&quot;&gt;&lt;mo&gt;\\\\&lt;/mo&gt;&lt;mi&gt;m&lt;/mi&gt;&lt;mi&gt;a&lt;/mi&gt;&lt;mi&gt;t&lt;/mi&gt;&lt;mi&gt;h&lt;/mi&gt;&lt;mi&gt;b&lt;/mi&gt;&lt;mi&gt;f&lt;/mi&gt;&lt;mfenced open=\\\&quot;{\\\&quot; close=\\\&quot;}\\\&quot;&gt;&lt;mi&gt;X&lt;/mi&gt;&lt;/mfenced&gt;&lt;/mstyle&gt;&lt;/math&gt;\&quot;,\&quot;base64Image\&quot;:\&quot;iVBORw0KGgoAAAANSUhEUgAAAfsAAABaCAYAAAC/vP8tAAAACXBIWXMAAA7EAAAOxAGVKw4bAAAABGJhU0UAAABFxpIngQAAHWBJREFUeNrtXQ9kVt8bf8xMkkhmJhNJJkkkk0likiSJJJPJmMlXkpgkSSJJkkQmSWYkmUkikySJzEwyMTPJZGQmk4zf7310ru7e7nmec+8557733Pf5cPnq++6ev/d8zvMfQCAQpMX6EoyhofI0y1IKBPWDF5XnfwnPD3UgCAT1jKbKc7DynK08w5Xnq/o+zgVE6tsqz5HKc0WNYaryLFee77K8AkH94JSG7PHZL9MjqCNS76w8xyrPtcrzpPLMEt/GoYL1fYci9P7KM1h5nqmLyTIxhiclXs99ledG5XmpBJdfled35flZecYrz0O1hmURaNap9b+mLnQv1GXupxr7snziNcGymn9ch3m1H3F9rleeo5Czdm0dcSAMyloJSor/Ks9Q5XlVeRYJQkx6kDQaCzKOZyn7Hn/6S7amSNxnKs9MijmYLdjFLe0lr6/yvCXGN1F5zleedvnka4J2Nf8TxBp9qDyn1Xp6xysQVb6gvvDcgiTHCjSOq5Xns/pWl1KOY2uJ1rMD/pgn4uObVodoa4wcL2jm4kJg4z0Af01KSc8b+KOp8omTFt9QmmcxRZ+6PLR/19F87VbromsH19O7Nr2P6ECX8IKg5MALLarBbyipnfv4Bwo+ln2K6KgxzJdo/fD8qtZOPq48qxJ+20jMyd6AtFKU1qk3p350Ks3SJNDmoqwPqr/fwx+TiynwAjukLvNLDvqA38kpx/PWy5wzp3wuWjOIKl8gQBw1OAB2BTCOfmYMwyVZr0sJY3tA/P4cMScvAhjvPmZdD9aoX42q7SeW5Dql1mibQ43PaIZ+oNq9G/xptg8w7XvVyoyBqPIFAmA+wh+BjKGbGUdfCdbpbMK4PgLtT0FpPJYC0EB9Ifp/oyD9RIL9loFg73vkmnuGffiuvp08cJ3ox+daSQKiyhfUC5pKIhFfYcYRusPW/oQxoXaS80P4X8BkT2mdUC28tkB93aiI05Tol8Cvg9pGgz6MwB+H9bywBv6YKnLX0ogqXyDgHXx6AhnHU2IM3wJfo2YNkdw2+FtKsh8t+LifBHYJPZaC7F957ksbFNMPZ7hWa/oa9E4KosoX1APOM4fChkDGsUCM4VHgazSikWxbDP72LOidwYoenUBJgd0F7fM7MA+B9Amd5hoF3OM1nJ8TxJz8rMWE4LNPeEBQBxgB2nkoBLQzB+vxgNfnMOjtvaa4laDpKPr5toVZ0x0F7fdBQ7JH0l3jqQ9NGo3Ob6idQ2OEbcy8bPTVcAvQzhMCQZnRwEhPdwIZRz9zqK4LeH2mHZEdHqLH1GHfGMDYjzCkUGTNKxcG6ls7cUvT3uECzE0jMydeEz7pVPmSR1tQduxhPrwjgYyDstd/DHh9dJeYyTrYm1QCm6I7Fl4wJHsfPhOnoPhmDyrm/oTPhk+DqPIFxQYmPxlR5OwSlxmJuCmAuWkAOpnItYClel2tgoE62PNU4rPFgvedcv6u/sZaHLbbFch+odJ1e02w0wqiyhcUF+hVGzmfuc7tTqWyfF0S7USoF3bKkWlTHez70wGTPWLIULq/5Ki97RoSLWJkGUX23qtr6g49UeULai3dxb17tzl8dyMjfVwKZI6o+PolCDeqRufV/alO9n7oZM9dQl165aPAmpTU53lB54Yi+7u+Gz8DosoXFA/3PV48OQeo3YHMEVUB7Vmg6055LN8Ssg+C7BFThoRvk8RtjboAJvmqrCnovNSU7Ftr2bhAkIDq+HfXseK3oUbxrg6xmtFOnA507W9B8XLBC9mnx1nw66iHWquXCe/DksctBZ6XmpI9Qqc2E1W+oAgHnetYcaredCgpcrkiPiGmyMUDfA70KWIb6/gbCI3s14JZVUm8sGZJXvUQkmtZFD1ZUs3JnrqFiSpfkBd0VcrWO2xjPZSjaMwg1C5DmS9Q6Yvf1vmFNzSy5/aojY9MUvVDzJmxJ4A5qTnZbwBR5QtqC536dtxxO8eZg6ctkPmiKqI9DHQP3CfGdFPIPjiy32VI9l9TvFOXg+BEIHNSc7JHiCpfUAtghrfnkF8pz4dEW9OBzNkm5vA8GuhemIfwkxwJ2a/EuCHhm/hjoJY5yTQQUu6FQpD9OaITe4WTBB6AXu8zzCGw33Gbs0Rb9wKZt16gbaBrA9wLe5l90CxkHyTZ9xuSPRcqh7b4HxB+PphCkD1VFvAOCATugGExtwwOALzFu4wV3wzlSJFLlT99H+ieoPZDvWkXy0T2GDXyE8wc9XQmNLzofYVwYukLT/aIj5pOzNVoYlrVAXxJHXAoBabNc4zEgk5XmEN8QREIJhzB+Ey0A9pWGkIyQjvwsJIaf6k2vqj3txZgg2HhkAE1h1Nq/NE8TCqJtkNzm+5Rm/Ax/AmTmVV/dyBDP5pVP+ahNvmzOYm4KePcIlF9UPPyS33QL5RU05DzgXHV8B3oqIjpOTHb2YQ6kH+rB9//So0rL6cnSsPzVMg+WLIHdb6YfO9XNOd3Ei99VBcJIfuMoOp7+/zoGxTZnFBqmVfEbdCUnFfBn/zn3K1yKaNEh30+B/pQoXg4SGcNNhUe5hfBvArV/9RlIF4ljSoBa7oOzYqAPoJZzuw0z5WUczJMvOtNynd1AJ1yN164xeWFr4NpjzO5tauL2+8U8zwFfkvl7mTavyxkHzTZbwdzR73qy/ELSI6lD9WsUxiy3wj+VfloTzyoiHJIHYamJPDFsI09wNuCq8M20sRn7gbzDFER4a/PaQ2xnevwb4GUZSUh4aG9IfZRtalLXiRto6NmFM+sK7IyYdgXfPd3xwRvo3anPrRLKfbvg5T9nHQo4V+EbCly8fJ7w/LCNQLpM5PNelz/XGuCC9lb4b3h+sVL0Q5qztL2gNe2MGQP4F+V/8viQza5cFzI+G7TogmXM77/ag5r1w/JTiyDwCeuaIO/drHLjLRl6iF/wvPBnuaCtgPsU+R2WJCXq0I+ryG9uhu99z85mvP3KQi/NWei/wnlQBnJ/pThGr5Uvx+AcGPpgyF736r822pQ+NxXB9SS4UY4xLz7gcVBwSUiaQK6djj3THhcMzxUxzRqsTRrtjd2e6ZqJrjykKds97cdz9E5sKsR3m15UX3pYAxcAZ9+jRZqHtyS6ohhf49DvmQ/AuVAGcm+USOI6MrSJv37sRKsbaHIfhPk75WPdmIuHpNKl4n/Xh2r/UQRHao1WzRkWP1+IFSg1X//Tm0+bBsdRR4D7xvgA/s1qnLMOJbFrhWlkp0Hvx7ynB3vkON5omL5uRS51YfPN3V5iLQla4HPFubikOYK+Gyp+n1nwuGCmoGTVZqeZrWXX6UgVldJTDjtzyDUH8pI9oibFhe5gZKsbaHIHgji9emV3wPZ4zBHqiT0zpSXGIqMG2FlwYVFdVgmXViyXiayQid9v1IXlCx4AHbxsLZ9j/wLXOZBbwDaIY1KkVtttrkByV7Aq3JY/zvE+2eqfruj6mBBv4EOgzZOglv/GQ6cp/ZxqD+UlezbMxL9/RKtbeHIfgDy98o/zSz4Wc3fxSXqMVjpTV4N6v0fNX8zBCszrG3O+P75nG7JbyyInlt7ah3S4hnRxmvHc9XFjGmT5u8uVa0fVyfCtz2Zcgp9EPtdK6yMErmdUhtj6vfiom7GOyi/w53Ls3Ah8LG9gXREP1qytS0c2VPJR257avMRpHfGugIrVbHUgcYVQHnISHUfgPaob4L87Il3QR8itc7y3ZwD4nZHkjblp+E61OoqpE+R21v1m40GY6Lm7YPlGDhntyOxffgB7BwDG8DMEfGOg32wnOMFuQxkH/qcpHHaDTWWnsJ80cgeoVPlf6vBjW+W2TSPDd7P2Tt7qn5/CFba5zkP5N3gNiY8rUS/QEioaXAvh4NmD9jFiqfFW0hnEz4IKx0rTXwfNjJjemQ5Bkq9vhzbn/H16/V0QYpr0mzAfTNP6pTs73q8NNYaeMEzDcftKOHaThSR7Kl43j0eNgBlU31Q9fsdMcnQNLsWJ7HG1fMYhhZ5jk4aSsu9zPtdzNlZcBdznkXDMpzD3loCt1nnVjPSY/W8bYup2j6DuZMjV1++13IcVEKgqPzrYcheNhSIy64v+3Ef5GMyCg1U9b9nJRjfNUOyv1bCtR2FAvombIH8VPlcDHT8QF4Hf1WMqA0wdeSibMQzVReP9zEtRouDw9gFgR2EfEqaUlnzTjpqYyzHw+yIoUQc7a3p2J5oSdHOXWYP77Qcxw9Ga9QcUxG6kIg5s5cLp8OhHC7IIWIYyh2dsBHMyH4O/KSbriXyEKYyYRLyUeV3MwfyqgQy+gLpstL9NNQcXI8RdJoDetHjIm4m3j8H9nb6OKjMgxscvL+R0eK4luYoD/Z3Vb+NUnMiaaY1iUyBv7BLLp3sbvibA+ILpM9yp9O2+Sb7KcivCFJIoLLN9ZRkjC8NCf9oydaW0gDX1ERzCewyjpmCilGPe2ZH5RIX4d+YYgpbDTUHnbF/S1NwZxfz/j7LQ3ciB2k7ImKdyttVqNUBZq62Od7Dn8DMj+JC7HKZ1succ56zLeRyHvjaDlHfdzqcO+4gtrnErGbe/RrqE1zipM0lGON2RjiqDiMuE9ohv5BjZx275bCdz8AnU9gMf+30ae3TPYwE0aQOn2lI9hHgwIUqtVnMzXXIr5wpVVPclT2JGo9rT+MWMHME7IgdsKcztMOlArXVVlBS0HOlaXNt4zSR7Gct3s/5BNysU7LvSaGJChGtsf1aT/UO4qASyHXXsmM6Vf5XR+9fC7ytEw+eKGd/Fn8BygYWxXFGXsyoWkwbp07ZoG0kYs6XwbW36pkc1GkfID+b1XHg/SjWxC55WW3dw+Auh3+SpEeZPaIUvtOQrUSvDmsMDmEb/4pLYF4QpZ5AafH2BT42XbnaItQVyRPURXeilh277JlsKC/m71WS82RGNQd1k8SbdBdkV4Nyh/E9Tx/+cw9rTTkxrnP0sS9DfvZIyjwUqdYHY2S5NmM7lPOcbdbJg4YHYpfjudtv0OY9T3vN1X4LDZTW60oJxvciA9FHPmJl89+4AfaFxpzDtyqf8mJ+pNr/DenL0EZoA1qF3xqT7C54OIyzhsRxGQV3Ol7nBtAXenF12+TC09ocj2kO6KIx8Ute1osr5zxnGylxy+AwfOHhuzdJm2tTmGTBkzYsRKAmUZemGm3bvSUYY1L+DnQGHgMzwj9SwnXHM0jnOH4f7DKhZobOpu5ClT8JdF7sSO1z3sOhhSr822DnCUkdxkgiWVSrqxmi8uG8RElyrkItqYvdtOPxbGEOj13wt6SvjZrwvOdDasLgINzqYT88NGi3NeO725j3Pob6QIPSZs1oBJG7FnNcJCTlB0GtLUa87DMk+5cl3QOtikN+ai5Dp/LWavhS5a9liDJKh2vjiDbEaCYiu+eWjO+f8EDKHIF0eVhjqmqbK/spFWrlOn6YStiCH1EUkocXWRsP2JfAO39mRYvBIegrNvcL+CvZfAzSZbMsG9AXB50pvyWceWNK4iuLGSPJPr2kLtume60e6iTgOXFCfc+LCUL1NbVvvGMr+FHlUw5Us2rQy5aSyxxxEEebLGu2sWZwX5axEeh0kj5UnNjmgmPtRFrich1P+5Ro61OVhG8zb5S/hq163aQefLuH/bDFoN2LFu+/XQNNRdGkuYEEkltSh303uHW2rBV2QnINjEMphZsy+S1Qgu9pJSBW+zVNqf2Sm5ZnCtyH3zwwWOCbng+tGQvJjjuMsxAJl3b3vIe1pYpTuAr3Oc5ocVxLMj8N1t5Wm8DlDOi3fD/n5e9LtXnRs5T1GvwlIAoN+F1MQ3KVxJsQrhq/VSNoJX0T65lLs+sIsCIBE5Xd0Yx/GmpU4vkKuFflc5W1fkB2D2kT4rR1MnrM9D0L3jGk2OJhbakiRK48Q6m5Gnc8nl0G674A6TIwJoFznrPNODgH+RYMijDp8ZLB1cF4CvUHlOJ1+fBDdNBbC8nJrK4Tf2PiI5KkFQgZfUA76NVMu7Md3Kry28GvqhDxhHn/pMfDOIstldNEjHlY1x05fVxzkF+oyYDB3hpw0A7lr2Gb8Ggb0/8pT9/5boO5s7lk7PT8zYcMKvTuciBjaIBkP5ZhB/vOV8hxLUD5wV0vQgddqvLPGEj1tjm+uZSMNo5n3GWl2/EGyJrdzUbidpW+kbvEuL6tc3m38eJhG9bCFYqxvUycZd5/ztM3zhWnsc3fzWUb3A/1DSq7WlcA/R/UCCkm5winUYrOpLbA15jKVDpelE5SpQnT2qefg9+sSR2eJaP/wH1YEpddyvUm50jYlb2e8oz/DW7zQXNOc66kes5fwzaH+Sjkb85pAzrpkYssbnlcLkPGSY/aIt9I0qghgZuaYrncIq7KN9caVKGjE0XpJKXyTeNIxx3ILm5vnJORrZRMZQDLEpbEpQ2e9rCenJnjZg7tuDZNcJnflsDODyTCI/ATlobg7Nq+ioNwXvIuVKiTHrUGZUCohXCSLr/fUgo9mF/ExLE2ZEe9TSFddnUxkTMp3nE4h0NljDnwbdS4DZAcUmKThIbLLuc60cgOg4/KVXz9Yo639GvgL8VrHJQPgm2IUBczBh8OW23MBWMJ0pf9rUYTQ2T3QMBJfkXMQbA74TxEB9gsIZT3DKX7A4GuLVXOvXCFjlyo8u+D35hr7nZsG3K1x8NGvJrzAT8OvG1stYN2OM/43Y7H9R78pxnm/DV2efzGcF3We/iuH4Pfyn0AfKhi2WqXZwUVcvmwYH3FC+A8/Guay2ru2Q7ldtSjog6GitZZypvW1IuQkop+gH16wCPMRtlj+X4qDPF3xv5zhUFc3mQj58jvoE+mM+morXPAV55zBa7QjqsxUf4a3x28n/LdeOvhm+6EfGrLc8lTypAa1gUoYWikQP3EpGJJOQJs7c7vwMxRb0OAazsC/suIO8U0ZFflc6E3dx30j8rBPuvg/W893Di5HOiuks6gzS9Sq5/OYeNRjpjPHO9LzhRyMYcP1tbcwvluuA7BwsvWJ+by4soZkMpq+E043uj8KopfwyqNFs2F8ysXsRGyo964Z+5zDqo8H6fC5OpY73HQPyrXsm2lvtWM9JhV3ck5priQgJtilwp0MKNylB9z0B7naPaf433J2fu25DAmW6mG8/J3HX51iZGeOh22RWn0hkAQgbqEzxekj6MeyaoR/jUN+BLc8sZ8aGRP2WE5Vf57z7d7LpzM1kbMmQg4pxQ8XJOSkvxi3usCkb0IL0NrGHUhpyIzyYGwz2KuUMLF3PJp4q6pQjuuyvRy/hrcvOGFpMNgjXTk69LssZO5uHY7bIurjXAaBCZkv1CA/iXF0o86buOmoXTfFdjaLoZG9ogZSK/K5xKRuCilSiUjcWFPpVRsc8zf9sBfv4TqVIjcprZFZDvHS8V29W+TGeepV13MOEn5isVaRKpyU4e6VsiniMYlC0kjikOm4qW/Ee//6PD7XctowAYcnxeciWUXCEzIfrHGfUva/2hjd117fbMh2Y8GtrZBkv3NDB/uCfCbsANBZU974OD9lH2TsteiOjRS/yYVN1hi5sbGAzuuGu5T/7aaaOuJwaG9ZEDEVM59Sm17Qf3mWooxdudEJmMZx3QQ+HLKnJf/I4ff70gOF6M4qFSwvyDnmt1C9pnQrxHumj21NwZmjnotAa1tkGSfRZVPhZS4sEVxyXqOWL6fU0X2af5uI/wtW6sL+/sKflLKHo7Nyb2qf09bWe9A7F1HDdYii4o4IsXPkK4QxLBnjQ4Ab6/XqaK3xT5yqhIel5XxjKNxUBoXX7npX0D+1fuE7N2hW0O02z22aVLILDRHvSDJHqGrWjetOSh/epa6KXu6i7SsxyB9gZB1irgiNaxO3cWF3t3J0N+4V+tYlfRExXIfTHjX3pj2weTj4mKqNxCkmOUQmctBIuZ8EJI0U62xixznhMbtgSMOxtBPvP+Ux7OC8km5CoIik73uXL3tud11hmT/LSDNULBkT5X43JHyoHRRDGUQ/KYY5by9qyVRtIu+j0mXlPMWl973Zwp1VSOsTH06Dv+miKWIpdr5bk9sk5oSJ2XbXtCQYmSvTlvkhVN/u6oJfSHl+q+Dv6E2n4B2auSyMrowc/UQWrV9Hs+JbTl8+0L2fkBFh2zMoX2T4jgutV5C9hpQxWaupbgYuLLZUc5N5x28/zWYO9G1xA56JGrOZmySvvYN8F7wnbDSrwA91JNsapTZIL4WR2MkZFq9CkHF179OIPrIkz5LngJK/b0M7nIUPAXz8Mj1sYseOmRyqWb3GKy/jW1Sl9AG++i7ilg3SPGbEMme0gJ9yakPz8CM7L+Dn8ySQvYGpFG9GaiwqCcO+rGV2QwubEuc5NWupLs++GujR/OBafjYuMGmnlHkFr9V439jtazqZD8ToHeeodSqj5Tq7mGVdmCNo7mKnNSQHNE0EqngpzMSM0XCLiuFzTBr0xPTYn2JjdUkd0SfwdpnKfmMf/NYQ7KXc1J/PshpfYTs3aAR6KijPJP7vDEk+1BS6AZN9iaqfC6MwkU8L5WK01UiiuUUGy866A+meH9XyvdTzxhDnGne9RnSedw2Z+jvPGQrtMKpv6853OvLGcZlWkzohMG70kYUdGkuKG8hW5GSrKDS/14HQZHIfivw2Tyjy+Imz33ZneF7ew7FTrscNNl3Ghy0Z8C/mpVSsQ87Guv3lOS1N0Mbgw6I3uQA/WX4rklIH1rTkbK/PyB7aBx3IOzP6UNNcghN41DXBHQa5jROrKhJeJXw91PgJjNiWilxOaf1EbLPjl1Kk5fmQvtV7SfX2iH0bbqQ8nurrrmBCcPQF2R1wdY2aLJH6GzlkSqfin13UWSDS2Hrysv4oeFms7GD4uH4IuMm/wTmGQI/gJmPwLqMY1gy7POspZR5EdwXJbJd/++QLe0zEv4NoMP7niqCjDsDtqiD7TokJ8oZV9qzWngs74P8CiEJ2WcTLuYshYslpUkcUt9Imiyl+NtHSiBDqXzBoXYz/j1i8p2zBVjb4Mn+DtAlRSkiduE4x4XEuXJA2swsFkqo5xwdYJeYQ7+a5E+lbJfTtly1HMd/Bv1+4ECrMwb52fA2Gmh3HoN9kpFmJdmMWxxweIDfBjclfcHTPhgGQa3Jfh7ck+vJFO2f9NB+XoW36pLsUZX/S/NcKdmHuFVtmkU1vjklbZ2CdElgTIASG6YtfRVrb0lpUp6pC4HNYX5WSYLRe/HSgJkRXdniDinCjfqOUQmoqkbzTnug69+mpKH5qjFd9TQm9DA+qqT2YaU1Woh9X0uqL8+VhNQD+drjOTyBfHLvC9kLQkDwZC8QCARJ0CXeQq3VGpkeIXsheyF7gUAQNqgMaKMyPUL2QvZC9gKBIHxQ6atFhS9kL2QvZC8QCEqA6wRhSdY8IXsheyF7gUBQAuiyn92RqRGyF7L/5xmQ6REIBKGBSqazVaaHRK+QfV2Sfa9Mj0AgCA06e/2YTA0LqnDQL5meoEHlThE/FoFAEBx0aZ/3ytSwOATm1RUF4aARpNSzQCAoEZCMkjKzSYU7M2xkSGGHTFGQ2Mas62aZIoFAUCusgfTJb/ZrDrNOmU5jULZdUfeGCaqy5ZJMj0AgqAWQmD/DygpnJwz/NilF7lOZ0lQYAqkpUDYMy5oKBIIiYSvoqxZydkWsJV7thY9S6gaZ1lTYD3Q1x/UyRUFhLdDOeUdkigQCQd4YhewlqW+AhBS5widiHW7I9ASFG8RafpHpEQgEtcAS0GWcdUDp/RcUr6xoqNgFtEPXYZmiIHCQWUeJUBEIBIUj+yHi755W/XYCpLKdLah676gW7pMpKjT6gFbfy/oJBIKa4RVxOO3S/E1/1e+mK0+LTKUTdFWeGWJNMC2xRDoUC52gTxcdfR9dMk0CgaDW5KI7pJIK2Jyq+s1HIXrnwNwFvYpAdGmIUZNyvvJsl+mqCbaq+Z/QrA+uG/q89IAkRhIIBAXBVdAXsVmlDiu0NT6r+v+D6v8L/AFNI2ivvwh/zCqjSvJfgD8mGEmpWxv8UvO/oCR3XJdH8KfAzSH5LgQCQVGB9uI5oJ2L4tnx9smUCQQCgUAQHprgj9oRk37MxiRHjJ1H2z6GFO2UaRIIioP/A1PfYYeprziZAAAA1nRFWHRNYXRoTUwAPG1hdGggeG1sbnM9Imh0dHA6Ly93d3cudzMub3JnLzE5OTgvTWF0aC9NYXRoTUwiPjxtc3R5bGUgbWF0aHNpemU9IjE2cHgiPjxtbz5cPC9tbz48bWk+bTwvbWk+PG1pPmE8L21pPjxtaT50PC9taT48bWk+aDwvbWk+PG1pPmI8L21pPjxtaT5mPC9taT48bWZlbmNlZCBjbG9zZT0ifSIgb3Blbj0ieyI+PG1pPlg8L21pPjwvbWZlbmNlZD48L21zdHlsZT48L21hdGg+GVTEZQAAAABJRU5ErkJggg==\&quot;,\&quot;slideId\&quot;:2763,\&quot;accessibleText\&quot;:\&quot;backslash m a t h b f open curly brackets X close curly brackets\&quot;,\&quot;imageHeight\&quot;:14.4},{\&quot;mathml\&quot;:\&quot;&lt;math style=\\\&quot;font-family:stix;font-size:16px;\\\&quot; xmlns=\\\&quot;http://www.w3.org/1998/Math/MathML\\\&quot;&gt;&lt;mstyle mathsize=\\\&quot;16px\\\&quot;&gt;&lt;munder&gt;&lt;mi&gt;min&lt;/mi&gt;&lt;mrow&gt;&lt;mi mathvariant=\\\&quot;bold\\\&quot;&gt;y&lt;/mi&gt;&lt;mo&gt;,&lt;/mo&gt;&lt;msub&gt;&lt;mi mathvariant=\\\&quot;bold\\\&quot;&gt;x&lt;/mi&gt;&lt;mn mathvariant=\\\&quot;bold\\\&quot;&gt;1&lt;/mn&gt;&lt;/msub&gt;&lt;mo&gt;,&lt;/mo&gt;&lt;mo&gt;&amp;#x2026;&lt;/mo&gt;&lt;mo&gt;,&lt;/mo&gt;&lt;msub&gt;&lt;mi mathvariant=\\\&quot;bold\\\&quot;&gt;x&lt;/mi&gt;&lt;mi mathvariant=\\\&quot;bold\\\&quot;&gt;s&lt;/mi&gt;&lt;/msub&gt;&lt;/mrow&gt;&lt;/munder&gt;&lt;munder&gt;&lt;mo&gt;&amp;#x2211;&lt;/mo&gt;&lt;mrow&gt;&lt;mi&gt;&amp;#x3C9;&lt;/mi&gt;&lt;mo&gt;&amp;#x2208;&lt;/mo&gt;&lt;mi&gt;&amp;#x3A9;&lt;/mi&gt;&lt;/mrow&gt;&lt;/munder&gt;&lt;msub&gt;&lt;mi&gt;f&lt;/mi&gt;&lt;mi&gt;&amp;#x3C9;&lt;/mi&gt;&lt;/msub&gt;&lt;mo&gt;(&lt;/mo&gt;&lt;mi mathvariant=\\\&quot;bold\\\&quot;&gt;y&lt;/mi&gt;&lt;mo&gt;,&lt;/mo&gt;&lt;msub&gt;&lt;mi mathvariant=\\\&quot;bold\\\&quot;&gt;x&lt;/mi&gt;&lt;mi mathvariant=\\\&quot;bold\\\&quot;&gt;&amp;#x3C9;&lt;/mi&gt;&lt;/msub&gt;&lt;mo&gt;)&lt;/mo&gt;&lt;mspace linebreak=\\\&quot;newline\\\&quot;/&gt;&lt;mtext&gt;subject to&lt;/mtext&gt;&lt;mspace linebreak=\\\&quot;newline\\\&quot;/&gt;&lt;mi mathvariant=\\\&quot;bold\\\&quot;&gt;y&lt;/mi&gt;&lt;mo&gt;&amp;#x2208;&lt;/mo&gt;&lt;mover&gt;&lt;mi&gt;Y&lt;/mi&gt;&lt;mo&gt;&amp;#xAF;&lt;/mo&gt;&lt;/mover&gt;&lt;mspace linebreak=\\\&quot;newline\\\&quot;/&gt;&lt;msub&gt;&lt;mi mathvariant=\\\&quot;bold\\\&quot;&gt;x&lt;/mi&gt;&lt;mi mathvariant=\\\&quot;bold\\\&quot;&gt;&amp;#x3C9;&lt;/mi&gt;&lt;/msub&gt;&lt;mo&gt;&amp;#x2208;&lt;/mo&gt;&lt;msub&gt;&lt;mover&gt;&lt;mi&gt;X&lt;/mi&gt;&lt;mo&gt;&amp;#xAF;&lt;/mo&gt;&lt;/mover&gt;&lt;mi&gt;&amp;#x3C9;&lt;/mi&gt;&lt;/msub&gt;&lt;mo&gt;&amp;#xA0;&amp;#xA0;&lt;/mo&gt;&lt;mo&gt;&amp;#x2200;&lt;/mo&gt;&lt;mi&gt;&amp;#x3C9;&lt;/mi&gt;&lt;mo&gt;&amp;#x2208;&lt;/mo&gt;&lt;mi&gt;&amp;#x3A9;&lt;/mi&gt;&lt;mspace linebreak=\\\&quot;newline\\\&quot;/&gt;&lt;msub&gt;&lt;mi mathvariant=\\\&quot;bold\\\&quot;&gt;g&lt;/mi&gt;&lt;mi&gt;&amp;#x3C9;&lt;/mi&gt;&lt;/msub&gt;&lt;mo&gt;(&lt;/mo&gt;&lt;mi mathvariant=\\\&quot;bold\\\&quot;&gt;y&lt;/mi&gt;&lt;mo&gt;,&lt;/mo&gt;&lt;msub&gt;&lt;mi mathvariant=\\\&quot;bold\\\&quot;&gt;x&lt;/mi&gt;&lt;mi mathvariant=\\\&quot;bold\\\&quot;&gt;&amp;#x3C9;&lt;/mi&gt;&lt;/msub&gt;&lt;mo&gt;)&lt;/mo&gt;&lt;mo&gt;&amp;#x2264;&lt;/mo&gt;&lt;mn mathvariant=\\\&quot;bold\\\&quot;&gt;0&lt;/mn&gt;&lt;mo&gt;&amp;#xA0;&amp;#xA0;&lt;/mo&gt;&lt;mo&gt;&amp;#x2200;&lt;/mo&gt;&lt;mi&gt;&amp;#x3C9;&lt;/mi&gt;&lt;mo&gt;&amp;#x2208;&lt;/mo&gt;&lt;mi&gt;&amp;#x3A9;&lt;/mi&gt;&lt;/mstyle&gt;&lt;/math&gt;\&quot;,\&quot;base64Image\&quot;:\&quot;iVBORw0KGgoAAAANSUhEUgAABAgAAAPoCAYAAABTeswWAAAACXBIWXMAAA7EAAAOxAGVKw4bAAAABGJhU0UAAAH781CISwAAgABJREFUeNrs3Q/IVdWeMP6FiEhIXPFKV5pwiAiRiKCRbjTRBBIiIiKvNOJIiUNIREgE3WikGxITvdIvGnEQCYkIoRFf8UYTSEhIREw00kQTDhEiISJ4xSte8Qr3t9c8+7k9Hvffc/Y+Z59zPh9YdK/67D9r7b2fvb57re8KAQD6syIpv1XGtvydSxgAAICmnEzKn5WxLL91+QIAANCUOIrgDzrbAgQAAADwtM62AAEAAABEB3W4BQgAAABgUVL+W6dbgAAAAADuC/IRCBAAAABA2unU+RYgAAAAYMrND5Y+FCAAAACAxF8FUw0ECAAAACDxjy13bo+nHdxJKP8aZlaB+Pek/FdSLggQAAAAMEneb7FzGzvRv5rguvtlUlYn5cWk/C4pvxcgAAAAYFzFpQ//J7Q7imD+lNRlPM81YSbo8kcBAgAAAMbN3zTYoc0qv5nCOo0jJ/45DD6qQIAAAACAodoZ2p1Lv3pK6zUGCn4nQAAAAMC4iMPjv2gxQHA2THY+gjLPJeVPAgQAAACMg7j0YZvZ+acpH0GWf+gjSCBAAAAAwMg6sW1ONfjNlNdv3akcAgQAAACMzP9rMUAQv6D/zZTX7yEBAgAAAMZB20sfTns+gl8k5ZwAAQAAAOMgfuXvJ6le1RJHKUxzPoK/FyAAAABgXLwY2s1H8NyU1+9JAQIAAADGxb+3GCD4fVL+eorrdoMAAQAAAOPinrQj31aQ4D/CdE81+C8BAgAAAMbF/wntTjX45ymu26cFCAAAABgndZbm66esm9J6jStG/EGAAAAAgHERl+Y722KA4EKY3nwE7wsQAAAAME5+Hdpd+nBa8xFsECAAAABg3PxTaHeqwe4prNNfhvzAiwABAAAAnXW85SDB301hnf6nAAEAAADj5leh3aUPYz6Cv5qyOv2tAAEAAADj6OnQ7iiCOEphmvIRbBAgAAAAYFwdbDlI8E9TVJeLBAgAAAAY507t/7QYIIiJ+9ZMUX3+KEAAAADAuPqb0O7ShzEfwS+npC7fFyAAAABgnLW99GHMR7BwCurxNwIEAAAAjLuTLQcJpqGjvE6AAAAAgHEXlyVsc+nDOI3hb6egDgUIAAAAGHt/H9odRXAuKb+a8Dr8u57y1y4rAAAAxtGh0H4+AgAAAKDjfpGUs0E+AgAAAJh6q0O7Sx/G8neqGQAAALqv7aUP4yiFX6pmAAAA6Lb5Sfmi5SDBv6f7AQAAADrsnqT8oeUgwYuqGQAAALrv/7QcIPhjUh5QzQAAANB9B1sOEpwL8hEAAMDU2Z6UL5NyLSlXk3IiKetVC3RaXPrwx5aDBP8W5CMAit3unQEm3mL3OUyPIwWdgzdUD3RanAbwx5aDBL9VzVT0eFLeTMonSbkYZoLO15NyJSlfh5lRL+uSMk9VTYyNYWa0UWznu1UHTKyj6TvBsaTcqTpgcr1aoXMgWgjd9puWAwR/SsqvVTM5Ymf/+VBvNMuZNFDA+FqSlMNz2vTTMPOFEZhML8653y8lZbMqgcl8qbtc4UXuM1UFnXey5SDB/4SZKQ0w10NJ+b7nWvkhKc8mZVn6bxYk5eWc6+plVTiWVifl/Jx2/CCYigTTYE1P3yGOCluoWmByrKjYMbiqqqDzfhVmhvm2GST4nWpmjmeScqPnGnk/52VxfsF19ZiqHCuv97TfXlUCUyVObZwbIPwmKXepFpgMKwUIYKL8fcsBglieVs0kdmVcG+8W/PsXCq6pj1XnWIhTCj7tabu3VAtMpRgQODPnWRADBo+oFhh/cYrBtQodgpOqCsbGv7UcIPhDmBl9xPTamXFdfBWKh5j/EAShx1lMPtibY2KPaoGptqwnSBD7FPKWwQR4s0KHYJNqgrExjKUP/yvIRzCtnsi4HuI0g5UlP2eU2viKeSbO97TZAdUCpEGCn3qeD5IXwpiLc0U/DZY5hEkS5wf+qeUgwb+o5qmzNKOjGMvbFX62aATBMVXbWXHZyt5kxkdUCzBHHFV4oec58aRqgfEWpxrEpUtikpG4jnH8mhPnhK5VNTC2/jm0n49gh2qeKkczroH4O+OOCj+7M+caikNSV6raTorJI6/0tNeXQcZy4FYx/0Bv0lpL2QJAx7S99OHvk3Kfap4K63Ougf01tvFWz8/GYamPq9pOitMKekcOxNEjd6gaIMeOcOv0sQdVCwB0R1z68ELLQYIvkrJIVU+0OMosb4rAAzW3tTzM5LWJI9Tmq9pOWh5unUoSvww+qmqAEod6nh1x+eVlqgUAuuMfQvtTDSQsm2w7ctr9G1UzcRYn5XRGW7+maoCKz5DepIVxapKAMAB0yIEhBAnMNZxMcfTAmZw2f0n1TJxjGe38tWoBalgX+ktmCwAMSUwq9p+h/XwEv1TVE2dzQZvfrXomykuhvyUsAXplJbV9QrUAQHf8OrS/9GHMR2AY4WT5PKetv1U1E+X+cGsGcl/9gH7dk/FMiVMPblc1ANAdL4b2pxrsVs0T476Cdn5L9UyMOI3k24w2jkscLlE9QJ/2h8FWvgEAhuBEkI+Aat4qaOO1qmdivJrTxq+rGmAA9+Y8W1apGgDojrj04bmWAwR/SMoKVT3W5hVcJ9eDqSST4q6kXMtp4ztUDzCgT4LEpwDQeX8f2h9F8B+qeaytLmjbk6pnYryX08YfqBqgAVtynjFbVA0AdMvBIQQJfqOax9b+gnbdo3omwsqCNl6jeoAGLAgzI5J6nzE/hJmRagBAR8Qh4v81hCCBjsZ4ulDQphtUz0Q4lNO+V7y4Aw06mvOseUbVMApxDmxMvnM6zGTvruLOpGxPyvtJ+Sr9RRnn58Xo1+WkHE/Ka2Em8cagFiflyTDzJe/zdPvX03IpzMzbifu6Z0T190BS3kjKx0PYzztJ+TJUm9c6L+107J/TRrHOriblTFIOJ2VHWr9Avpil/g8tBwheVM1j57GSNl2qisbe3QXte0j1AA3anvOsOa1qGJaVaae6d8meAyU/F7Nu183uHefu9bME0Kq0E3u9xr4OhuEsNxQDH7uS8t2cfV9uYT/xBfP5pJzqOc8FBT8TgwcvhJl1VKvU2bX0WljgtoBcO1oMDhwPktmNo6LVC86rnomwp6CNnxrzczvQ4jOt6vvQRwPuZ++EXW9ttsnsu+OzDW7PKi3NKgpIGpFGK+LX5MfTF5ofCi7AAwUBhc8HeIicDdVHE8R9fTzAvn5MyvIW6vDOtOP91YC/EMvEB/jm9BfnjYKHfJbH0vPvp95ittRlbhXIdbyFF7Z4v/5C1Y6lomftYdUz9mLQrmgKyd1jfn6xo1j1Q0LVEj84XEzfM6uIozAuDbCv5yfsmnszbZMLDbfLlXSb8d1xe/q+Osj2rqft/LjHROPyVsX5TNXQlPglfUv6AL5S8abPChA8E7KX96lb4kOvbDmgXaHeiIGigEQTwzsXp+dfZdTEIAGC+CKyIW2rKnWdFSB4o4F6+y6YcgB54tKHv2/wpe2PSflb1TqWHixp21dV0djbWNC+FybsWj4WBhstEDvqg3xgWJi+a12suL84omvS8z/cFfLzX1Qt+9PtZInv4y+H/A9RWfUeAxirgtwbbfqwoA3uVT0MInY2T/X5MOkNEOwPzUYxPyt4UH3W8L6ODvCLamv6C/NGaH5I3dz9bK4RFMgLECwKzX7ZPOoWglxrGrzXnladnXQmtJ+Ucm5Zrso76UiYrhEiL/V5/TaZQG1ryb7iO9mjU3Yd9jsl4PuK268yrSG+F8qpMhyvFLTD66qHQSwIPw8Zj/P/47z8b2sGCBaEWyPK19OHRIzcPpx2cKMYSbw/zMzVq9Kh3tpzvHFKwdxhbjGCHOeVbUwDB/Pm7Cf+2+dqnM/qmnV3KPQ/gqFugGBrGGweWRS/9n/RwgvrOrcR5PptA/dYTPAq70D3LBtycOCKKu+k+SXvAm9M6Hl/0Mc1vLrB/T9Rsq9pXTr0hT7apeo0j7KlfN/yOBiqDaF4SiL0LXakH8j4870VAwSx8/lJzwUZI5iLKuz70VA+nWFuNs6Hw89DymJwISbLu63ieb5e4XxO1Ky7+DNx/s+R9KH5bphZNaCNAMEjaUd8trMfp4TsrhEgWJQRHDifbuOxOdudDazELOlnQ/V8BEB+5+G/B+gUnqz4PGX4nhxygMCIrW5aX9JuT07oed/bxzXcZF08FYrnvS+Z4muyn+BN2ZD0paE4H4GVOobvzpI2XaWKaNqCCp332CGeTRB4Ne1U1p1r9FSoFnF+eM6D6ULaYa6rytCoOssf5h1Dlfn9TSUprDLnLI7eON7zi3NXKF+JIHZKqs41fNAtA7ni8rB/7OOF7fdhdEuy0ozNoX4uH8bLOyVtPMnD3D+s+Uz7oMF9Hy95P51m8f3tdM22eXuAoMOPQSB7VIpGY7+memjD4YoPlfgV/b4B9vNdKM9FMDtyIP73/j73szgNZLS9vnjseJflCWgqQLCxQvvMbccfatZf/Pr5VYV9vOF2gUK/C6bvTKN9YTq/Lk+TsjxOk7wscFkCzqwv+010JJeWdIwedVn+79fjum1zZ862Vpf87GOqe2SKVpv7SvXQhrcrPFDikjMrB9xP1flS8ZfBoMuklM2f+qihuiv78t5UgOCeUC/pYz+rDlR5AfjC7QK5nu4jOPBPqm0ilC35K+ngeFtQ0lG9NgV1UDdp9M4G9lmUjO+sy/Iv9oT6+W56xffGomSs76jmkTpa0m9aqIpo2rYKD5P1Deyn6jy2lxvY16aSfVxtqO7eG1KAYH6oPnd1kK8YZS+5MfJsKRu4VQzi1V3u8ESQlHASzCvpPF5QRWOv7MvqNHRWH6/5fDvdwD5PBtnbq4idwx9qts/DPdt4t6QtdUBHq6y/YSQijauSOb8pZUPyv2loP8srnNOdDeynLMnj5Qbrrux8PmxgH1WWNFrhloGb/CIp/1Pz5SwmNPylqpsIDw/h2cxobS9p42NTUg9f13zODfJx6a4wWLK9afNIzbaJ035nP/isqBlMYPjK8p69qooY5wBB2RfqjxrcV9nyimsb2MeuDgUItjawj7UV9rPWLQM3qZJEdG75U1J+rdomxjOh/aHWjFbZ17tpCQJtCfVXZ+lX0QcL0x2z7avZPrvSnytaSlLuqW4oS/Z+WBUxzgGCsoSITQYILpXsa3MD+3h2wgIEd1TYz0a3DPzFc6F+3oEdqm2ilC01JpHa+CvLN3Rwiuqibtb8flc/KkoK+axLMlNMDHmmRtvED2kx+Xjex6Fvg2lwXVE2dVpODsY6QFAWhW8yQPBlyb6eFyC4xbww3PWNYZzFecl1lzV8X7VNnO+DvC2TrqzTtW+K6qLsvaeJZ96KkntqiUsy1xM12ycGATbkBA8sbd0d60J5sMfvGsY2QDCs1QWij0v2tVeAYKT7gXEW8wecrfki9p/BGtKT5rZQnoiS8VeWP+mtKaqLmAj5fKj3lbpuzqfdoTgZM8XeC/V+N30TzGnvujUV2vEe1cS4BggODDFA8FHJvg4IEAgQQJ+O13wB+0NS/kq1TZyyrzp7VNHYqzKybvuU1ckrNZ9/u2tuvygjv2mO5RbXDOL0llPB1+iuqbKKyBrVhACBAIEAAYzGb/p44bIE0WQqS1S7XhWNvdsq3N9PTVmd3J6UKzWef3Gpz6pLMD9UsJ2LOq6VbewzOBCncKxUfZ2zLMgRhgCBAIEAAXRSnKv5p5ovXL9VbRPrSEnbL1ZFY2+x34uZ3qz5HKyaWPDtgm2843Ks5cM+AgQvq7ZOWlSh7baoJgQIBAgECGC4YuKs39d82fr3IAv0JCtaLee06pkIj/q9mOmuUL6c9NzyfcXtnivYxiqXYy1Lw8yoizq/sySAHN8AwTbVhACBAIEAAQzPwjCz9nadF634oivvwGR3kKxYMflW+72Ya3/NZ+Laku0VzbP+zqXYly012+iQKuukKlOdtqsmBAgECAQIYHjer/mS9ae0Y8HkKluX+ilVNBGqJAeb1t+LK2o+Fz8b4B3xFZdia+/D5rJ334LQfDJQECAQIBAggD79Y6g/j/OfVNvEe7vkGpDoazKs9Hux0NGaz8a8+yImHyyasrPcpdi3O9P30aptFFdAWKraOmVhMIIAAQIBAgEC6IT4heyPNV+A/78g78A0OFFwDVxVPROjytzfaR4tsqrm8zHv3Wt9wc+ccBkO7Mua7fShKhu755AcBAgQCBAIEEDLfpmU/6n5UnVCcGAqxK+d1wuug8OqaGLMD77clTkZ6i2jd0fGNj7Q8WnNy6G/JQ+fVHVjFSCwigECBAIEAgTQsv8X6icl/JVqmwoPllwL5ktPlrJs/XunvH7W1HxWvtbz8wtCfsAt/vlCl+BAz6obob8AwcWcYA7DV2W5VbkjECAQIBAggBb9po+XqTWqbWpsK7kWnlBFE+V8SXvvV0XhmxrPygvh5pFWRe+hVgPpX8x8f7rP4MBsOaoaO6HKcqveQRAgECAQIICW/F2YWYWgzkvUb1XbVCla1eJGMM1k0pS9TxxURbWX03umYv0KtvXv3QGDA977uuOJCu10j2pCgECAQIAAmhenCJwN8g5QrOhr6ZeqZ+K8FyR0KxPzcpyp8dz8Nv25OHQ6bwj8T6q1b0XLsF4J9aca3KlKR2pdSRvdSO9BECAQIBAggAbND8WZ6bPKj0HegWmzIBTP6d2niibO8yXPgY9V0f/aWfP5+VhSdhT8/RuqtC93pp36vOBAXGqy7tSDT1TrSG0K5UtTggCBAIEAATTs/9Z8YYrLHz6g2qZOWUI2iaImz9qSNvele0YMnl2o2en8rODv71OlfSkKdD+X/ptHQv2pBttV7cg8VdI2R1QRAgQCBAIE0KwNoX7egadV21R6seS6WKaKJs5tJW1+TRX9xauhmXnvX6vKvrxUUKef9/zbN2u2SXynvUsVj8RrJW3zlipCgECAQIAAmhMT+/y+5ouSpGTT63DwJXkafVfyTFigiv5XzClwtYEAwU5VWVvRkobXwq1J7OI1+33NdjmumkeiLA/KJlWEAIEAgQABNCOur/0fNV+Q/jspv1B1U+tcwbXxgeqZWPtLnguPq6K/2DNgcCB2cu9QjbWULWn4Qs7PreqjfZ5T3UN3NBi5hgCBAIEAAQzFwSDvANXdUXJ9PKuKJtbGkrZ/UhX9xV2hOJFnWflIFdZWtKThFyU/+3rN9omJDu9W5UP1Y0F7/KB6ECDoVoDgOQECGFsb+nhx3aDadBILyipVNLHiaKPrQcb9qspGXAi2DOe5FKcW3Fvy83GqwXc12+ikah+auHyhlXMQIBijAMFeAQIYSzE79h9qvhD9VrVNvTdKXsStQz3Zit4rZBG/2Yo+gwPxvWn+kI81LrV4PN339fS/8f/Hj0ALO17PcWj5xYL6fLHidh4M9Ud9PO8yH4p7StrhCVXEuAcI3i3Zz5cN7uuTIQQI9pXs4+qYBQjmCRAwBRaFmTwCdV6ETozgpZXu+ThYJ3yaFS01dkH11Aqo5JX9Qzy+pel7Z9kSlo91uI5PNPhOvbtmW8V33Htd5q0rGiFyOQhM05LtQwwQlGXhvNjgvs6W7OvdIZzPnxu6cecPqeO+VICAKfBvNV+CYlK6X6k2wswogbzrZLfqmXgxEVzRNIM7VdFNHu0jQPDoEI/veMVjim3exa+0L5Uc88qa24vvq9/UbK8vXeatK8oRcUD10JYDYXgBgg9DeebapiJh10r21US26SMV6q6JRC53V9jPUw3sZ22F/exyyzDGdvbxwrpGtRFmpqUUXSfrVNFUKBoJae78rb6u8az9cYjHVTd7/8WOBYDKpgS8OsBzru5Ug9dc5q0qGonzsOqhLR9XuPmbWm7m8wr7aiLJ07IwnAQrFyvsZ2MD+9lYYT9NJEh6ocJ+3nfLMKZ+HWZWIajz4rNDtd3kb6a4Y7wlFAe3TUGZDg8WXAcHVc8tnqrxvH11iMe1LdQPFnfla+3ipJwpOM74dwsG2P6bfdTNepd6K+JH07wPnqdUD21ZEoqHy82WzQ3sa37FfTXR0X0uVBsydvsA+7i/4kPzvQbOZ18YTsCjSgDnjNuGMRSnCJwN9V54vOzf6jcZ9fTLKTn3QZYRY7J8EfKnI3Hru9+Fis/cYS6dt6OPTnB8bxx10sLY8f80tJs88Ik+68Zou+Y9UlDn21QPbXmv4o1/qoGHYtWhvVfSzne/7kl/SVfZ194B9vNJxX3EL0uDzKlbntZJlX2tHmA/G0P1XwTyEDBu/r3my05MYvgL1XaL3/XU0x+n6Ny/Cpa4Y8b6gmvhAdVziypfpD8f8jE9GfpbZWGUI6Zigt0qo34HzZewrs+6ie+7z7ncG/VaTl3HDx6SE9KomGQnruV9suaNH4MEcYjl4hr7ihdvHI73eqg3p+lq+sL1YMUbYGH6QIvZb6/XPK+P01/2VQIgsbMeI3Z1k7jEc49fI+Mc/zrDUDeFmQy6dert5ZpttDD9mRs1zyc+tO5wOzEG6mZm/qOX/Fy9S0NOy5fz+SXPSMtMTZ+894DXVc0tqoy4fGbIxxRH0Fb9+NJ0vqd+jjWOePih4jHGD1gr+thPfN+OKzZ8HfoLEMz9vbBeB7bV54wlJmlE7Gie7/NhmNcRjUPG3i/Y16VQP9FJXmc0zvXPGroXv5hfbuicZvd1ac4v+E3pfi/1EXgo2kccpn8soxNyVxrkODJgW8V9xK9d74XszNpxP3Eu3UcDnlfcz5fpfiTooovidfmnmtf106ot068z6upfpuTcHy/5fehFePpsCPlf9rjV1dDelM9+be7jPfXFIR7foO+4V9N32EdK9vNIg+/sve36g0u/8cDaj37n0JStDd/0s+WjIe4razWFtS3tZ+8QzuXP6fH3/jJoeh+Xh1Rve91mdMxfJ+X3Na/jf1VtubLyD/zjlJx7UV6bQy6NqfVlsKJFFUWJ1mI5PMJji0sBxg8z34fy1a+GPe+7qXe1sumnbbx7Fr2DUs3bob3k5wAwdeKQ8BM1X2ROBJnoi/xHaDbvyTgpWqJ3i0tjaj1Q8CyhvJ7yPpZ0KbBxqOdYN2lOhiCOqMkaSfypqgGA/vxLzeBAHIb5K9WW669C9lSNaVnBIG9JsTiEdpHLY6odyLk2HlI1f/FiwbP3fOj2cOnekaT3ak6G4NWQncT9blUDAPX9Q6g/DNLyTMWyVqH57yk598UF180xl8bUW5J2cnuvjc9UzV98VnAPvd3xY38jyC/BcC0N2aMHnlU1AFDfX4fqa27Plt+qtlL/nVFvx6fk3DcE0wsolrfs4XpVE5aVPH+7vmLM53OO9U3NyRBkjUr6SLUAQH2Lcjqy8g4MZk1O3U3LCgZvhPzkW64dil7qfwymoOwseP5+3fFjn5s7IWb4X+4yp2WPZNwncYrbElUDAPXVzTsQgwm/VG2lfpdTf38/JeefNzz6HZcGc9wWstcsn/YVfk4VPIO7PmR6bqLbt13itCwGE38Mty5Veb+qAYD6nq4ZHPhj6P7Q1i5YEbKTE8ZyzxScfxwhkLc2+EqXBz1iArGsKU6rp7Q+Hil4Bsc51rd1+NhfCDcnUlzs8qZlHwRLpgJAI36ddvjrBAieVm2V/K6gDqdheH1e/gFLTZHnsTCzukVvpv47prAuPip4frzV4eNeFwR4GK5nM+6R7aoFAOpbGG4dkldWDqq2Sv425I8emJYVDPKWsHvM5dGYGGiKa34/mJRVNX4uJr97NCl3hpkv0V1aKu/JjGvmizBdOStWlTyHuzoCKeZcuTrnOF92i9Kyx8OtI9VeVC0A0J9/C/XzDvxCtVXyH2G6gyyxw3khp6NH/3X6RJj5ehxzO1zrqdufamxre0bbXErK4aQ8H0b/xX5HxvEdmqJ2/qbg+XG4o8f9VE9HTd6B8RGnfG0NM0Hdo2Emsd+V9BmTd71dTP8+Pje+T8qRpOxPyuYwM71uWMd9sef+eEFzAkB/flMzOHAuzCyDSLn/W1KXz43Z+SwK9bPJP5Fz7o+4PGqLX/n39LwI30hf5Lcl5eEwMxqorvhFPs4NX5du/1LP9mMiydtHeN7PZFw/r09Be+8qeX50LenavPRamXuMu922nXdvmFllpncUYQwM7EvK2qQsKNnGbenz45305+Zu54d0+22NdlmevpeYVgAADfibkD/8Pa+sUW2V/G2Fuv0/Y3IusTP/3ZzjPhtmvg5V8WEYny+fXRWDMnHt+N45+XEEwbIW9rc0zIzwmLuv0y3tq6rNYbqGDz8Q8hN7xnKsg53Mr8PNy5dudut22l0hO6FfLMcHuN+X5jz34/X8XpgJdDZ5Dj+Fm1crWK9pAaA/v0rK/9QMDvxWtVXyVxXr9q/H4FxWhpvnEtfJDL0so5NzueEXxEm3uucFeDZA82DL+12attXc/cbh7gtGWBdxjnHvMOKdHW+/OPLitbTuZgM88b9X0g51DJbFodBzv67GUSDfFTw3boTurf6xc87xfeQe77zt4dYv/bNlf0P7eDNn+/G5srWh4MDZcPPoxgc1LQD0Jw4pPlkzODBtycEGCQ5USfh4YUzO51jBOZzo4wXR0M/qXsmov2/SzvswvJ2x/10jrpP4pfr7nmN6qaPtF6dtfFvjGXsk7fi/X/Lv9nbwXOP0gvjV+HG3bee9XXBtHW14Xx8U7OuNAba7Mtw8reCzIT4XAWAi/XOon5Twl6qt1H1pXVUNuIyDqwXncLHg5+IXxGsZHSCq2Z9R3z/2+RLc71f/rOUpY36CUQcK45SL93qOa08H23BPzedslRKXelzi9qCFazKOVFrc8P4Wh1vzA8wtr/SxzcfCzSOJXtOsADCY+NJfJ+9A/Le/Vm2l/jEpvw+Tt0xkUYDgg4KfO9zzb0+F+gkOBQd+LjHYUjcp3c45L+cxG/mqmj+/PKfdN3Sknp7s6SgcCqOdAtHrXAsBAvOr6dfmkmurrZwRz5fsd12NbcWpCdfnPNMslQsAA4rzXC/UfCHdqdoKxWRix/t40R+XFQyKzi2vw9m7NF3MYn2HS6WSl3Pquu6SXe9mbOO7mttYkHMs73aovu5IAwOzc5vv6dCxXW84OPCO24MB7pOLBdfW9y3ue37Je0ccuVAleDwv/JybY18QcAaARn5J/2fNF9J/VW2ZYhKxp9POc91VIGbLA2NyrqsLziFrqPm2nn/zleBAZY/l1POpmtt5rqDNbqu5raxtfNrBuotz39d17JjONBgc+CTtIEE/9pVcX89X3E4cxRRzGMSgXJyusKLiz71Tsv+quU3i7yNL5AJAQw7UfCH9ryBCPyvWQ5xmEUdT/C4pf2zghX+c6nZ3yP+iuTDtuMTO7ZGevz+Q/j3l4lzdn3Lquc4LcVw5omhaSN3s8lnbuKS5KmkqB8EnnsUMIOYtuVFyjVUJ4m7M2M6N9M+rdOzLkvZKggwAQ/R0Hy+lMdneiSkucZWHuFThH0Lz84jPjuE1FOd+Vp1THRMwymZeT94Xvo9qbmdvSds0MYLgmuaqHPT5cYDnRKznV1QjA3opDJ4wN17Ll0N+4syy0S3x78um3GzSVAAwHHEoexNfvJXmyvExvZbinPSnwszw0jh8+mraibmcnlNc1tA61PWtDPXzPGRZFG5dOWKQjv38nO3c0GSVxREbX9V8PsT7Ko7OWa76aEDZ9Vclt8WOkm1USVz6Wck2DmkqAGjfL0L1ZfeU4ZV/cWkyx6HQzFKY20quu69qbm9JMIKgKXGI9YG0Da6kdXgtDQbEEUVxek4MsK0LhlrTnNsr/D56ssJ2PizZxhsVtnGwZBsXNRcAtO//6Yx3sjzn0iQVvxLnzQ/eVnNbh0uuu/01t/dEyJ8vDHTfhgq/j6pMBzsVBv/6v6PCsRg1AwAt+o2OeGfLCpcnqbwEkPHrct0Ej5dKrruNNbf3ZM52jmk2GAsvVPh9VOU5c6VkG1WeCRsrHMt6TQYA7fjbIO9AV0tsF0OImXU6NDMfd3nJdXe9j4DDa6GZkQjAaLxX4XdSFddKtlElmeqaCseyVZMBQPNiorKzOuKdLf/tEiW1ouA62VxzW2VDiY/2cXx5UxZkG4fxcCSUJ8Ss4moYfATBQxV+P76tyQCgeYd0wjtd/s0lSmp7yF8lYHFD25ota/s4vp9ytrVE08FY+KjkuXC54nYulmznwwrbWFzh9+MBTQYAzZJ3oPtlt8uUVN7w31N9bGtfwTV3uo/t3ZmzrZOaDcbG8YYCBJ800LFfVOH343uaDACaI+/AeJR/cKmSyvu6d7CPbR0ouOa29bG9rTnb2qHZYOoCBB+UbGeLAAEAdMuvgrwDVjBg3FwIzSXqygsQnOrz2LKmKsVEZbdrNhgbH4dmchDsLNnOIw0FCEwxAIAGxIz4J3W8x6JYP5658hJ/reljW/sGeHHPeqZkHds+TQZj5VgoX92kisdKtjGvwjburPA70jMGABrwzzreY1O+cLkyx42c62RpH9vK+sJ3sM/j2hyyEycu12QwVqokLa5iXhoIyPr5ExW38XiFY3lGkwHAYOLSZn/S8R6bctAlS4UAwbw+trWlZxvnQ/+rDXyWcUx7NReMnbcq/F66reK2jub8/K6KP7+mwrFs0GQA0L97Qv4cZqWb5TcuW+a4Evr/oterdyjxG31u54GM47kYLG0I42hzhd9LD1Xc1pGcn3+14s9vqHAs92oyAOhPnCP8nzrcY1d8HWGuzxsKENyXsY3tfR7Txw1uCxitFRV+L62ruK3zOT//QcWffyY0kzARAMhwQGfbCgaMvf0518n8mtv5MmMbL/dxPOsytnNUM8FYOxcGn/e/pODnv694HO+WHMchTQUA/XlaR3ssy7k+On5MtnU518oDNbaxO2cb79c8lqUZHYnTSVmsmWCsvR0Gz42zsWQbd1bYxomSbWzRVABQX+w4/FFneyzLcZcvPWIywrOh/0zevYkJ545IOBeqJztcEG5NTBiHE9+tiWDs3Vfyu+mbCtsoG7W4s8Kz7nooXgJ4gaYCgHoWJuXfk/KjMpZlt0uYDFnzcj+r8HPbQ3aisE/n/Nm2is+V3rwDMbhgOgxMjqMlHfxlJZ37soTIZdMMnij5+V2aCAAAZmQlBsxLaLko3Po1b24W8ZVJuRZ+Xn2gKCt4/Lff9mzrVKg2XBgYH3E00JWCDvqLBT+7JVQbJbejYBsfFvxcnMq0UBMBAMDPnf6T4daM3vGlfTYHQFzW9KVwc56A+MK/teSFPgYJnk/K7enfxWG869IX9hs9+3zHizpMrK0FnfSf0udQr/i8+CHj2fRWxjYuJ2V5xjYeC8UrFzygaQAA4GYxgeWejE57Ucbv5QXbWx/Ks5fPzY/hJR0m3/MFz4HD4da8JYdC9miDGEz4MePv4oikuYlNHw8zQcqs/cWcBGs1CQAA5Iud/jhlIOYhiCME4nSB+JXtTPoC/0JS7qq4rTgaYHv6c2fT7cTtxS99n4SZeb/3qHKYKk+mz4C8hIUxAPBS+r97//7AnO3cH2aSmWZNGYiBiKJpBfHnHtUUAAAAMFoxJ8GRUH0Vntihz1pdJQYrj9bYThwhtTcpSzQBAAAAdEccQfRKmEmUeinMjDCaHWX0ZVIOJmVjKF8yNSZDfTkNOswdrXQ1/f9xFNOzSblDlQMAAAAAAAAAAAAAAAAAAAAAAAAAAAAAAAAAAAAAAAAAAAAAAAAAAAAAAIzS/KSsTcqOpBxIypGkfJ6Ui0m5kpRrSbmR/vdqUi4k5eOkvJf+zEpVCAAAAONpVVJ2J+XrtPP/5wHLj0l5LSl3qFoAAADottuT8mJSvi/o6MeAwRtJ2ZiUFWFmdMGsBUl5KCnPhpkRBlk/fy0NFCxQ3QAAANAti5LyapiZLpDVqY9/vicp99bc7qNJOZ2zzW+TcreqBwAAgG7YlJRzIX/EwL6kLB1g+4uTcjJn2+eTcr8mAAAAgNGJowbeD8U5Ax5qaF8xSHCmIEggLwEAAACMwPJQnGfg47RT36S1Bfv7VJMAAADAcMXVCc4XdNbfbXHfXxXsd7OmAQAAgOGIUwYujSg4EO0o2Pf3mgcAAIC2xGHyMQlfTLR3LMx8Ob+alOsFHdVByoUO18WK9Pjyjv3YEI5hWUn9Pe6SBQAAoElPJOWjpNxoKRAwbgGCuArB2YLj/iYpC4d0LEXHccClCwAAQBMeDcXz3Kc1QHCi4JjjlIPlQzyWI6F45QQAAADoW/z6vW+EgYEuBwheKTnmp4Z8PO+WHM8ClzMAAAD9uCMpX3cgONDFAEHMO1A0zeKzERzT60EeAgAAABp2V1LOVOi4n0zKC0lZHYY3174LiqYWxMDByhEc0/aSttrgsgYAAGjX/KTcnpQHk7Kqxs/FzPNxbv+dSbktKfM6cj5lifdi+SDMfEWfRo+X1M3BER1XWYBgs1sVAACgObETHzP5vxVmhpFf6+mE/TRghy4mtjuclOfDzBD/YYvz1L8s6GTGUQWPTPk18FlJR3zliI7r2ZLj2ur2BQAAGFz8yr8nKRfDzUPJjyZlW1IeDv0NsY+jDxYnZV26/Us9238nzIxOGJa9BR3MT9NjnWYrSjrhJ0Z4bPuDEQQAAACtWZSUN5NyvaezFUcQLGthf3F4/xc9+zrd0r56PVbQuYyBkPkuh9JEgNtHeGyHghwEADB018Lg2ZiLhvltqLmt9zpcV6tDM9mrY5082efPbnfJMmXcd83W5U895xbn5j/Y8n5jkOByz36/Ce0uUxenTnwb8r+KCw7M+Lbk2l8ywmP7ruTYHtF8ANC8+BVnR1J+qPGyfD7MZHlem75YFr3kxb97KCmbQvE80PPpcSzpcF3FF8r49S1mw341FC8J1VviF7SNYWYu5/y0XmJiqOfTcy/62U/TIMwjwbrPTB/3XTOy1rj/Ju28D8PbGfvf1eL+toX8nANL3Fb/67aSe+DbER7bgpJ7Pf7dPE0IAO2JL+AnKr50rx/gZeR6xvauhPHMHv1oeuxV6qxoOO32gqDJapcmuO8GlDWX+8c+gwP9BkuyRpPF/ARtfcnP+/r8sFvoL9aW3D/vj/DYykYffqX5AKB9y3I68L1l1QD7yJrSsGuM62x9xY5K0VDIrC9rMXHYSpckuO9aCA7E5/D9NbezMynnws9f4ev+HlgehjeP/KGcfR1w69xka8n98/IIj+3dkmN7XfMBwHDsq/DSvaPPba/K2FYMSCwd8zrbU6HO8l5MY2ckaxjlRpciuO8G9HJOvbzQQGftu5rbWJBzLO8O6dqI7X2n2+Ym20vuny0jOq44quRSybE9oPkAYDjKljwaZNmjrJe2IxNQZwtCeTKl+HJ6d8bPZuVl+MBlCO67AeVl8D9VczvPFdTvbTW3lZfroWnfZOznkFvmFjtK7p8nR3Rc20qO65SmA4Dh+qhCkKCfnAFnw+R+sXuoQp0d7fmZrK97cQivBFrgvhvE4nDragX9ZH6P086uFtRt3S/yWdu41PC5541UWOt2qd0R3zyi4yoL/D2l6QBguB6t8NL9Ts1tPpLzYjhJWYjfqVBvsy+pS3NevNe5/MB9N6C8qWIf1dzO3pJ6bWIEwbWGz/2JkD2VTcb7W5Ut+/nMCI6pLC/Cd5oNAEbjq5Jf0vEle1GN7WUlBNs3YXUW6+NsSb2dSf/dmoy/O+iyA/fdgFaGZhLMLgrZSWX77djPD/nTQNru9H7qNsn0WOgvh0dbbqtwL1vZBwBGZFMo/yr3Yo3tncv4+UcnsN7WhmqJ03pfYuNw4MUuO3DfDehQzvl/UXM7ZcPP6y4ztyQMZwTBtlBthYtRlwsduFbmh+xknaPKEfR2SZ0JogPAiP1Q8sv6h4rbyfpK8eME19uhCi+HH/f8/zUuN3DfDWh5QYdvW81tHS6py/01t/fEkDrKO4IAQR2fFRzjlSEex7qS+vo+1Bu1CAC04LkKLzlV5u5mzRGe5DWMl6Yvf1VfFH0VAfddE3aH/K/0C2tuq2yZuboJZvPmux8TIBipnSXHuWoIxxCTHl8sOIb4d3d7xAHA6C2o8MJdZcnDrOkF90543ZUlWpotcb7l7S41cN814HTO+dZd4m95Sf1d7yPg8FpoZiRCGVMM6olf5S8XHOfbLe8/roTxU8H+Lw0pSAEADPhSV3XJw6zpBV9NSd0dr1B3W11i4L5rwIrQ3HJ1G0K9pSOryJuysKnhengyCBDU9WoonmbQ1hKg8UPBmYJ9nw8zS5kCAB0Sh+1eL3nRKVqNYH/Gv985JXV3d/pyVVR3R1xi4L5rwPaQv0rA4oa21btsZB15X4mb7nxmBaUPuy0KxdGC34bhTsdZH4qnFcTlDJdrGgDopn2hfMnDrOG6cd3pCxkvq3dMUd29EMq/JG1yiYH7bkDv5ZznqYaf+af72N6dOds62VJntzdR4xW3RKl7QvGUwqca2k8MCB0I5Qkwb9MkANBdK0J/Sx6uzvh3n0xh/Z0uqbvzob0hnDCtpu2++yg09/W3qAO3rY/t5eWG2NFSXZzK2NfqKb8f7qjQ6X4gvS/y2v6lAfYfRyPuCsXJL7+v0E5xaca7PN4AoLsvn0XLFmZNL5i2OfePh2rzUQ+5xMB9N4C8r7/9PHPzAgSn+jy2rCUo48oKbSWK3BPaXy1h3Lycdv7LxM73VwX3zDdhZsnKqrandV80VTHmIYirJs2rsL3ZJJRWNQCAEXu0wsv2+jn/Pv6iv5TxQrhgiuoszvs9G6onrVrnMgP3XZ+u5pzfmj62lTfF4JE+tjU/59j2tVgXD+Qc//1TfF8crREkib+/42iBvNUNqq5ssKTk3vssKVsqBgZmjyuOMjgVAIBO+KrCL/tZT2T8/ftTVl/vhXpZrWMSL0segvuuHzdyzm9pH9vaGZpLVLc5ZCdObDsB3dcZ+/1yiu+LGKSpO2Im3hdx5EHvSgNVV8XYFG5dHvPj9PrqZ5rAy+l2dnnMAUA3bKrwsr0y/bfvZvzdE1NeV1cq1N8Blxm47xoMEMzrY1tbQnP5Gj7LOKa9Q6iPzTn18eoU3hezIyqODrCNuaNK1vTxM0/1eS3OWpvxngEAdMAPoXzJw/gS0Ds08dwU1VFMBnUho5MSh7eeqdBZWe0yA/ddTXmBkH4c69nGGwN2TOeWi2F4ySFP5dTJxim7N3aEn7/gL+tzG3NH5iypWf8xeDW/z/0uTMrucHMiQwCgQ54recmOLyBbMv78rSmqo6yEjrOrPKyp0FGJCR8XudTAfVfD5w0FCO7L2Mb2Po/p4wa31Y8HC35PrZ+ie+PDOeceg/zxa/7SPu+vaxX//aI5+/y2xn5iDpEYrNucBiUu9rTdbo86AOiWmGTwQsmLdlZiowenpH52hPLM31XmSL/jUgP3XQ37c86p7pfbLzO28XIfx7MuYztHR1AvrxW09/NTcn+cD/XychSVryvuc2OD+5xbHvC4A4Duea3mL/Rvp6Re7gm3DvONQyt750survjC9ohLDdx3A3TI63aodudso26C2fh1+lzPNk6nbTAKxwva+3CYmZ4yqe5uuINeNdHh2y0EB37wuAOAboovf9dr/FJ/ZUrq5YuMc389599W+boSX6gXduC84qiROFQ7fpHd4vLHfddJMfdL1vKOz1T8+d6pYXNHJJwL1RPMxedFb2LC82G069bHwMQ3oXjU26uhvxUfum5zw530Nwa4L4e1bwBgBPbW+KXexnJWMUnSW+kL8bX0BS9+CXpoRPXxcsZ5f5++LOf5sOMvRLFD8GxPp2PvhLcj7rtx7og8E4qXn82zPWRn+v90zp9tq7CdGFjpzTsQgwsrOlA3S0uCBLO5CY6k9fFIyXU0Luou+1lWnqwYJLrRQoDA7wUA6LB7K/5CP9nCvuPXoNMF+3x5yHVxf87L0KMVXlgvVqjDUeRv2JxTx3snuB3ndjp/SDsL8fheaCHwsqtnHzsb3sf8tJN3Jt1H7DQ/577r/H3XhKzEgBty/m1MJHcg5C8DuDINBM2uPnBvwX7jv/023JoH4s4O1U28ho+HdubG1y0XhnTOpxs+7iqrfaxrob5+8toFAN33UYVf6s+0sN83K+x3WEPh45eS70L2co9VbK1wLt+F/peIqiuuNV30lW3vhLbjrGM5x/HeEO6bAw3u45PQfBI+9914iJ3+kz3ncjXMTBOazQEQ8za8FG7OE3AlrZdec6cexCBBTOx3+5x2iJ3BDzOCNfFa6+pUjV2hnS/cXQsQLG7huKuMqni9hf2+7ZULALrv0VA+XPP2Fvb7ZYWXifNDerl/J2Sv813nvD/uwMtRHE5bZc7o3gltx2hTybE83sA+yjqmjzWwj+2hnWG67rvxEdtgT41OcEw8VzQVbH24NelgXolf6Mch03wc8fDphAcIml5J4ErF/X7WQn09GgCAsVD0tflIS/s8W/GFYsOIOpQv1dzO6orns6OFc4jDtGe/Np9OO0Q/DilA0JV2nFU2V/fdBvZxaAgBmLJ9vOm+G/l9Nyyx0/9q2mGLnbs4XSCOJohTT2LuiDh95q6K21qYBp8Op9fC1fBzHor4DIlf5e8ZwzpalZSD4eepFJM2xQAAYKieK3gB2tjSPg9XfAHb0+J5P5G+IDexTNrDNV4qX2rwHBal24xf0dbP+fN7hhQg6EI71gkQNDHNoKzzfmAI+9jrvhvpfUc3xVEXcbpETFAZg9vfzwmqtFHMqQcAJtLSnBfqS6H6slh1VX2xP9jwfu9Ogx7vh/IhtvFFs2z1hjhkMmaE/jrU+/L0VZiZF3xvAy/Eeds4M4QAwajaMc+WkuPY3MA+ninZx7oG9vFsyT6ecN+N9L4DAICJdiX0nyxskM5lTCh3ueCFfn/D+zwS6g8jXZKzrSVh8CGql1us34+HECAYVTsWyctw/nFD249Bs7z5uYcb3MfnOfv4wH3X6fsOAADGWt4IglElFNo55xie0zx9+2hIAYKutePs8oAxD0McBhzzMrzS8D7iXO7dYWaURtxHHMr8Qgv7iEOlz6b7+DY0v5Si+w4AALjJkxmdyB9HeDxzszY/pHnGNkCgHceL9gIAADITou0e4fG8kR7DGU0z1gEC7ThetBcAAEy5BSF7aah7R3g8s0uxvah5xjZAoB3H7zmgvQAAYMpty+hAnhzh8ewOP09xWKh5xjZAoB3Hi/YCAADClxkdyK0jOpY1YfBl3Bh9gEA7jhft1b/FSdmQlKeS8lKYSe74VPpnllIEAGCsPJ7RefwpzCyxNopjuZoew2uaZmwDBNpx/J4B2qu+B5PySVJuhOLlFE8lZW1Sjqb/f52qAwCgi2IQ4JuMF9pXRnAsccTC9TDcBHoCBNpx2mmv/rzScz9dDjPLaq5LS8zh8G3OvbdB9QEA0EW7Ml5eLyXl9iEeQ5zrfCCMNjghQKAdp4326t/OnnvpfFLuyfm3L2fce0+qQgAAhml1+hK7Nw0CxK+Ej4abpw2sCtlDY3cN+VjXpfv9LimPaLqxDRBox/GivfqzLNy64ktZvpY9Pf9+i2oEAGAY4lfBz0P+XNj4pSsOfV0efl7OrDf3wCiyl8cvavM031gHCLTj+NFe9WWNCCh7ZsblI8/M+fdPqUYAAIZhVyhOllVWNqlCAQIg15GMe6mKF+b8++2qEQCAYTg2QHDgA9UnQAAUOpFxL91X4efiUoizU7r2qEYAAIbhUJ/Bga+Tskj1CRAAhY5n3EvvV/zZT917AAAM08Y+ggNfJmWpqhMgAEq9n3M/VckrMDvN4IBqBABgWPZXDAxcCTPrds9XZQIEQCWPFTxT30zKbaoIAIAuvsTGnAIxc/bVMLMsV/zv92FmGkJMkmVKgQABUN+nBUGCuBLMZlUEAAAIEMDkWxZmlowtGqF1MikrVRUAACBAAJPt/gpBgrhqwVtJuV11AQAAAgQwue5KyqlQnu8lBhK2qS4AAECAACbXgqS8Eaolho1LJN6hygAAAAECmFwPJOXzUG00wcOqCwAAECCAybY+zKwWUxQkuBxmchgAAAAIEMAEm5eU55JyriBI8I1qAgAABAhg/O+njRX+7eKkHCsIEjyiOgEAAAECGO/7qc7983HOPbhTdQIAAAIEMN730481fmZ5zj24X3UCAAACBDD+91OdKQKnMu7Bt1QnAAAwTJ8KEEArAYIjNX4ua5rBJtUJAAAM0+WcAME+VQMDBQhiebjCz8RVDa70/Fz8/4tUJwAAMCz3hPwM6sdUDwwcIIi5CJaW/MxTGfffS6oSAAAYpqIl1m4kZZUqgoECBLHE/AJ35fz71eHWUTxHVSMAANC2+Um5L8x8sfy6IDgwd5jz60lZG2bWbJ+nCqF2gGD2XnozKevS+2lLyM47sM99BgAAtO1QhYBAlbJVVULtAEFRiaN14mieh1UfAAAATKaYf2BNmFmRII7c2T6nxFEEcTTBfNU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0YF5S1iRliaoAAACA6bI4KVuScigpV5Py56SsHdNzWZmU95JyOSnXkvJ9UnYlZaFmBgAAgFutSMqLSfksKTfSoMDcMo4BgnVpUODPGeXrpCzV7AAAABDC40l5KymnczrR4xwgWB5+Hv2QV465BAAAAJhGtyflyaS8n5RLFYIC4xwg2FPxvFa6LAAAAJg2R2oGBcY5QHCs4nltclkAAAAwbV5Kyjth5uv6gaR8GrLzDQgQAAAAwJSJyQkvTGCA4O2KAYL7XQIAAAAw49UJDBDEwEfZ6Ijjmh4AAAB+tnYCAwTRtoLz+T4pd2h6AAAA+Nm9ExogiB4KM/kI4pKH15PyXZgZMbFIswMAAMDNFk1wgIDJtSspq5wTAABAcxYIEDBmHk+vyy3OCQAAQICA6XRX+Hnlja3OCQAAQICA6XRiznW51TkBAAAIEDB9epfk3OqcAAAABAiYLo9lXJdbnRMAAIAAAdMjztE/P2Gd6Uk8JwAAQIAAWnNbUr7KuS63OicAAAABAqbD0YLrcqtzAgAAECBg8u0vuS63OicAAAABAibbmxWuy63OCQAAQICAybW/wjU5bp3pSTwnAADohHlJWR1mvsgdScpPSbmalOtpuZKU75PyYVJeSMrdqqzVAEHMyL4jKR8k5Zu0/mM7XEvKpaR8lpSDSXkyKYs6cM4PJOXtpNw7pGs1LmcX17s/nJRv0/q5ltZRvG7PhZl56W8lZUNS5negju5Iyua03U6k7Xitp11PJuX9pDyTlBUN7fNExY70uHSmx+mc7kzKpqTsS5+rp3uu1bn386Gk7EzKQx6hAACMSuxc7koDAn+uWd5Lyj1ztrU5/fPbGuhA55W9DXbSi8qREQUIHknKpzWPNXY03m2oQ1nHwqRsT8oXYTgjI+5NgxAX+2jPq2knbdiBrXlpB/VEn9dhDA49l9Z1XVv7rKsm78OmjcM5LU3Ki0k5NcCxxADXmz3PVwAAaNWa9EU06wX1RlLOJuV4mPmqebngZTZ2fj5Ifyb+/yUVOtAXwsyXtDYDBOfTzsS1MQgQxE7FoQE7OLH+9/TZmazjkTQgcTUMZ+rEknR/NxroBA6rjqItSfkx5zjiNflDen99XnJ/zXYYd9TY97MtdaJHGSDo+jktTQNY1wva/Ju0zb+r8Vz6IBixBQBAy17IeRn9JCnrQvaQ7EVpp+fzkhfaR2scx+1h5iv0mZZf4uOxb0hfzrsWIFhVEKjpp8Qh98sbvl7i9uJIk+/DcHMrrA/tfDH+tsVOV/zq+1nGPuM1/kqYmY4xL+Pn7q0QJIrBuDsqHMPzSfkoo5TVy6mcn+stz47gmdXlc3omJ8gT/+yNtM2zPJiU3WEmYFp0DjGY8JJfWwAAtGF7yB6mvqXGNjaF/K+eq/s4pvj1rco0hya+XL7foQDBw6G/kRRlJY6euH/AelqcdnxO1thvkwGCXTn7+Dw9rpVzOtrxv0vSgMI7ofyLfFN11GtzRnteTju38ypu44OS4/4p9J/rYRIT+o3ynGKA81jI//K/uOJ2YgBzT4Vz+bTGNgEAoFScp541tPWZPra1KqcjtqbPY9s5pADBPR0JEMREhBdCe0OmYwe47kiC2FF5Kikfh/6G9DcVIHgnZH+Br3ptxWDBhxXrqKmRBK9nbP+7UH8e+bKQP0x9bpDgjj6OUYCgObGdvs3ZZ79f+x8P5SNmvkv3DQAAAzsasodb92tTg53Ee8Pw5j6f70CAoDcZ4eX0/DaEm/M4xO3FkQYvFnRIijoTdVY5mDtk+0oawKiTw6GJAMHujO1+GWZGmdRVJUgQ63TQnAT7c+p+aZ/bqzLK5ZgAwcjOKQZn8vJLvD7gth+oECT4sc8AEQAA/MXynJfN3QNut3eI7YYBtlX21bqpAMHHIw4QHAg3T++IS/bdVnH7MShTJ2fBezWOPX75fLLnWOL57BtSgCAr4HQ6lCe+zHN7xbraM8AxZw0NjwGoOwfY5saK9b1KgGDo5xTvja9z9nWyoX08VuFZGBMeLgoAANCn53NeNDcOuN3eL/+bBthW2Xz8pgIER0YcIJgdQn6uj05eFL9Mf1UjSLCmgTr7puUAQZxycSljm4OuC/9iqLa6QT/z+rflbG/DgMe8KFSb4vGWAMHQz+mDgmuoyaVGXwrVVjgAAIC+HArtDQufOzR98wDbKUsuNykBgtmvzIOscx6TlVWdchBXH5g3YJ290HKA4JOM7R1soK0XhfI5/bOjOuqISRKzpl8ca+ga/SI0P81AgGAwm0MzI3Wq+rrC+W0KAADQhy9zXjA3N7Dt1Q29kE9TgGBDA+dxT6iWsT+Wpwbc19oWAwR5227qi+yxUG1UR50h23mdt5UNHfOuCsf8kQDB0M4pXhtFuUsebOHcVlU4v3PBVAMAAPpwKecF88OGtj8713u7AEHpS/2XDbbr8xUDBKcG3M+dLQYIToX25nNHz1Sso6pLfW4P+cvQNeWuUD7y4R0BgqGd02sF+/ihxfP7uMI57vLrDQCApgIE18NgCdVmzWZyf0OAoPSF/sWG27bqVINVA+zjtpYCBI8NoY7uq1g/hypsK07VODOkDnZRp/RCH/etAEH/137Rs+lAi+f3WIVzvJA+dwAAoLKiOc1NjCLY0EAnfloCBOsbbtstFTvAb7V8XmsbbIuHGq6jKss1/lRhO1tDfpK621u4bw+E7CUU7+9oZ3oSAwQ7SvbxZMvn+EOF89zmVxwAAHUcLHnB3Dng9uennaRBvqZNS4BgbcNtG79qn62w3x86dl4LQ/Yw+hth8KSKvb6sGEQp+xL7eWh/2kiv+9MO4DNpHfdbNwIE/TlZso+HWz7H1yuc56cBAABqWFfhJfO1ER+jAEH/9lTsAC/p0Hk9GfKnvXzUcDlXsX5WFxzvXQU/d3AMngECBPUtDoMHlQb1SKi2VKdpBgAAVFY0d3puidnZHxAgGLsAQZW5yoOsntDGeb1b8ZiHWYqWjSsaav6czvREntOmUL76xTCe3VWmyKzzaw4AgDq21ugo7Qv9f20WIBh+gKBqJ+KFDp3XNx0MEBStwnE4tLtspQBB987pnZLtXx7SeVZZzeBVv+IAAKjrkxqdpYth5qupAEH3AwTRRxX2fbAj5xUDGjdytnO0o/dO0TSFNTrTE3lOxzoSINgbmlmFAwAAbrI0VJtqMIppBwIEg3mrwr4Pd+S8ipYePN7B+6bs/FfrTE/kOZUl/xxWgKDK6K/P/XoDAKAfK5JyPtQffh1XKGhz2oEAwWCqLHd4rCPntT4Uj1zpmicECKbynK6XbP/KkM6zSpLZS361AQAwSJDgpz6CBG1OOxAgGMzaCvv+qCPnVRTMuNbB+6UsWZ0AweSd07wK2x/WtXpfh44FAIAJtSxUXx++t5xKyioBgk4FCO4ZowDBtjDapePqempEbSpAMLpzWlDxWThvCOd5W4XjuB4AAGBA8SV4X+g/63vM8r1IgKATAYKFYXymGDxTsq1VHbtPtof+l0cUIJjsAMFtQzjPLo1mAABgCsTOXT9TDmL5MSkPCRCMPEBQpRPRlSSFz5Zsq2vLBu4I7SwfKUDQ3XOaX/H5t7oj53rVrzEAAJoURwLsCfnLzxWVG2Hw3AQCBO13IrqyzGHZF/mXOnZvlI14eF+AYCLPqcqzcENHzvViAACAFsQEhh+F/kYTvCFA0OkAwUsdOa+yOf0fduyeKMuZcEpneiLP6XKFfbzQkXM94VcXAABtejQpX/cRJHhZgKCzAYINHTmvJ0u29VPH7oXNoXwEze0CBBN3Ticq7OO9IZxnlelDh/zKAgBgWJ2jH2sGCR4QIBh6gKDKnOnlHTmvKksyruzQPVBlHfotAgQTd07vh2orurStyioGu/yqAgBgWGLn88UwM8+1SoDgpADB0AMEi0v2e7ZD53Vnhe29PoLr/N6cwMTdob0lJAUIuntOO0K1/CvzWz7P+yocxzq/pgAAqCp2Xs41sJ1lSfm0YpBghQDBUAMET5Ts992Onde1ku2dS/c7LHFf36X7frSP440dxeVDPN67Qr0l9gQI6ru/4rOu7c75ugrX3oIAAAA1AgTxRfLuhrb3boWX5ucFCIYaICib1/9Ex86rSqBpmMsH7g3FIy0+qXC8bw3pWOOc9C/DzNSfhQIErZ5TleVf32n5PMuSZEpQCABAXwGCZ1rYZlPJuwQIBvNmaGd6QVvn9XqotnTb4iHcHxtD+VzuXaHacPN7hnC8b6T7+6BjnelJDBC8VWE/bSfVPFiy/x0BAAD66Mwfa3CbcbrB1YKX1rr7GlaA4NiEBgiKvsi/0sEAweOh2vDtgy3fG/fNufauJ2Vpzr97oOLxftby8a6bc6x1RgQJEPRnRcV2f7TF8zxVsN/4DF7kVxwAAP0ECGKn4rYGt7s/NJe0rSxAcKChYy5bkWEcAwQL0rbN2t+lMPgSfG2d17mKna/1Ld0XMch1NlSfIvBNxeNtK6P8/XPukzcb7kw/NYEBgqbOqcpyhx+0dI63h25MawEAYAIDBLFsb3C7G0NzIwjOhOZXRuhVJRv9OAYIthTs76WGAhBtnNebFTvcsVP8YMN1FkcKfBtu/hJ7R8nPPBuqL/W5qeHjXT4noBKHtNf9alyWZHH3GD7XhnVOD4dq00vuauEci/IPxPO/0683AAAGCRB83eB2izLnvzfAMbaVJb5sekEsR8cwQJD3hTN2gOd1OEBwV9quVTrc5xsMEsRO1feh/jSMBaH6qIdYNjd0vPeGm5PlbehjG5dCszlDumCY5/RhGE2SyqKpQ6/61QYAwKABglgeH0KAoO5IhbJEXINOM3i7Yqfu9JgFCB4M+V8X729oH22e1/4aHe74lX/bgOeyJg029AZSqq5lv6PG8c5OBRhkCbo4veLinO192Od2vgrtj9AZtmGe07KedsgqcZpPk0kqVxbsq841CwAAhQGCrxra7uaQ/7V/ac1tlS3T1+/X00Xh5q9/ZasY9HPsowwQnGwoQDOq84odr8uhXqc7JgJc1Udn63BOp65uIOWrmsf7Q6g/muDecOtX65gvYUmf9XyownVfNT/Jox15rg37nNZXaOvjDZ5f3oinK2EmuSYAADQSIIjluQa2ezg096V/cag23Px6jc7W1nBzEro4SmF1hX280WJHemOD7bozZx97Gr5+2g58bAv1OtyzJWZ335Xuu7fjvCT98zh14IvQ7BJx9/YR1Jjt4L+dXgNxuszc6R8L02tzZxoAyersPjxAHVdZpvHZCtuZDeR1YUrCKM6pyvKcTQTn1g7pGQIAgADBX4ZrDzKne0VOhz7OC+43cdb7NTpbcW7uhnDz8O345T8uA/dWT2Bgdrjx/IoBgj+nwY91aeCiqvmh3SSIcz2eU//vtHD9DGNkxAd9BgkGKW8PcLwbh3ys2xq4XqrkeSi6d18LzU9TGsdzKntOxWfrQwOc17Jw6zSY2bLTrzMAANoIEMy+PPczVDUuvZW3NveGAY7z3lA9aV3dL82zX5hXD7CdKqoMP392wPZck3ZChrW83jACBPEL+mdD7HA3sWzm80M61lcaONZ5BZ3OuSUmYdw+JzAWp+hs6bnfd3XkuTbKcyrLmRLzFfQz4iOupPF9S88NAAAoDBDMLiFXZ5j13QXBgSa+br3QcOfqi3Dz8PO6AYI4pSGubPBMjfr5qcJ241fIusuixY7NWzltuKnF62dYuRXi+Z0I7Xe4X2uwbtoOEuxo8Fhfa+B43u3Ys22U5/RKyXZjotA6U7lW5zw7LoZ2Vj8BAECAILd8E2a+UOV1WuN0hD1phzlrfvS2Bo+3zlSDohKHrS/MeAmv8sUxZtePUwz6yRQepzpUWRYt1lucchBzKizL2Vb8ShoTqMVs+FnLun0SBl/+sSsBgpDW94GWOtvn0jZtWjz3Cw0f60+h+WSAt4d6yzT2lv0dfLaN+pzitIQzJfv4Pg0ULMu53uOoq49zfvZEqB9IBACAgQMEvVmyv01/LgYOrpW8/D7UwjG/OcBLf/zi9lTOdlcXdB7fabhTFjPtHw7Vp01cSzuGn6TlQsHPxnZZP6TrZxSrM8RpFKcb6mzHOowjLxa3WEdxaPihho41XvuLWjrO2KG9WvOY4r9/vsPPt1GfU1wpYXfFY4ijfT5PAwLnC+7v+FzdFAAAoAMBgiolfjWL0wHmtXjcjyXl6xrHFF++Xy/pCM4NEMTREO+lf9bmeSxNOyMnwmA5Fq6lx/vYkK+fUQQIQtomce74V33W19m043bnEOsqLpn4QcgeaVMWlIsBquVDOMZHQ7VpMLOjcO4eg2dcF84pTmWK0w76DWzFayaOKFrjVxYAAMMWh7bGBIVxeOtLacfzWNrxj0PZr6Yd0tkS/yx+9YrTDIadwXxV2vGPuQAuzDmmK2nnMR77xlBtOsDKMPMFL06nWDSien8iDa7M1vlP6bn01nfMnxC/Sr+c1vm8EV0rowoQzBWHWW9L6+zTtH566+tk2vmLwZgHR3x/3ZZek/vT++binHsq/vd8ej3vSetu2G0bp97sSDukl+YcV7wW46iXF8P4DW3v0jmtTJ8x8Xo9kXO9fpXe36+m18D8AAAA0HFdCBAAAAAAI1YlQPCEagIAAIDJViVAsEo1AQAAwGSrEiBYqJoAAABgsi0M5asrAAAAABNuUSgOEJxWRQAAADD5ygIEh1QRAAAATL7bQ3GA4EVVBAAAAJPvoVAcIHhYFQEAAMDkeyLkBwcuqh4AAACYDutCfoBgn+oBAACA6bA55AcIHlQ9AAAAMB6WJuXNpHyWlK+S8kZSltT4+V05wYGTqhYAAADGw11J+Smjc38+VE8u+EFOgGCV6gUAAIDxcCzkTw+4HKpNEfgm42cPqFoAAAAYH1dD8RKFcXTBHQU/f1fGz3yblEWqFgAAAMbHhZIAQSzfhZk8BVneDrcGFJapVgAAABgvb1QIEMRyJimr5/zcgqTs7vk3carBnaoUAAAAxs/8pHxSMUgwGyj4MinX5/zZjaS8lZSFqhMAAADG284ws3LBn2uUGCSIyQhXqD4AAACYHPOSsiHt9B9PyqWkXEvL1TSAEFc92JeUjcGIAQAAAAAAAAAAAAAAAAAAAAAAAAAAAAAAAAAAAAAAAAAAAAAAAAAAAAAAAAAAAAAAAAAAAAAAAAAAAAAAAAAAAAAAAAAAAAAAAAAAAAAAAAAAAAAAAAAAAAAAAAAAAAAAAAAAAAAAAAAAAAAAAAAAAAAAAAAAAAAAAAAAAAAAAAAAAAAAAAAAAAAAAAAAAAAAAAAAAAAAAAAAAAAAAAAAAAAAAAAAAAAAAAAAAAAAAAAAAAAAAAAAAAAAAAAAAAAAAAAAAAAAAAAAAAAAoBP+PIUFAAAAECAAAAAABAgAAAAAAQJNDgAAAAIEAgQAAAAgQCBAAAAAAAAAAAAAAAAAAAAAAAAAAAAAAAAAAAAAAAAAAAAAAAAAAAAAAAAAAAAAAAAAAAAAAAAAAAAAAAAAAAAAAAAAAAAAAAAAAAAAAAAAAAAAAAAAAAAAAAAAAAAAAAAAAAAAAAAAAACNupyUP7dY6jjQ4H7XaloAAACo7mBSvk7KjQY75zHo8FFSDtU8lu1JOZKULwcMXJxJygOaFgAAAOqbn5Q1aQe9n055DDRsSMptDR7TwqRsSso3FY/hfFK2JmWe5gTg/2fvfiC3uv4HgB9JkkSSmSQmk8yMzExmIpnJJCaZmcRkJpmRmUxmJJlJIpnJJGaSZGImk5kxk2QmJjOZRJIkif2e8/vcvvv06XnuPfc+9z7Pvc/zenF8f7/1ec4995z799xz3gcAgOG9U7Jz4LWGy7M4e/nPK0PsRHha0wEAAEC9jiV2DlwdUXnO5JThz15arskAAACgfqsTOwh+HlF5fhuw/Zu99IzmAgAAgOZcTOgguDeCcjwzYNsxsOIGzQQAAADN+iCkjSJY3XA5Dg/Y7i5NBAAAAM1bk9hBsL3hMvRbgvG45gEAAIDR+TOhg+BEg9u/0Gd7cerDfE0DAAAAo3M0oYPg74a2vaPPtq730lOaBQAAAEZrS0ibZrCm5u2u7KU74cmAiOs0CQAAALPN66VNvfRhL33dS9/10q3sJfJ+4ktt3enIBNZzHMr/IGHf6w4Y+HOfbWxz2AMAAPCoUyAGxDuT+NKqg6Ae5xL2/XSN29vfJ/8DDn8AAACW9NInvXSzhZ0C09BBsDth3+PIjXk1bGtjn7y/cwoAAADwfpiZOvBvB9KkdhA8m7j/G4fcTow7MLcT6GqY6SACAABgSq3upV860jEw6R0EUcpyhweHyH9BL/06J7/b2XEAAADAlIqR8+90rHNg0jsIjiTs/6Uh8j/RJ7/XnAoAAADT64MOdgxMQwfBG4l18HSFvN/rk8+HTgUAAIDptb/CS/mNXjrZS2/10iu9tEg1NiJ1ucMdJfPd0CePk6obAACYBMdDc1+o7ySW4Vzo3pfwvSXLeD4Ygj5qZxPa5VSJ/FaFJ4MSxrgTC1U1AAAwCeJw6es1dwzcDzOR/P9MLEN8Sbs9xLZ2j7jO3ixRvvgC+aLDbCxSlju8G9KWO1zcS1fCk6NBnlbNAADApFkX0r645o0W2D3kC1P8EvtuSFsmMG5vV6hnLfsynuuley3tuOBxqcsdvpKQ13dzfhOnL7ysigEAgElWduj8o/RujWV4u2BbDxNf6uoWOzCuJtTF3730gkOpFVLa69OCPD4Pw8cuAAAA6KSTFToINta4/U0F2zo0pno5lFAPl4Nh521yOKHNfs35/Y4wXas/AAAAPCZ1aPbstK3G7b+Ts504tHvZGOrk+YQ6uNRLyx0+rbI58fjtd0y9GmZGq8z+uwuqFAAAmDbflOwgqHOpt+9ztvPlmOrjh4L9/6uXnnLYtE7qcofb5/wudpLNjYVxLYyncwoAAGCs1pXsIIgvYYtr2G78Av8wDBdQrm7rQ3Ek/OcdMq1VdrnDeAz+2aeN16pKAABgWv1YspNgTw3bfC/kB/8bh3MF+73LodJquxKO3VvZ3y7opYt9/n2LagQAAKbZhpIdBFdr2ObFnPw/G0MdrCzY54sOk9ZLjanxUi993ee/f6IKAQAAQvitZCfBGw2+jD87hv0vWvbRsPNuSFnu8Pc+/+2MqgMAAJjxVskOgmG+qOe9jP88pv3/JaTNW6fdvgjlV+aIS1YuVnUAAAD/Sfn6Ojutq7idSzl5vjeG/V7c0H4yeq+VPIZv9tIq1QYAAPC490q+XH1dYRtrQv4KCeNYXm5LyP+6THekLncYU1xFY4MqAwAAeFKM7H6jRAdBfMFaUXIbn+bkN6554PtzyiRwXfecTTx+P1JVAAAAg30cyo0i+LRk/n/m5LV1TPt8KqdMLzskOud84rG7QlUBAAAMtqSX7oZyc7gXJOb9Ushfn37emPb5xzB4ysM8h0SnxCkGDxOO20uqCgAAoNjBUG4UQWpgwbwI84fHuL+3Q/nI911KR6bo2N0Smhn5AgAAMJVWhrSvsI/SH4n5/pOTx4tj3N/7OggmxvHEOjF1BAAAINGxki+hrxfktyHnt7+PeV8fBB0Ek+KfkDYtBgAAgERrSr6E/liQX96X3Y91EOggqMHzobnlOQEAAKbamZIvomsH5BMD/eXN81815v28p4NgIuxNrI83ndoAAADlvFjyRfT4gHzeyPnNhRbs5y0dBBPhQkJdxNgai53aAAAA5V0s8SIah+o/1SePkzm/2dGCffxBB0HnLQ5pgTUvOKUBAACqea3ky+j+Ob9fEAbP8Y//fWEL9vHUgPL9o/k7Y1vi8fmhqgIAAKjucokOghghfv6s374d2h8s7pPQ3vgIpDmZeHyuUVUAAADVvRXKjSJ4d9Zvz+X83aaW7N+WnDK+r/k74UbCcfmnagIAABhOXIXgrxIdBFey3y0Ng+eFX2/R/uXNX/9Z87deajDNw6oKAABgeHtCuVEEr/bSrpx/P9Cy/csLxvii5m+1TxKPyddVFQAAwPBisMGbJToIzvfSjzn//lzL9u/DnLKe0/yt9ktIW2FjvqoCAACoR+qX2qL0Wwv37emQv0zeRs3fSssSj7mzqgoAAKA+MabAvRo6CPa0dP9O5ZT5WpiJVUC7bE885napKgAAgHodGrJzIH6lf6ql+7auoOzfaP7WORUsbwgAADAWK0P+UPyi1Pb5/GcLyv+JQ6A14uoadxKOub9UFQAAQDOODdFBsK3l+xa/NBd1gLznEGiFVxOPuROqCgAAoLmX6CqdA/Frbxciye9P2Jd9DoOxO5B43G1XVQAAAM05V6GD4FhH9i0OXb+UsD9f9dJCh8LY/J543D2rqgAAAJrzSoUOglc6tH+re+lWwj5d6aXnHQ4j93ziMXdfVQEAADTvtxKdA9c6uH+bQvrKDF/00nKHxMikxsH4Q1UBAAA0750SHQSfTME+3uulw730nEOjUSmBJB+l71QXAABA82LAwZuJL2rPdHg/3w3lp1Nc7aWjvfRmL73cSwscLrVYHNLiQ8wOjAkAAMAIHEx4SftpAvYzRsJ/EKov7zjOdGRCjrVVvfRLhf1/x2kKAADQvJRgce9OyL6u76V/dBCMVFxRYmOYmboxTAdNXHFiczCSAwAAoFH3cl7M4kvdkgna1xiI8IwOgsbE+AJf99LpMDNN42ED9RGP1z/DzFKd3/TSbqcwAADA8OIX3vs5L2PfTuh+v5G9ZOogqNfGMdTPaacxAADA8F4oePl6fYL3PXaOvBdmvnTrIAAAAGCqfZjzYnoje4meBq/00vGQvqqDDgIAAAAmyo85L6ZfTGmdxMCNb2cdBjFewbVeuhtmpmKMI33hMAUAAKBJT4f8L9cvqCIAAACYfHvC4M6B31QPAAAATIdLYXAHwXuqBwAAACbf+jC4cyDOt1+kigAAAGDynQuDOwg+Vz0AAAAw+V4M+cEJV6siAAAAmGzzeulyGNw58K0qAgAAgMm3L+SPHnheFQEAAMBke6GXHobBnQNnVREAAAB0x5Je2h9mpgo8yF7u4//G1Qd+CzPTBD4Ij8cSWNhLv+d0DsSOg7WqFgAAALphaS9dCfnTBGan09mL/9cFf3dE1QIAAEB3HCrROZCabvTSMlULAAAA3fFPAx0Eb6hWAAAA6JYHNXcOHFalAAAA0D1/1dg5cL6X5qlSAAAA6J66YhDEzoHFqhMAAAC6Ka5icG2IjoH7vfSxagQAAIDuW9FLv5bsGLgXZuINrFJ9AAAAMFk29tLxrLPgbpgZHXA/6wz4u5dO99LBXtrcS/NVFwAAAAAAAAAAAAAAAAAAAAAAAAAAAAAAAAAAAAAAAAAAAAAAAAAAAAAAAAAAAAAAAAAAAAAAAAAAAAAAAAAAAAAAAAAAAAAAAAAAAAAAAAAAAAAAAAAAAAAAAAAAAAAAAAAAAAAAAAAAAAAAAAAAAAAAAAAAAAAAAAAAAAAAAAAAAAAAAAAAAAAAAAAAAAAAAAAAAAAAAAAAAAAAAAAAAAAAAAAAAAAAAAAAAAAAAAAAAAAAAAAAAAAAAAAAAAAAAAAAAAAAAAAAAAAAAIzSv1OYAAAAAB0EAAAAgA4CAAAAQAeBJgcAAAAdBDoIAAAAQAeBDgIAAAAAAAAAAAAAAAAAAAAAAAAAAAAAAAAAAAAAAAAAAAAAAAAAAAAAAAAAAAAAAAAAAAAAAAAAAAAAAAAAAAAAAAAAAAAAAAAAAAAAAAAAAAAAAAAAAAAAAAAAAAAAAAAAAAAA6nWsl/4dkPZ2oPwf5ZT/qOYFAAD6eTvnRaLOdKdEmTY2sP0jmpoS1uccS5c7UP4rOeV/WfNCK6zupS29tKeXjvfSt730Qy/dzO6Z97P0MPvfu710q5e+76VTvfRp9vvlqhIAqPNF6HT20vOwgRfz+FDzcy99VaJMa3vpZC+d66V7NZQhPmzt0NSU9GfOMbWuxeV+KafcVzUrjE3snPukl87XdG+bna5kHQbPqmYAoC7ze+n1XvpmyAeVP3rpg156rsYXnrMVynGpl97qpXmalgr25Rxbh1tc7iM55d6nWWGk4oi4ODrgZhjNaL2YLmbbBQCoTXwpv17hweRYgy/kRxPLcCPrGIBhrAr5o1La2PE0r+BFZJVmhcYtCTOxSq6F9Cl4sWM+TjXYHGZGASyck+fiXtrUS++HmdF1KSP+vuulZzQHAFDnC9KNEp0DccjkgjG9sD1KZ3ppqaajJhdzjrUtLSzvlpzyXtCc0HjHQBzmfzexUyCO9nm14rae7qVDCR0FsSzbNQ0AUJc3S3QQfN9wWVYWbH+v5qJmO0N+Z1TbnMkprzgc0JzdYSaAYMoItw97aVFN241T+f5M2O4nmggAqMtPiR0EfzVcjl0Dthu/oGzTTDQgPsQ/GHDcxf++rEVlXR4Gf02MZV2oOaF2MajupYT7Yzw3PwszUwWaOPev6CQAAEbl9cQOgocNPfxEcerCnwNefF7XRDTo65xj/v0WlXN3Tjm/1oxQuw/C4A7EuUujrm24LCtC2pTAdzQbAFCHlCGMMTUVHPDzAdt7Q9PQsE05x/uvLSpn3lfMTZoRahM7ws+E9MC9C0ZUrq0hLVbQGk0IAAzro8SHobMNbHvHiDsjYLa4MsA/Ocd8Gx621+aU77omhNrEL/WXE++H746hfClTAi9qRgBgWHnzm+dOM3iqxu1uDAISMn4Hc475z1pQvgM55Tug+aAWcfnBlOV/74eZ5QrHYXNi58VWzQkADOtk4oPHvpq293yYWQpqbv7HNQUj9nxo7xf6ohEOazUf1HINSJnjHzsHxj2l55+Ecl7SpABMqnnZzTguGxQDcX0XZpYaupfdqP8dQzoyoXX9ShjdagZPh/5fas455BmTvDn+G8dYrq7ESMC9r6vWJHYOtCUuzvHEsq53GgEwSQ9G28NMkKCUCMIekurzR2IdDPPCFANAXRnwsrPY4c+Y7AntXCUgb5WF3ZrNvc+9byhxytzfifvflvNta2J5DzulAOi6JWFmHd+bLXwwmpYOgj2h2WCF8QH4fJ/8roV6YxtAWXlxOOLL2qIxlGlRzoviw6zMuPe591UTVx/4NXHfv2xRuVckllkAUwA6La43fqvlD0fT0EGwJKR9uXqYPaSU9VWfvGK7m0dNG5wN7YpY/m4Y7YoiuPdN073vq8T9vhxGt5RhqtRpJs86xQDomtW99EtHHo6moYMgSp3fWDZY4b7QP+DTK04DWmJbzvF+YQzluZhTnjc1l3ufe19lbyfu8/2WvmT/llh+1wkAOmVL6B/F3kPSeL2YWA9/1/Awtt1pQIvML7gmPTPiF8hB5bgdZqbr4N7n3lfeihL1/2FL9+FMYvkPOt0A6IoPOvhwNC0dBFHq14nXE/LaEPpPW9jrNKCFjoXml/hMsT+nHEc1k3ufe19lZxP3t81LBaYuS3zKKQdAF+yv8GByI7shvhVmhqQvUo2N2pXYLkXLEsbYAv3m1x5TxbTU+g68qL2smdz7qGRzibp/tcX7cSJxH77T5EBbpM5hrppisJj3aszvdU02MntLtk2MeP+aahu5+BB6N6QFK1w5II8YYf3vCp0KMG5/trhz4A/N495HZVcS6//7lu/Hl8FKBkDHHMwuSnUv2XM3yzN2EOwMw8/hi8Oe49fNDZpsJN4s0TYxeNOLqmysjia21f4+v10c+i8f9WvwBYz229fiDoJ9LaqnGLNhU5hZHz5+0YxDt3/P7tN3srS4Yt5ns9/fyvKLARtPh5kPEO/00vPufZS0vUQ7vNTyfUkdQXBTswNtFL8unhrygehYGPyVMq6d/lEYvH713HQn68CIN2BBnkbnuV66F9IiBu9WXa3wfEgPVjj3XPquz99dC9ZtpxtWtbiDYNWY62ZhmOmgj+d4v9giD7NrwrnshX5hxe18EmYCsV0Igz8GxO181ktPu/eRIDW2zk8d2JfUGAS3NTvQZlWnBKQOp0yZ1nDGC8rYHiivJr5ovqC6WuXnxPP0jYJzMX4FXKM66ZAfW9g5cGGM9RE7Jj4f8LJ7I/u3OCR+fkPbj5Hn9/TSXwNerve18Bhy72uPl0qcZ+90YH9SVzEwggBovSrRe/9MzPurgnw+V/1jcyihnS+Hdn8FmlY7Qvp82WjvgIf3V1QlHbOzhR0EO8ZQD8t66XDoP0ovTiV8N4x2NF586T6Rcx1a3KJjyL2vPVKnzMX71YIO7E9qLIWLmh7ogtRhUbPTswV5xlEBefEILPMyPinD1C8FIzvaKn4NvJV4ng4KwvWmaqSDYqyMB2FwcM4mrlnLw+Dpcg9C9eH6VcU52zfC4Kl/43wZPxPyOyvd+5jtRpicZQHnhfRptac1PdAF8YEiZcjd7PTFEJ0O10K7vihMmx8K2jYOF31KNbXaoVD9i+de1UeHfZ1zbO9pYHt7crb39Qj3O+8rfeyoeKsFbbMi5yXpY/c+ZllX4p61vQP781woF8MLoBNeDOVXG1gxIK+Nobvr2E66ovXE46oUz6um1lsTqgcXhS7Lu79camB7l3K2t3FE+/xUTjnujbAcKQaNIojDxFe695F5v8R9qwudNm9NWIcHwP+U/SrZ7+vJ0tA/YNGjdFg1j9W5gjbdpYo6o2zAtrOqjAkQh/L+k3OcP1fjtvK+Co5qLfPV2bYGlWNzy9rn3ZyyHnLvI5M6tfVOR/anzMpgazU/0CVxCOOfJV86Xp6Tx5c5f3s1jH6+Jv9ZGQTOmSRl1o/+NczM34ZJcDDnWD9Y43YO5GznwAj285mCzpBhVwmIgfg+DTOdhzHVMUXj9Zzyxtgp41jK2L2vfX4Kk9OxHY/pm8EKBsAEKxqGNzf9PuuGXzTs+WXVO1Z7g17tSRLPu9QgTy+pLiZIXrC5Or/sXx/j9TIGyvs7Z/vfD5n/ljCzHnvdo/yKXsbHMR3Cva99bifeu050YF82lHhm/lLTA12VuvTM3K8Ym8J4v7aQ75dgVYlJ81niOfqZqmLC5MUG2FRD/nmxDn5teN/ikm4/h/xh1yuG7BwYlHcMMvj0kGXPuxZ94t5HGLwaydx0tAP7crzE8/JGTQ90VVxh4K8SF7z4QBHnag4aWhjXhp2vWsfepnltuE4VddKqxHM0DlOep7qYIE2vLnAiJ//dDe9bUSf9B0PkHUf63SvIf8uQ5c/L+xv3Pko8Xx5p+X4sK9HZ8ZdmB7puUyg3iuBK6P9V4qEbcCvkfTG6rHo67XziObpVVTFBlofBS+rFB/ZhYm4synnof5htuymbQ/G0vmH8knCteLvBl79LIz5O3PvaKfWluu0dBB8HSwwDU+ZEyU6Cy6Edwwl50v7QriGf1CPOxb6TeH5+r7qYMGdzjvcdQ+S7M4wnaNqSkB/3IKY3hsh/W+K1oskOgrvufWTHQdenGMSOxNQ4QDFA52LNDkyCpSUufoO+FBjW3A55S/AIHtlNTye8TMxNq1QbEyTvhffCEPn+kJPvmw3uzxeh2a/vvydeJ4bdx7y877v3EWbieKQci1+1eB/2lbj3fqjJgUmytWLnQBw+JjJwe/yY0046cbpncYkHrNnpU1XHBImxbfKioVfpEMuLwt/kMn3PhsFTJup4cX+1xHVimCCPRUEKH7r30fNt4rF4uqXljx30qaMg/nCsAZPomwovIh+ptla5HaqPBOlCOjJl7fldxXq67kGFCZMX0G9fhfzy5hQfbnA/vi44d68Nmf9XJa4TC4fYzpLQrhEE7n3ttD9x/661tPxnSrTRqy7TwCSKAZlulbxpLVNtrXLfQ9JEvxDFh6gfEutqi9OBCbI+51i/WiG/q2H0Q9JTViMZJsBZ7BRMjVVyfch9KQpwfNu9z70vDF71qt+Ik7atgvV2ifb5wiUamGRvlbxpWVu4XR4ED0mToN/SbjFOyDO9tCGxrs47HZgwf9b0Uv9SyB8m3JRDCS9Jw6ycUGZ6wbD37i2hXasYuPe10/wSbfNai8q9ukRn2y/BEt/AFDhX8sZlWTUdBB6S6tNv+bO4nvmLs/7mahCskOmzr6Zrw5FQ73SFFPHr/s2C83XYlRP2lriWvjvktt4ryP9b9z73vkzq9NWDLSnv0hL32DgS52mXZmAarAjpPaePvmwuV22tcM9DUqetG9CGm+f83YeJ9bXfKcEEyRuinxpYMP5N3QEPU7yRcL6+NeQ2UgPCxbRyyG0VLY98wL3PvS+zMXQnDkGMy/FjYnnjNec5l2VgmvxS8ub1jSprhbIxJDwktUf8CvFPn33e1edvY+yPlC9mfzslmDB5D+8po9nyhsZfaLDcJ0PxikALh9zG34nX0d9q2J/zoV0jC9372u1yaH+gv3j+fV+ic+All2NgmnxU8Qa2TdWN3Q/BQ1IXxYjgV0K5r3Cp0co3Oy2YIDvDcEP086KS72iw3EWj8r4bMv95Ja6jdazVXvTFftSjCt372i01ds7FMZUvdrr/lFjG2JH/vEsxME3iEOeiNZrzelSfUoVjdSrnhkY7xQf7fl/jioKIvZx4Xp5TxUyQRWHw6JmHIX9lnWU597c6vuAP8kLCebpnyG2sCenR4oe9Tz9TsI0r7n30cSLxGH1zxOWK0wT+DOmjb8QcAKbuwSs1MMugdEY1jtUnQcC6rjnep63i17CUqMgpwzbjC8FK1cyUvGi8n/O793N+d6LB8qasDrRuyG1sTrxH1xE8cHvBNj5z76OPxYnPmDdGeM+K14TUJTLjvXqhZgSmzZehnqFwb6vKsdlS8cGZ8egXdTy+9C9J/P17iefkPlXNBMkLevZLzu/yYutsbLC8xwrOz3s1bGNr4rXgxRq2VTS96QX3PgZYlXUAFB2ncbnRJqeprAvpsbZuZMcXwNR5M+fieDeUn2qwQpWOReyhHzSE9mfV0yrbwvBLJi1KPD8FK2TS/JNzvD/b5+/zhuBfb7ispwvOz/MNXU/mpu9r2p+8r8BXxnQ8uPeNT/zav7TE3z8T0gJqxvNyfc1ljfmdLfE8e7TCvi1zSACTYEUYHAE4vnysDeWnHpxXrWNzMTT79YjhxfgBc4N83c7OtbKOJp6Tr6l2JsjBUG6I+6dhfEvy/Vpwbh4bUQdBHUuyPVuwjQ/c+6bO8axz5uUSv4mjAy4k3rtODtF+McbPq9n5/0coN122yv340SorGxwWQNflXaQfDc1bH8pPNdipasfiwyBgXZvFLww3w5MB0qo+UDwfBCtk+jwXyo2Y+Svn79c2XNbboflpeVtC8ZfQOnwQ8qdKLBnjMeHeNx6PVuBZULHNilbEGGZpzjdLPLPG+/BXoXpH2rrw3yjaeQ4LoMv25lwsf5rztwdLdhDEZZ0ERxu9OEQ9byWKjapobOJXk37RkrcPmW/K8kzxmDD1h0lyKfE6l7fE2q8jKGdRELTXa9hGXpDC+MJS17DnvNEQh9z7ps6SrG7vD5HHiuzFPK/tTlXMuyj+x6POhz1h+JgHjz62HXdYAF2Wt6RhvNivnvP3sXe4zBCtOuc8Us6pnDa5FmbmazJaMfrxz33aY28Nee8IghUyffbkHOtfzfq7vKB6u0dQzqLzcnUN23glJ/9dNe3H6pD/9bUNy7+5943Wo+CYd2rIKwYwjJ1MN0N9K2NcGfB8eyY795+pqR52Bh1RwAQoWtJw0DzCF0P5qQYiCI/euoI2+UYVjVy/wEhHasp7/oCHqrnpL83ABIlf/PI6uRdkadAQ5oeh2UjpjzwoOC8X1LCNRSFtJOAw8kYRHnTvm0qHw/AjCOaKw/P3z2m3bRXyWTonjxgf4IVQ//D/DbOuMaYXAJ2Wt6RhUcTfz0p2EMRAh8+o8la8kM5On6iikTnep/7P1ryNQ4nno68bTMt17p0sDfr3syMqY9Ec6zoMWvrx2ZryXxAGBzOucwqDe1+3zJ5y8lyN+c5dwvfVCnnMXfrzwwb2f2t4fCUh0wuAzspbL/l+wgNFfFD4vWQnwUXVPnJxWa+HBe3ynmpq3L7Q/6vewpq3szrxXDyrSZggeUHIfsjSoH/fOqIyFq0CVIfvBtzP65IXnHBXy44J977RWDCnni/UeF+b26leZZTN3BV+Xq9x318O/TuidMADnRTnCN7KuWmm9rCuS7gBj2OuJ4/bH8xLH6ddof882KaGNf8Q0oIVPqVpmBBxes3tnGM9L3DfqIYCf9twB8FLYXCg4DrE6QvXczph3PumU7/AmL9n9721Q55fp2s4ji/PKduSiteX57J9jfv1dRi8IorpBUBn5S1p+EvJvD4t2UEQh1k+qwlGKt6sLiW0TQzitVB11eqtAS8szze4zZ1BsEKmz9FQPjbO4RGW7+PQXAyCeX1ehGYHDqzDoNgDN0I7AhO6943HZxXOuyrpfIWyLRlR2WYn0wuATspb0jA+SJRdCzrvwaSuTgiGF4ee30pomysNv7xOk0Frkn/R8HaXJp6H14MvHUyO9RUe5l8eYfmKgvsOc90t+lI+bNT+vKB/bR9O7d7XrB9H9OJ9okLZto6hg8D0AqBziqYEVA3a81woP9Vgv+YYuU2JbfMwe4ldrsoq25ZTv6tGsP3UTjtTfpgkf5a4B/0xhvLlxSGoGgvh9YR93TJEmWOH47UB+b7r3jfV5ld49quaPqhQviMj7hwwvQDonHiT/yvkL302zBDHgxUupm9olpF7J5SbDnI41BuVeBrsyqnTqyMqw+nENo7Dg5dpMibEvhLXt30tuzZUme4QR0DcCU8u4zZ32PeXFcsbX3bOh8mYouTeV78NI3z5rtLJdTmYXgAwUHzxLwpcNuyXxNQe+rlTGl7TPCP3boW2ii+2cY7vm9lD6QLV+IT4NaXoi8WopteUGfZ5TtMxIVaVOO5XjaF88YV70Oo/Zaf8xCkVcwMz/hZmPgbENHtYfVzJoGycgHg9G9TR+GFHjw/3vnrtC6N7+S47/XUc8QdMLwA6I849/C7hwrZpyO1srnhBjcPT3tdMI7c966D5t4PpSAvrMz68XEo83p9puCwvV6jTc6G9gcagjJTOsQtjLF+c534vDLfs3o7spX/2b+Na9LOHxu+e8++nS5Rx+YB6vJu9KLv3ufeFxGfLOtLDUH7o/qjjD5heAHRCHDYchzOmzsmMwwjXVNhOvCC+Gma+XAxzcf05zEw5cIEdnfgF6h8PSUOJgce+CuXmYf6dPWTXfayv6KWPwpNDjssMqz2WdfYtcnrQUSmreOwYcxnfGPCSGs/ddQXneL/lEs+E/oEI544ASJnGEIfi3+izjdgBOikrELn3DW/eCDta/q5QvlHHHzC9AGi1jUO8IDx6Sfgnu4EW3WBvh/oD1DzIOjUYjeXZw6WHpHKO1/CAGc+1OPXnZNbJUCaievzbGNX5VJj5+n+7gXqOLwlne2mP04QOWVTw4hK/vLdhSbsNA17E41f62NG3Mvu7OKQ9TsU71me/4nmfFyhwfp8OhdiZv21WHczP7udxGcZ+QRTjl9EPwuR13rv3DeelEe736QrluxRMLwD4n5SIxnVc7DY2eKG9oxlH7o1QLgL4tD8k3Wxgv94usf23W/5wBuN0ItS7XFpTYqyAz0P5L7GxczKuOpQaYDSOCvir5Dbi/SDGGlg84ceKe181e0J7v84vDqYXAEAt4g0uzoG96iEJ6LDVYWaqQb+0uoXljQHVYqdfHE0UI6/H0UX3sxRHCcSvod+EmaBw64fYzsasQyJ+Ob85azvxf+Mw7tPZNl5y73PvAwCY7ZUw02vfxJdyD0kAuPe59wEAHRSjbr+dPTTFL0/Xwsw82ftjSl9oEgDc+wAAAAAAAAAAAAAAAAAAAAAAAAAAAACAx8wPM2vIr+ulF0v87ukws5zZil5aFGbWQQcAAKbY2vD4EkZ/hf+WMPp2wG9uZf9+u5f+6KXTvXSsl7b30hpVCo2JL/GbeunzXvoxOw9nrxF+vUReO8OTa4zfzs773b30lOoGAIDJ92wvHQgz6xnPfjmIHQNHe+n1XlpQkEf84ri5lw5nv5udz59Z/qtVNdQifuU/FGY65x6dZw/DTKfejl56uZcWVsg3jj5Ymp3Lh7IOgtn5x/N7ieoHAIDJs7KXToYnvxrG9H2YGXJcxfJe+qZPnvEF40T2cgOUt7iXDvbSgznn1udDnK9F5/LPc7Z1taFtAQAAYxKHE98d0DlwrKZtHByQ/50wM40BSLcxzEwZmH0u/R1mYg00aXl2zs7e7uVQPKoIAADogC8GvLjHdKbmbZ3M2dYBTQFJPu5z/lzOXt7Hdc3Yp1kAAKDbDuW8sMevk0tr3l7M75+cbX6sSSDXsT7nzbWKnQNVv/pvCf0DGM7XPAAA0E3bc17U/83+vQm7C7a7WdNAcudAXKng+ZL57An/ddTFlUleLPn7VQPO3S2aCAAAuicuUXYr5yX9jwa3Hb8y3gz5IxcWayJ4zEcDzpcPSubzZZ88fi+Zx4IBZflSMwEAQPccDflf8Xcn5hO/XMb5yKfCzHSFNYm/O1ywffOZ4T+vDjhPLpXM5/2cc25Rybz65fGDpgIAgG6Jc5UfFrygP5WQz9Y++TzM/nuRjQXbjyMMzGeGmbgd1wecJ+tL5BOXIryXc86VXW60Xx63NRcAAHTL3oKX858TX1ruDPj9jV6aV/D7+O8PCsrxpqaCgaN9zpXM50jB+VbHCIL7mgsAALrl14IXhcMJeewqyCMlWNmPBXmc0lRMubU550eZwIKLs5f3f2t6sZ8/IJ+HmgwAALpjScFLeUzbEvL5piCPAwl5fFWQxy3NxZQ7FaqP8pltR8G59mvJ/JYFIwgAAKDztiR0EGxIyOdSGP7r/66EsqzSZEypeOwPihWyo2Re3xacZ8dK5rcpDI4dAgAAdMQHCS/lCxPyuVuQx9mEPLYmlOUNTcaU+jQM/kq/sGRetwvOs60l89s2xHkPAAC0xImEl/IU9wvySAmg9lpCWd7WZEypq6Ge2ByrCs6xBxU6HPaHekYiAAAAY3S64GXhXmI+98LwIwheSugg+EKTMYXW5JwT20vmVTSt6EyF8g2asmDlEQAA6JBzBS8LdxLzuVWQzzcJeSxN6CA4rsmYQjvD4FUCltaU16P0eoXyXR+Q1zJNBwAA3fF9TR0E52t4sV+c0EFwQpMxhQZNBbpUIa+jOefX1Qr5rRiQ10XNBgAA09lBcLIgn7d0EEBlg0b6fFUhr+M559eOCvm9PSCvXZoNAAC65btQTwyCPQX5rK+pg8AUA6bRzVBf0M5BHQSXKpbtVOi/ssISzQYAAN1yNhRHNE/xakEe8xLyWJHQQXBUkzGFBgUBfa1CXoOmGKyvkNf8AWVzngIAQAedCvUsczgv6wjo9/sLiXlsSCjLu5qMKfRwwPmwvEJe/Ub7fFWxXNtD/8CJqzQZAAB0z+cJL+WLEvM6M+D3+xJ//1pCWbZoMnQQ/C/Nq5DXW3PyuBGqrzbwY58yHdFcAADQTdsTXspfSszr9IDff5L4+y0JZXlWkzGF7obqo3vmmjut6EDFfF7oU55bwdKGAADQWWsSXso3J+Z1Y8DvTyb+/t1QT8BEmDQ/1dRB8FyfPHZWLNN3NeYFAAC0xD9h+Hn/y3J+/0diOb4sKMcpTcWUOjbgnJhfMp9f+uTxUYXybO6TzxnNBAAA3fdFwYt5SgCzrQV5rEjI40JBHm9pKqbU5gHnxAsl8vh0QB5flyxLDIw4t1Pxai8t1UwAANB9zxW8mF9OyON4QR57Cn6ftwpCTHEd+AWaiikVz4+/Q/VVPeYGJpw9IuGfkB7sMJ6DcwMTxqlFz2giAACYHGcKXvCfLnh5uVnw+6JpBpsKfr9PEzHl+sXo+DHhdztD/6ChP8z6bzsS8lkYnow7EDsX1mgaAACYLPEL4N2cF/QPc377VigOdBjTrpw8vsn53dXs5QSmXb/AgIOW/lwcnhzZM3tFkbW9dD/8t/pA3goh8W+vzMnrUkibOgQAAHTQ2zkv6dezF4654pDjP8OTqw183iePO720qk8er4b8lQte0DTwv5f+i33OkdiB9ygGwOpe2hsejxNwNzu/55rduRc7CXb30pJZ53aMfRA77x7O2ebhoNMOAAAm3u6cl/Vvw5NzlU+F/qMN4ovMtT7/diU8HsxsQ/Zi0m97MSbB65oEHhNXLjjU56U9b/WPVTn5vRGKVzJ5lL4POuwAAGCqbAszX/sHBSyMHQB7s/977r8fn5XP82EmgFm/KQOxIyJvWkH83SuaAgaKL/1xykCMQxBHCMTpAnE0wV9hpjPvg15amZhXHA2wM/vd31k+97PrwPkwEwNktSoHAIDpFGMSnA5pXxUfvdD3i6geX1DOlMgnfhU90kvLNAEAAAC0R/xq+HGYCY52O8x8VXz0ZfGXXvqql7aG4mXSYgC0j7JOh9lfKO9l/3/8cvleLz2ly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J60pJfeUA0w0ZY6zwEAgDxbe+mfXnrQS8+oDphYZ3rp314620srVAdTIHaKvdlLR3rpdC9d66W7vXS/lx5m/3u7l37rpVO9tK+XNvTSPFUHAEybZb30bfbCENMP2cMUMJk+nHW+x5ei7aqECbSgl3b20oWsE+DfCil2InzVS+tV59gcy2mfvR0o/0c55T+qeQFom429dGPWzepkL81XLTDxXuulO7PO/fgStFC1MCHeCzMj4vJe/uNouZ976VIYIBm8AAAtmUlEQVT2fxd1FvzUS+tU7citz2mTyx0o/5Wc8r+seaEVVvfSll7a00vHw8yH0/jB9Gb2rHQ/PD7iLHYe3+ql78PMqLNPs98vV5V03WdzblRHVAlMlRfC4x2E8WF7pWqhw57tpV8LXvTvhZlRNAtm/S52jL/VS78ndBTEr74600brz5z2aHOnzUs55b6qWWFsYufcJ710Prsn/FtjupJ1GDyrmumSOKXghzkH8+eqBaZS7BD4a9a1IHYYGE5NF80dFdMv3cpe2gaJnQbHEx8AV6nykdmX0xaHW1zuIznl3qdZYaQ2Ztf3mzV3COSli9l2odVi8MFrcw7eQ6oFptrTczoJ4vA5qxxMhxiEbxJiUGwLaXEGUh/UvkjIK3amPe8QGolVOe1wM7QzmOS8ghcRHUzQvLg6294+7z6DUuxk/ibMTDXYHGZGAcwdMba4lzb10vu9dC7x3vNdEACelnopPD6cOKbjqgXIOgmuz7k+CF442R0D72cPTXc6vi9bEh/8ynaGX0jIM45IWONwGomLOe2wpWPH5QXNCY13DMRh/ncTOwXiaJ9Xh3h+OpTQUXDXcxVtsyE8OfTytGoBZokvOnO/eG1TLRMlDqGPX0b+nvNw1FVxHmnK/NHY+bWoZN4rE/OOo2+WObQatzOnDc60sLxncsq7Q3NCY3aHmc7blFFgH1a4NwzyXMiPl/IofaKJaIPYIza3B+2XIMgS8KQYf2BuL/hm1dJ58Xofh1n2i+zf1Q6C5aF4pYJH6f2K2/gkMf9zDrHGxYf4QatNxP++rGXH5sOcsnr+gvqtDTOr0hRdr+O5GQO1L27o3L+ik4C2eyk8OXIg9pg9pWqAAXaFJ6O+W96tm+IwyxgMLW8udFc7CM4lvrzHToSqc9TjS+mtxO2863Br3Neh/k6gJuzOKefXmhFq90FIW672ctaR0KQV4ckp3f3SO5qNcVjV5wCNvWavqBqgwKk+L1lPq5bOiF9T9/fS7ZA2/7Jrtof0KNLDfqk5kLidW8FUg6Ztyqn/X1tUzryvmJs0I9QmjgI4k3iNPhYeX962SVsTyhM/vohhw0gtDTNr7M49GPerGiDxGjI3aGGcmjRf1bRaHB0Wh06mBGZ6lG53bB/j8Oy/E/ctdoqvGHJ7q0rU5TGHYKPiSJC8aSVteNheG/JjYQD1iNf2y6G9I7x+CmnLIMLInO1zEP6mWoASNve5jnyhWlr7oBSjKKcMsZw9FzpGbl7ZsX39qMQ+/lDTNn8s0SHxrMOxUQdz6v+zFpQvb8TJAc0HtYjX2esJ1+T7YXxxlDYn3je2ak5GYe+Ah5a1qgYoqd/QPUNk2yN+3T5coWPgiw52DERxBMuNEvu6q6btvl9im5YPbtbzob1f6ItGOHgOg3quASn3gfsteF5JCaR7SZMyipOmX+RcX/2AKlb3uabEh/Alqmbs7XI8FK+7PLdj4PMw/JD7cdpRYn//rXFfV5esZ4GAm5U3x3/jGMvVlRgJ1Gte1vZxybwYhPK7MBOT5F72kvrvGNKRCa3rNSG9k/iNFpT3eGJZ1zuNaPIC1W9pjTgXVeAkoKpjwVzrNj0cnazYMTAJQSYvltjvP2ve9l8ltr3PodqoPaGdqwTkrbKwW7NN3DN3DJZ6JpQbwaWDoLrY8Zoaf6Yt59vWxPIedkrRlEHrNX+maoAhPDvg2vKiqhmZODrs25IPiPcnqGMgWlly/0/UvP2TJbZ91SHbqLjW+KBOsviytmgMZVqU86L4MCsz3bcke96+2cJOgUnuIIirD/yauO9ftqjcKxLLLIApjT043Q+GOgLNOB8EPh2Hdb10bso7Bh55v2Q91L3G9Lslt68DrVlnQ7silucdH2c118Rcg261vGNgUjsIvkrc78thdEsZpkqdZiLALbU7MeBgO6lqgBq8NeAa85aqacTLvfR9hY6BQxPYMZDyQjiKOZ0bSm7/U4dxo7bl1P2FMZQnb/rLm5qr02IMkl860jEwiR0Eb5e4B7bxJfu3xPK7TlCrvDV3X1M9QA1ij3y/4bNxnvc81VPrS2jqknpzOwYmebTYvFAu2NfDBo7LBSXbRVC6ZsUVLe7k1P8zI36BHFSO266Rnbal4DjTQdCsFSXq/8OW7sOZxPIfdLpRp1MDDrS7bkrACG5y76qaocUI2D9X6BiIDxTTMLf55ZJ109R8ztslOykWO7QbdSy0I1Dk/pxyHNVMnfVBBzsGJq2DIHXkWJuXCkyNX3OqzQ0RIyTHdYNjJNaL2c3wfnaji/97L/tvv/fS6TCzfENcduglL6Nj8UxXDzSgc3YGAdnqFr9OpQ4/fJTuTVHHwCPvlayjpuZ8l40H8YZDvFHrO/Ci9rJm6qT9Fdr6RvYyGKfevRLGEyxzkmwuUfevtng/TiTuw3dtK/iC7OZ7aciL4N3spTQ+8Mx3XI/EoTC6AE2jdjw0d8O+09DD4KQHiWmyTf6ddS2qK7/XXSJqldchuUX1lBKXx7pc4R57IExnNPSTYbwrGDzydRCHoG3+bHHnwB+ap5P2lmznGMTXlN76XUms/+9bvh9fhg6uZBCDvOStKRlHDsT5kH+F8kMfY2dBDCyx0jHeiNgJk7fMyjMd37/3spOlzpt1PC5vhfT1seMxfHuIbU3auscHszape3mfu1mesYNgZxh+vt+DrJ03uEzU7p8Bdf6jqikUR9m9k700lD0/PgvTvUxa2ekXnzRUjgMly3HaYd+4fS3uINjXonqKz4ybsueS2IEWR9n8nt1772Sp6pSYs9nvb2X5XQz/jTKO17znO3Q8vVmifWPgQquVNGN7iXZ4qeX7kjqC4GYbChuHvRT1yMcb8qpZv4kv+kcbvpiSbmvbD7KarAvlo1fPHS0Qb4jDRPZeGGbmWd9K3N6uMPlTblaGwfEvUtOxMLgDMQZc+ygMXuu6X70fzG7Wpjs155tgiZ4qHQOxw7Psl87YMfBpsH56dL9k3TW1usbbJcvxt6Zr3KoWdxCsGnPdxGeX2Okehy73CzL7MDtGz2Uv9Asrbid2yMUYNRfC4A7+uJ3PQrtXWXkuzEzhmsYPQG2TOvXupw7sS+oIuNvjLuiyULxcR+wcWJzzYpr60K6DoDmnc+rx2wnc370Vj6k6A6gVPRzG8+KVKTsOq04JSB16mTKt4YyXqJH5OKcdPlM9j4kjYt4P+aP08joGlqnC/7eowvWlqbn/W0uWo4nVFHjSj6F9nQMXxlgfsWPi8wEvuzeyf4tD4puaDhwjz+8J/Ucfx5frfS08hmLnyNWQ1un3glOuUS+VOM+6MJ06dRWDsX7cXZzQORALWLRc0k4dBGMVL+oPcurxwITu98kKx9TGGre/qWBbh6b0eKwS6Td1msdXBfl87nIwUlty2uKa6vnfg2Y8J/4J5Uc7xY6BparwMa9WuL40NR/49QplWaMJG9fUM+kwaccY6iF2Kh4O/T/ixemB7464wypeCwcNrz4f2rXKx6GENo1xY552ujUudbR67Gxa0IH9SY2lcLHtvRi7a8xLB0Ez3iiox20Tut/PVjim6qyLd0L+vPdp/uJXpfOmaEj68pAfj8BKHaO3oqBNp3k+ZnzYjSMsysboiMf4fh0DlTqlBqWmRnK1qbOC/ywKgz+aPAzNjDBbHgaPpn0Qqg/XryrO2b4RBk/nG+fL+JmcToI2eD7hPL4UjFQclRuJ19YuPAPOC+mj7scWs+b9xAeV1N6YZ0K5qQa+LtXn8Jgejtrgm5IPZydr3Pb3Odv5csqPyfjwcbVk23wxRKfDtWCN8XHJu+7vn8L6WBJm5uCWDWiqYyDNWxVeyhc32NZly/KmJhyJvBUm9jSwvT052/t6hPud95X+QWguHkcZK3LuGx+3oHw/FJzDcarEU06xkVhX4tq6vQP781woF5dr5Iq+xFXtjTlW8kYpqng9ipakXODi8dgNcnFN59DDKe2USfVihbZZMSCvjaG7a95Ourxge79OUT3EEUMx7sLdCh0Dn+gYSFZl+HhT98CFFcryjiYcibx7xqURP4dtHNE+P5VTjnsjLEeKQaMI4jDxca52tj4Ux4R53uk1Mikfsx+lLnTalOngHkuHx8HQTEC3skO+jzv2h7ag4EX1/hTUQdmARHV8PcgLxidS9X8OlWybfl9a4otT3tKqh1VzKx/0Hg3nXTjh+/90dpzfC9U6BpY4hEr5vMJLeVPzrBdUKMunmnAkYpvnxf14rsZt5X0VHNVa5qtD/lLQm1vWPu+GdsZvOldw/u5yao1U6nTVOx3ZnzKrfa0ddeFiQLvULxxVLig/lNh5L1LD26iO/38kSpkHtKs1bPNiEL09RXw5LLuc28tz8viyoC0XquaxKlrTd/OE7neMDB6nxTwoeXzfyjoGTImp5nhoVzyjsmU5qglHJu9j2MEat3MgjDdI9DMFnSHDrhIQO0Fjx9bZLNXxkeX1gmvkOFb7WBlaHDRuSv2UeF0924F9icd0akyisaxgsC00G/F9R8mbpXk8w9k5ASdNHX4redwNs+xV0U3E+u+PW1+ybX6f9XCwpmRnAqN3oKCNPpmw/Y0P43E6XdnlfW9lD+o6Bqa7g8DIydHJCzZX55f9vC/3TX8FjNMd85ZO/X7I/GNQ0H7xVIYduVf0HDWO6RBFy2evdUqNXGosnxMd2JcyHzPHEsfsq9BsB8HykjfLLY7/oRR9vftmSuqhbOCqYXqC824iPzsk+zpasn0effHIW0rygGpthXcK2vLbCdvfsrF2/s0ecnRm6SDQQTB6ebEBNtWQf94ozqZjsCzInjnyhl2vGLJzIG/62NNDlr1tHct5y75bJWk8UkfodWFkVpl711jihfw2ggJeKrGNdx3/QzlbUL9fTVFdlI2av66B4/s9h2Rf8avpXyXaJj58xHmdg4YhxnVk56vWVngzTNc0p3jcvV/yeH6UYrwGAa50EDA6Ta8ukPeRZnfD+1bU8f7BEHnH0XtFcVW2NHjujPrj1uKGnhcZzfX1SMv3Y1mJzo6/xlXI+yUqvOp6vWVGKZiPN5y/1O//vBeGD4iXctPMi8K/zCE50KaS7XMl9P+C8dDNulU2J3T2zJvA/Y77FKd4/VHhJfGsjoLKqozg0EEwvfJWHIr37EVD5L0o56H/YbbtcV13fx8y/18SjuW3Gzx3Lo34OMkbLXHZaTQ2qS/Vbe8g+LjEPWLvOAo4P4xmnnaZOARuls12+Hw+RXURh6zdCOW+UpcdfvdpyP86SL4TJa9Bl8Pkz2nvutcS2nH1hNdBnOJ0RUfBSBzpeAfBEU04cnkjLXcMke/OMJ74T3Hlk+uhuThLqbHKmuwguDviY2R/mJ44Ol2SGlS/zR9DF5V4N4mxisYSp6jskjxVT/7NQQfBKMxLqN+dU1YnH5c8xssuOZUXkX+rQ7LQ0pKdOP2+KsxTja2SEnjntSmpi/gV6rdQraPgBYdSknc73kHgZWP08l54LwyRb96qXW82uD9fhGa/vv+eeCy/2eC5M+oluvOWnxM/Znx+TTwW2zydel+J+8OH4ypk2Q6CYxW382KJbQg0NlyvVFH9vjNldRJ71u+WOP5uZudFipdC+5bl6aKtFTsH4lAzUYTb5+mEtpu2zrMYv+enoKOgCW9XqNcFDZVlQYWyvKMJRy6Ons2Lhr6qQp4rx/Q8EFdJKlpBZZgX91dLHMubGjx3Ho74GPkx57nDs934fJt4LJ5u8fNR6jvJH+M+1soszfTdEC9pTY9SYOZrrPp90sGSD2ypgQXzeu0POxxL+abCg/VHqq2VFie03VtTWjevhJkvlGWP9XjvFWejvyodjIsaKsuiCmV5UxOORV5Av30V8vt4TM8DXxccX9eGzL9MDLGFQ2yn6D1h1CMIbofqIxu7kLo6tWl/4v5da2n5z5Roo1fHXdg/SxT2XsXejIVhND2Q0+4VHQR9rSzZEfZHYr7/5OTxosOxlBi86VbJG5wAkN3tINgx5XW0Lnvp11EwvNcq1OOzDV7HypblNU04Futz2uRqhfzyVk1qakj6qtBsgLP4vH8n8Ti+PuS+FAUtvj3i4+N+0EHQRq+H9JhibVvZqsxoty/aUOBTJQ+qDQ09MLa1Qbtkow6CgcpGun69IL+8eda/OxQreatkG1mHuJ1SvqLuVE3/7/kK9+BHHQU6IWcsrVB/TX2I2FChLM9owrH5s6aX+rzphn80WP5DCc/Uw6ycUGZ6wbD34y2hXasYPAg6CNpofom2aVPn6+oSnW2/tOVd+J2SB1WVoVLPJ+b9g/tV4w8n09pBsKbkcf5jQX55a29/7FCs7FzJdhIIsn1S5mF/qpqeuD6dCOVGOsX0ffZyMu3K1tvmhsqxuWQ5JnXJz67YV9MLVN5KGvsaKns8bm6G4hgmw9hb4lh+d8htFS1L/a0OAh0EmdQpqQdbUt7YiX01pI/EebotFR2/9twrcVDFHpCySy6kzhEUrGc4a3UQ5Coz9+ffMDgAXrwx1x3giBkrQnova0xxBYTlqq1VUqaUGUHQ36rswa3sw2nsKJjmyNpll5Tc1lA53ixZjr8c8mM/34YNLDiu54E3QvOxXr4tcSyvHHJbRUsejzqA+b2gg6CtNobuxCGIz0M/JpY3XnOea1tlHyh5YJXtEf0isSH1pA8nZSrHNHfCvFjyOD9e4cZ8wWE4tF9KttM3qqxz16EdqilXfNj+PJSfB3thSjsKyk7TeK+hcuwsWY5vHepjl/fwnjJCbcuYngdOhuJVfhYOuY2/E4/j32rYn/OhXaMFy8ZE0kEwWpdD+wP9xfPv+xKdA60cDbi4xIXg0SiCFYl5x5f+v4KhwqMwP/hyV+RiieM83mCfKnlj9uIznI8q3uy2qbpOdRC8pZqSxNExn4VyS7VOY0fBJ6Gezt9hHS9Zjv0O8bHL69RJGaJ/ZkzPA0Uj7b4bMv95JY7jOtZqL/piP+qRgj/oIGi11HgvF8dUvhhEO3Vp4xjw/Pk2V/ZLodyQmvOJ+b6bkNcJ96jaPJzwi8Kwyka8nvsAtyAMHv5bR4/9NFsXys8lnt37+pQqbIWUoHE6hMvX6Seh/FetaekoKDv3v6kAp6dDO2IhkG5Rzj39YchfLWdZzj2ryeeBFxKOrT1DbiM1btPDGu69zxRs48oYjotTOS9ztMOJxGN01EvJxmkCqSsExtE3T3ehsl8r2UlQNNUgzr0qWkv0fPbSRT1uFNT3MVWUPDQpphgEaHY00bxlSr5WtUM9pF0Nw/WIn1GNrZCy3Kql3aqJozP2Jlzn+wVdXT/h9VKmPn5rqBy/hnIBChc5pFv/ovF+zu/eD+P58JWy4s+wy6GmdrrVMU1me8E2PhvDMZE3KkmcqfZc91OeG+P9cuWIyhSvCalTA+OIs059VIzztP8pcZPbNSCf2CNYNLXghM6B2hVFgf9KFZVeTu/dxPrdpGor+zLUM2zubVU5dpsS2mm1ahpKvG/GL4R/Bx0Fj5Tp+L3fUBnKxIz4zWHcGnlBz37J+V1evJyNDZa3aNnmezVsIzW4eB3LrX5VsI0XxnBMbKnYacRorQppHeZxudEmp6msC+nxs25kx1cnxWFTqctIxBTnZK/JfhuHSsQvHHnzo+KoAisWNKNoyI2AbulxMeYOb4vDfAcNJ7yuWivLi/xddu51HIK9QpWOVdGXJ0u71XstiwH3rpU8T+K8zFcmrC4+L1kHz9S8/WdKbv+Aw7dV8j6MPdvn7/OG4Df9PFA0leV8DdvYlnAMf1/T/lwN7ZpeEC3Oed772enSqJXZ83aZa29KZ3k8L+vuII/5nS1x3T9aYd+WtbGRXs96XeoKihFPtsPBXOEm7Q7NBq6ZFHtKHrsxEuouD3u1WxEGz6uOnQNrQ/mpB+dVa2s7fB71nlN/R8E7Fe7XF8N4ozzX6dWS+751xMf93PSyw7ZVDoZyQ9w/HePzQNFUljqmkqZ0ENSxJNuzBdv4YIzHRF5Q6xedMo05nr0vlrlGxtEBF0L6R+2q7Tcvu9d8WvJ+eyYMXjo9z6NVVja0saHiyVt2qaW56fcwE6/gacf9SDp1inrQmBmie7PkS+ePDd8op1HeBf3RML71Fa45O1Xt2LxT0DanVVHjHTSXS54vP7X1AaTkg1uZa/qhmrf/RYltuw+3z3M57fV3n7/PG4W4tuGyFsX2qmOq3ZZQ/CW0Dh+E/KkSS8Z4THyYU7ZzTpnGXMnqeEHFNkuJpVd1ileZjuAYqPSrId4P1oX/Rsa2btRlLNyNARX7Ubbjccj62exkOZf93zH654GsInUKjNaiMJ65l11Udmksc0nrtbfghWW2gyXbJE5xWqmKx2J/Qdt8ropGIk71+LnkeRP/fmOH9/lwKBePoU5l6vqQw7OVLoW0mAJ5S6z9OoJyFn20e72m60feVL66hj3/2uLzJL6/PAzjiTMxrZbU8K6yIns/zWu7qivZFMX/ePROEEcpDxvz4NEHtONta6TXQv84AkeD+aNt93vBwSsw5Iw4D6jMqh1NLSc0jfKWNIw3hrlB7OIxW3b49PeqeSyK4qC8qYpGKr7MXJySjoIXQrkpj3XdCxeHcku0rnVYtlLe1MPZAZ7zgurtHkE5RxEENm81ml017cfqkP/1tQ0fGE/llPFadu5Tn0fBMe/UkFcMYBg7mfqNLKu6MsaVAc+sZ7Jzv67YNjtDSzuiPhpwMux17HZCUQ/XBlX0P4fC8HE1xNQop2hJw0FzDl+s0D6iDY/emYI2MapsPOJ8zvNT0FHwW4n9qyuS9LZQLu4D7bQ85HdcL8jSvZzngeUjKOeD0PxHoEGjUX+qcT/yRgYebMkxsS4I/D1Kh0P9o53jR+25Ixu3VchnaXhyFNoLof6P5htmXWNaM70gXlRODjgJPnbcdkbR8jTbVNH/rAzlvvyYhza8LwteSPJ8VrJ9YqDDZ1T5SOVF1P9T9bTigfdMKDddp0veKbFvda1VfzqMLzgi9cqLSP5OwfF1dkRlLBr5WIdBSz8+W+P7xqAAxXVOYWj6mIjpE6dNbWZPOakzttd74cnA48O+W33Y0Pvb7NW7WjG9IPYW/hD0eE+ChSG/h1nE/celzCnS2VLfxS8vPkbRw0d8qPg9lI/UzmjEnu68Drejqqg14jJtJyewgyAeg38nXhvuheG/ti4LxV90Z6/FTbvlBSH7Iec5eZSdP0Ur+9Thu9BsDKu84IS7WnZMrAnFH5Lec+oMbcGcer6Qvc/U4XgYfpTN0VB/rI9H4gi/fh1RYx/BF2+o54Me70lyLogiXubiX6VzID44zx9xWeON8/ts2w+y/43///s1XkibEoeW38qpz9Te2HWh/KiP3Q7zkVhd0A6bVFHrxE65Yznn1J0O7tOuEteGYV9GPiyxre0Ot9aL9/RBqwTk3XdGORT424Y7CF5q+FoQP0hez+mEaaP9Cef3PqfPUPoFxvw9u0avHfL8Ol3DcTx3daAlFa8vz2X7Gvfr6zB4RZRWTC/4PLR3HVKqyRsGd1P1lOpQaXKt4VRxXuMvoXjprDavaZ63pOEvJfP6tGRb3Qv1DY1ksLwRIneCALdtFgM6xfmfDyaggyAeZ5dC81/154X85e6GucYxPkcrPA8cHmH5Pg7NxSCYFwYvk/qgpvIPij0QV017uuPXlBjAcqFTqJLPQj0ri6UsW17WkhGVbXYa+/SCNSUK+kaYCcjmIa/9FoX8YY8rVNFjXqlw8r4ywvJ9H9LXXW3jV9q9BWUuG9U77yHGA3o7b/DHVU8nPJ09wN/rcAdBFINHpY40qjpK8v0S12UrF3TH+grPAy+PsHxFAXufHyLvoi/lw0btzwv61/aAqHGE3K2EY+HKkG0wrX4c0Yt3ldgzW8PoOwjGfj58PuIdfpA9eNzODoa4hMie7IJHvfKCwZk7/6Qy0a+vtehhoN+wpDZ1ABVNCaga4Oe5UH6qwX6HeaPOteQBmuHFUUtxpM71Du/DnsTrQpzTXfbDR4xofTMxf0vhds+fJe4r44gtcbWBDq/XQ7MrfywNg4PYvtuR42JTSF/h6oswmlUtJsH8MFzA8DKpyqj4IyN+V27F9IJvw+h7RfJeumLDLXCu1PZilrKmLzPKRL8eZdTaHaGDQ5NmPRDkDcH9a8jz/WCFunnDod6IeDO7P6DOL6mezur6cNmvGrqmf5OY75cOoU7aV+KeMo6553lxNqpMd4gduHfCk8u4fVbT8ZwX66xrc/fLPCvey9rjOadUrg0jfNes0sl1OUzZ9ILo09CeDoLZS2Gtc77U4ucBdfyPqnlC7MFM/SI0yqXzdoVqI3XG/WAfX/x/CM0GD9xUsW5ec7jXLm9Y7g7VwxilvMw/zB5SU3wc0q4136r6zlpV4p6yagzliy/cg1b0uR7KfX2M1+65gRnjiMqlWZo9rD52ApeNExCfrQYtBfphR4+Pdys8e8RRHzG+xZtZh4yPof/ZF0b3jll2utc44g+0YrrN8uxlsW2dBLEn8xXnzNDeyKnjF1TPE1K+SP804jJtq3gObR5jPcZ5it8llHHYeAmbK9ZNfBl43+Feq0FzV/8O4tYwfodD2rDOoqkwqYG0jqjyzkuZE31hjOWL89zvheGW3dsRnhz59Wt4fGj87lB9JazlA+rxbvai3GVxVZLUJU7bltp2ffpuRPv9sMLzyKjjD7RiesEjK7OXnrYdwLeysjGcQUNjPlM1fW+4RcflqOfKLctupmXPn3fGUH+xrHHEQ+r8zTjkcE2F7cSLZ1yx4bchrzE/Z51oXmCbu85YYpI2PdDfLrgmxJelON1gbjC2+EXnl5D2ceMtVT0Rdia097hHR70x4CU1Hod5I3FjnKJ+U4zPhP6BCOeOAEiZxhCfQW6E/lPOJmVVoTj6oo0fWbvUQTBvhB0tf1co36jjD7QyoHO8ef7RsoP4rHvU0LbUeKJMg3shf3j6kjGdm2UDuIxy6N7G8OT8xbLLEP6T3WyLbsa3Q/3BbB5knRrU27F2TecLLROHR59IvCbEL6k/FdwTZqevgxWCJknRalCxM6kNMTo2DHgRjx8WPgr/fWiLQ9rj9LpjffYr3lfzPn7M79OhEDvot82qg/nZPTpOwekXRDF+9PtgAu8Jy7OOFR0E1bw0wv0+XaF8l8IUTi8Y5GLLDmRD4Yc36MvHZlXzmLxAa+OeU7o2u7H/UVDGcXzZeD2M5sK4MTQ7rYlqvgj1RtOGpsUvmHEVp2G//sVAqwfCzBJoTJ68zqQTLSrn0ux4LvslNh7/ccTMssTtvBPyAw8PiisWP1gsnvBj5Y1QbvULHQQz9oT2fp1fHKZ4esFsTw3oHLievQC8nT0InshelM5lL543sp2KD9j3speX2WnYr31fuEcN7YXQvvlzXaqnR+n1FndsnJpT1jc1JyMQR9T0mwLzg6qhI+JSsu9nzzbns+eZuc8y8QtrnEZzOnvIjKO61qi6iRc7fnYOSG3sFFqSPaufzI7Xe3OO4fg1NAbtjEHh1g+xnY1Zh0T8cn5z1nbi//6dnSdxGy9N2fESn8Vi/IerOgiYpBtkv570hzWe4PHEiUO2YvDBLdnFI04hKOrxtERWPY4PqN+XVM3/fJhzHN4I7R4a9/ac8j6rORmBT0L/oa3PqBoAptQr2XN36upYOghonTgsZtAcuw9GsP04NOpAyI86yfCWhf7z1H5UNf+TF7W47SNZZp9D4kswCstD/9ED76kaAPh/MU7P21mHQRx1cS27d94fUzIym0J5a3l+P+Ky7M0pi/VC6zFo2cM3VM3/B6/qciyM2SuRHNScjEC/UUnn1MFEJbE5AGCK7M55KIg9W6OOxhuHb9/QQTCWB9rYm7l4yuslL1DKby0v++zYCXHEzSqHOQ1bH/oHbFs2ZfWggwAAmAhvFTwU7B9TufotFWKKQb1iHIh+a5ZP+5ykvKVM2j5k+kIQ1JPRiZ2J18KTS1U+P4V1oYMAAOi8+BBXtEza0y3qIPhdk9UuBhDrFzhl45TWx/qQP5pmUYvL/kF4PJDiUoc3DTsZLJmqgwAAmAhxGP+VggeC62Ms3x9h+HUrSfNqeHIFifiC+dQU1sW5nPPh8xaXe3PQwcNovdfnHNk5xfWhgwAA6LR3Eh4Izo+pbKsHlOcVzdaYbX3q++demj9FdfBiwfmwuqXlfi08vvrIRw5nGrYhzEz5mn1+fDjldaKDAADotJ8SHghujKlsX4buBYebBLv61PupKdn3OKLmcs658G1Ly/3OnBc1cQe6Y214fLmjGNjv0XJHg463W9m/3w4zo6xO99KxXtreS2tGWO5bYfTL4Lbd0TC+papGkW5qYgCYXAvCk19/BqXnRly2rQPK8WqL6i9+VV/SS+vCzFfnVDGeQxwFEVeFWJS9lLZNv+UuP5uCc2JfwXnQtqBr8dg5PKeMn7q0td6zvXQgPBnY7272gvl6KF6pJV47Nmftf3dOPn9m+Tc12iWuivFPMK0AAGCivBDShxX+MMJyvRGenAs/7tgD8UVsU5iZf/5jeDKoY5k4DTv77Fv8Ehi/FsalJtsy5z9+jZym4cMvhPwOs7MtfMn8LTw+9He7y1qrrQz9A/rF9H2oHgx2eS99E/qv+HIi1LtE7crsejd7tYI3NC0AQPc9F8rNPfwqNPu1Oy6V9cWAbf/SSwvHUEfxwfpQeHwobXzojkOBd/TSyxXLFUcfxOjym7P8b8/JP34VXNKCY2RDeHIY8Z6WH9ex3uKynHGqwKOOpvi/d7MX6tgRE4dCz/66Gtvw95xjP7bJ2pbt555Z5TtX80sg9dsZnvzS/ygdq2kbB8PgeeNv19Q58PesfOMognWaFgBgMswL/b/U56VfQ/3DrBdlL2z/DNhmfHFbPuK6WZw9bM+tnziCoIklH+P+/TxnW1fD+JaXnC1+qZ67msTelh7TsdPlSonj+XT24v91wd8daen5G78ab3Apa70vco6tMzVv62TOtg4Mke/aOdfoH8dwXQYAoGFFL0Z5D7XDvJjEl5u4BFucNnC3oENi1A+hsVzX55QjfjVr+ktZ3M87c7Ybv4IvaMFxEjtMTswp26EWHs+HQv1Ru2OQzmUuFTRwTMbrzNKat7c0DO5sjenjCnnG2C+zRxLt16wAAJPpmfD40mhlU3zAjasNxLnP/YbbL8hefOMSbHEJvfhV/ruQNnLhZBj9tIKP+5Tj8gg7Kfp9adzXouNl25wXhVMt6cB45J8GOgjMr6aq7QXHVlMxI3YXbHdzibzennW9/iu0K1AsAAANvfS1bZ3lHWOoh2N9ynKtYudA1ZfmLaF/AMP5LTpenso6Bh611eoWle1BzcfiYZcHhjhPbuUcW380uO14vbgZ8jt2FyfkE0d6PYrNcTTxNwAATEgnwf0WdA7EF89xBFvr1zkQ66NsvIUYOO7RV+z4te3Fkr9fNaBetrTwmIlTTDa3rEx/1Xgsng/tXIKSbjhacHztTswnXoO+yK6NcbrCmsTfHS7YfurIpDjlar3mBACYPjEI1aUxdQzEaQcvjGm/PxpQpg9K5vNl6B9gsYwFA8rypcMzSV0xCGLngK+lVBVHHT0sOMZSljPd2iefh9l/T3mxz9t+HGEwX1MBAFDknTATQb/pToEY/C1+GVszxn19dUDZLpXM5/2c/VxUMq9+efzgsEwSA7RdG+KYjKNGPlaNDGlvwXH2c+KxfCfn2lk0uiVllZo3NRUAAKk2hZnI9bdr6hCIX77iqgRxqcA2LM0WH8CvDyhrmSG1cSnCvECPZadM9MvjtsMx2YrsOCtzbMb2i0OyV6k+alB0/KXEtthVkEfKtKMfQ/GULgAAKC0u8RejWcdlCePa8Zeyl9b7c1JcsjB+3fo+zKzRfjz7XexsaNtw1kFzhM+VzOdIwUN4HSMI7jsES3u0jOav2XH56BiNnQF/Z8dxXFVjczDUmvosCcUdUtsS8vmmII8DCXl8VZDHLc0FAAAz8RYGPTSXCSy4OOQHdyz7Yj8/DB59AbTfloQOgpQRVEXxYFK+/u9KKItRMwAATL1Tofrc4Nl2FDx8/1oyv2XBCALosg8SXsoXJuRztyCPswl5bE0oyxuaDACAaRa/mA2KML6jZF7fFjx8HyuZ36YwOOI40H4nEl7KUxQtO5syFeq1hLK8rckAAJhmn4bBX+kXlsyrKIDj1pL5bQvVvxYC43c6FAfETHEvDD+C4KWEDoIvNBkAANNs0BKOZSN6ryp48H5QocNhf6hnJAIwHucKrgt3EvO5VZDPNwl5LE3oIDiuyQAAmFZrch6Ut5fMqygY2ZkK5Rs0ZcF65dAN39fUQXC+hhf7xQkdBCc0GQAA02pnGLxKwNKa8nqUXq9QvusD8lqm6WCqOghOFuTzlg4CAAAYzqAAYpcq5HU056H7aoX8VgzI66Jmg874LtQTg2BPQT7ra+ogMMUAAICpNWh+8FcV8jqe89C9o0J+bw/Ia5dmg844G4pjk6R4tSCPeQl5rEjoIDiqyQAAmFY3Q31LfQ3qILhUsWynQv+VFZZoNuiMU6GeZQ7nZR0B/X5/ITGPDQlleVeTAQAwrQYtHfZahbwGTTFYXyGv+QPK5usedMvnCS/lixLzOjPg9/sSf/9aQlm2aDIAAKbVwwEPycsr5NVvjvBXFcu1PfQPnLhKk0GnbE94KX8pMa/TA37/SeLvtySU5VlNBgCADoLH07wKeb01J48bofpqAz/2KdMRzQWdsybhpXxzYl43Bvz+ZOLv3w31BEwEAICJdDdUnxM819xgZAcq5vNCn/LcCpY2hK76Jww/739Zzu//SCzHlwXlOKWpAACYZj/V1EHwXJ88dlYs03c15gWM3xcFL+YpU5G2FuSxIiGPCwV5vKWpAACYZscGPCjPL5nPL33y+KhCeTb3yeeMZoJOe67gxfxyQh7HC/LYU/D7vFUQYooruizQVAAATLPNAx6WXyiRx6cD8vi6ZFliYMS5Q5Gv9tJSzQSdd6bgBf/pgpf7mwW/L5pmsKng9/s0EQAA0y4+eP8dqq8FPjcw4ewRCf+E9GCH8cvd3MCEMSDZM5oIJkI8l+/mvKB/WOI6Myjtysnjm5zfxY7IhZoIAAD6R/b+MeF3O0P/pcZ+mPXfdiTkEx/M58YdiJ0LazQNTJS3c17Sr/fS4j6/iZ2Hf4YnVxv4vE8ed0L/pVBfDfkrF7ygaQAA4D/9AgNuGfC38SH+eBi8DvnaXrof/lt9IG9d8fi3V+bkdSmkBRwDumd3zsv6t+HJUUenQv/RBvE6dK3Pv8XryexpSRuy61C/7cWYBK9rEgAAePKl/2J48svah7Metlf30t7weJyAOGT47T75zR4SfCt7KViS/Vv8IhhjH8Qhvw/nbPNwMNQXJt22MPO1f1DAwg+za83lPv9+fFY+/9feHeIgDARRGJ47IFANBs0NuEJFr1CHQOBIr4DEcwM0SU/TcAEUmn3Z2aQhm936/l8yAtEVbTphYWb2YLEVKdcycLZyW4GuO/IoAAAAgDydXHDLbNpLZ4bvCuu1Vj//PMVolPkCa6KZBM+F+SFt6HOzURqrD0Cch/LbPcSGRwAAAADUadOvlgHNIVCFgNoFVE0wWSwBvviX8iVUDdD7dW9fR+vp38OXxcnhe245sFp6/weLbU4fzw8pR+j41EeIzuoDT9XKdPUfHea55uuflYNOIbbccgAAAPz7AXiQavFxFzd8AAAFl3RFWHRNYXRoTUwAPG1hdGggeG1sbnM9Imh0dHA6Ly93d3cudzMub3JnLzE5OTgvTWF0aC9NYXRoTUwiPjxtc3R5bGUgbWF0aHNpemU9IjE2cHgiPjxtdW5kZXI+PG1pPm1pbjwvbWk+PG1yb3c+PG1pIG1hdGh2YXJpYW50PSJib2xkIj55PC9taT48bW8+LDwvbW8+PG1zdWI+PG1pIG1hdGh2YXJpYW50PSJib2xkIj54PC9taT48bW4gbWF0aHZhcmlhbnQ9ImJvbGQiPjE8L21uPjwvbXN1Yj48bW8+LDwvbW8+PG1vPiYjeDIwMjY7PC9tbz48bW8+LDwvbW8+PG1zdWI+PG1pIG1hdGh2YXJpYW50PSJib2xkIj54PC9taT48bWkgbWF0aHZhcmlhbnQ9ImJvbGQiPnM8L21pPjwvbXN1Yj48L21yb3c+PC9tdW5kZXI+PG11bmRlcj48bW8+JiN4MjIxMTs8L21vPjxtcm93PjxtaT4mI3gzQzk7PC9taT48bW8+JiN4MjIwODs8L21vPjxtaT4mI3gzQTk7PC9taT48L21yb3c+PC9tdW5kZXI+PG1zdWI+PG1pPmY8L21pPjxtaT4mI3gzQzk7PC9taT48L21zdWI+PG1vPig8L21vPjxtaSBtYXRodmFyaWFudD0iYm9sZCI+eTwvbWk+PG1vPiw8L21vPjxtc3ViPjxtaSBtYXRodmFyaWFudD0iYm9sZCI+eDwvbWk+PG1pIG1hdGh2YXJpYW50PSJib2xkIj4mI3gzQzk7PC9taT48L21zdWI+PG1vPik8L21vPjxtc3BhY2UgbGluZWJyZWFrPSJuZXdsaW5lIi8+PG10ZXh0PnN1YmplY3QgdG88L210ZXh0Pjxtc3BhY2UgbGluZWJyZWFrPSJuZXdsaW5lIi8+PG1pIG1hdGh2YXJpYW50PSJib2xkIj55PC9taT48bW8+JiN4MjIwODs8L21vPjxtb3Zlcj48bWk+WTwvbWk+PG1vPiYjeEFGOzwvbW8+PC9tb3Zlcj48bXNwYWNlIGxpbmVicmVhaz0ibmV3bGluZSIvPjxtc3ViPjxtaSBtYXRodmFyaWFudD0iYm9sZCI+eDwvbWk+PG1pIG1hdGh2YXJpYW50PSJib2xkIj4mI3gzQzk7PC9taT48L21zdWI+PG1vPiYjeDIyMDg7PC9tbz48bXN1Yj48bW92ZXI+PG1pPlg8L21pPjxtbz4mI3hBRjs8L21vPjwvbW92ZXI+PG1pPiYjeDNDOTs8L21pPjwvbXN1Yj48bW8+JiN4QTA7JiN4QTA7PC9tbz48bW8+JiN4MjIwMDs8L21vPjxtaT4mI3gzQzk7PC9taT48bW8+JiN4MjIwODs8L21vPjxtaT4mI3gzQTk7PC9taT48bXNwYWNlIGxpbmVicmVhaz0ibmV3bGluZSIvPjxtc3ViPjxtaSBtYXRodmFyaWFudD0iYm9sZCI+ZzwvbWk+PG1pPiYjeDNDOTs8L21pPjwvbXN1Yj48bW8+KDwvbW8+PG1pIG1hdGh2YXJpYW50PSJib2xkIj55PC9taT48bW8+LDwvbW8+PG1zdWI+PG1pIG1hdGh2YXJpYW50PSJib2xkIj54PC9taT48bWkgbWF0aHZhcmlhbnQ9ImJvbGQiPiYjeDNDOTs8L21pPjwvbXN1Yj48bW8+KTwvbW8+PG1vPiYjeDIyNjQ7PC9tbz48bW4gbWF0aHZhcmlhbnQ9ImJvbGQiPjA8L21uPjxtbz4mI3hBMDsmI3hBMDs8L21vPjxtbz4mI3gyMjAwOzwvbW8+PG1pPiYjeDNDOTs8L21pPjxtbz4mI3gyMjA4OzwvbW8+PG1pPiYjeDNBOTs8L21pPjwvbXN0eWxlPjwvbWF0aD59wmRfAAAAAElFTkSuQmCC\&quot;,\&quot;slideId\&quot;:2766,\&quot;accessibleText\&quot;:\&quot;min with bold y comma bold x subscript bold 1 comma horizontal ellipsis comma bold x subscript bold s below sum for omega element of capital omega of f subscript omega left parenthesis bold y comma bold x subscript bold omega right parenthesis\\ntext subject to end text\\nbold y element of Y with bar on top\\nbold x subscript bold omega element of X with bar on top subscript omega    for all omega element of capital omega\\nbold g subscript omega left parenthesis bold y comma bold x subscript bold omega right parenthesis less or equal than bold 0    for all omega element of capital omega\&quot;,\&quot;imageHeight\&quot;:160},{\&quot;mathml\&quot;:\&quot;&lt;math style=\\\&quot;font-family:stix;font-size:16px;\\\&quot; xmlns=\\\&quot;http://www.w3.org/1998/Math/MathML\\\&quot;&gt;&lt;mstyle mathsize=\\\&quot;16px\\\&quot;&gt;&lt;munder&gt;&lt;mi&gt;min&lt;/mi&gt;&lt;mrow&gt;&lt;mi mathvariant=\\\&quot;bold\\\&quot;&gt;y&lt;/mi&gt;&lt;mo&gt;,&lt;/mo&gt;&lt;msub&gt;&lt;mi mathvariant=\\\&quot;bold\\\&quot;&gt;x&lt;/mi&gt;&lt;mn mathvariant=\\\&quot;bold\\\&quot;&gt;1&lt;/mn&gt;&lt;/msub&gt;&lt;mo&gt;,&lt;/mo&gt;&lt;mo&gt;&amp;#x2026;&lt;/mo&gt;&lt;mo&gt;,&lt;/mo&gt;&lt;msub&gt;&lt;mi mathvariant=\\\&quot;bold\\\&quot;&gt;x&lt;/mi&gt;&lt;mi mathvariant=\\\&quot;bold\\\&quot;&gt;s&lt;/mi&gt;&lt;/msub&gt;&lt;/mrow&gt;&lt;/munder&gt;&lt;munder&gt;&lt;mo&gt;&amp;#x2211;&lt;/mo&gt;&lt;mrow&gt;&lt;mi&gt;&amp;#x3C9;&lt;/mi&gt;&lt;mo&gt;&amp;#x2208;&lt;/mo&gt;&lt;mi&gt;&amp;#x3A9;&lt;/mi&gt;&lt;/mrow&gt;&lt;/munder&gt;&lt;msub&gt;&lt;mi&gt;f&lt;/mi&gt;&lt;mi&gt;&amp;#x3C9;&lt;/mi&gt;&lt;/msub&gt;&lt;mo&gt;(&lt;/mo&gt;&lt;mi mathvariant=\\\&quot;bold\\\&quot;&gt;y&lt;/mi&gt;&lt;mo&gt;,&lt;/mo&gt;&lt;msub&gt;&lt;mi mathvariant=\\\&quot;bold\\\&quot;&gt;x&lt;/mi&gt;&lt;mi mathvariant=\\\&quot;bold\\\&quot;&gt;&amp;#x3C9;&lt;/mi&gt;&lt;/msub&gt;&lt;mo&gt;)&lt;/mo&gt;&lt;mspace linebreak=\\\&quot;newline\\\&quot;/&gt;&lt;mo&gt;&amp;#xA0;&lt;/mo&gt;&lt;mo&gt;&amp;#xA0;&lt;/mo&gt;&lt;mo&gt;&amp;#xA0;&lt;/mo&gt;&lt;mo&gt;&amp;#xA0;&lt;/mo&gt;&lt;mo&gt;&amp;#xA0;&lt;/mo&gt;&lt;mo&gt;&amp;#xA0;&lt;/mo&gt;&lt;mo&gt;&amp;#xA0;&lt;/mo&gt;&lt;mo&gt;&amp;#xA0;&lt;/mo&gt;&lt;mo&gt;&amp;#xA0;&lt;/mo&gt;&lt;mo&gt;&amp;#xA0;&lt;/mo&gt;&lt;mtext&gt;s.t&amp;#xA0;&amp;#xA0;&amp;#xA0;&amp;#xA0;&amp;#xA0;&lt;/mtext&gt;&lt;mi mathvariant=\\\&quot;bold\\\&quot;&gt;y&lt;/mi&gt;&lt;mo&gt;&amp;#x2208;&lt;/mo&gt;&lt;mover&gt;&lt;mi&gt;Y&lt;/mi&gt;&lt;mo&gt;&amp;#xAF;&lt;/mo&gt;&lt;/mover&gt;&lt;mspace linebreak=\\\&quot;newline\\\&quot;/&gt;&lt;mo&gt;&amp;#xA0;&lt;/mo&gt;&lt;mo&gt;&amp;#xA0;&lt;/mo&gt;&lt;mo&gt;&amp;#xA0;&lt;/mo&gt;&lt;mo&gt;&amp;#xA0;&lt;/mo&gt;&lt;mo&gt;&amp;#xA0;&lt;/mo&gt;&lt;mo&gt;&amp;#xA0;&lt;/mo&gt;&lt;mo&gt;&amp;#xA0;&lt;/mo&gt;&lt;mo&gt;&amp;#xA0;&lt;/mo&gt;&lt;mo&gt;&amp;#xA0;&lt;/mo&gt;&lt;mo&gt;&amp;#xA0;&lt;/mo&gt;&lt;mo&gt;&amp;#xA0;&lt;/mo&gt;&lt;mo&gt;&amp;#xA0;&lt;/mo&gt;&lt;mo&gt;&amp;#xA0;&lt;/mo&gt;&lt;mo&gt;&amp;#xA0;&lt;/mo&gt;&lt;mo&gt;&amp;#xA0;&lt;/mo&gt;&lt;mo&gt;&amp;#xA0;&lt;/mo&gt;&lt;mo&gt;&amp;#xA0;&lt;/mo&gt;&lt;mo&gt;&amp;#xA0;&lt;/mo&gt;&lt;mo&gt;&amp;#xA0;&lt;/mo&gt;&lt;msub&gt;&lt;mi mathvariant=\\\&quot;bold\\\&quot;&gt;x&lt;/mi&gt;&lt;mi mathvariant=\\\&quot;bold\\\&quot;&gt;&amp;#x3C9;&lt;/mi&gt;&lt;/msub&gt;&lt;mo&gt;&amp;#x2208;&lt;/mo&gt;&lt;msub&gt;&lt;mover&gt;&lt;mi&gt;X&lt;/mi&gt;&lt;mo&gt;&amp;#xAF;&lt;/mo&gt;&lt;/mover&gt;&lt;mi&gt;&amp;#x3C9;&lt;/mi&gt;&lt;/msub&gt;&lt;mo&gt;&amp;#xA0;&amp;#xA0;&lt;/mo&gt;&lt;mo&gt;&amp;#x2200;&lt;/mo&gt;&lt;mi&gt;&amp;#x3C9;&lt;/mi&gt;&lt;mo&gt;&amp;#x2208;&lt;/mo&gt;&lt;mi&gt;&amp;#x3A9;&lt;/mi&gt;&lt;mspace linebreak=\\\&quot;newline\\\&quot;/&gt;&lt;mo&gt;&amp;#xA0;&lt;/mo&gt;&lt;mo&gt;&amp;#xA0;&lt;/mo&gt;&lt;mo&gt;&amp;#xA0;&lt;/mo&gt;&lt;mo&gt;&amp;#xA0;&lt;/mo&gt;&lt;mo&gt;&amp;#xA0;&lt;/mo&gt;&lt;mo&gt;&amp;#xA0;&lt;/mo&gt;&lt;mo&gt;&amp;#xA0;&lt;/mo&gt;&lt;mo&gt;&amp;#xA0;&lt;/mo&gt;&lt;mo&gt;&amp;#xA0;&lt;/mo&gt;&lt;mo&gt;&amp;#xA0;&lt;/mo&gt;&lt;mo&gt;&amp;#xA0;&lt;/mo&gt;&lt;mo&gt;&amp;#xA0;&lt;/mo&gt;&lt;mo&gt;&amp;#xA0;&lt;/mo&gt;&lt;mo&gt;&amp;#xA0;&lt;/mo&gt;&lt;mo&gt;&amp;#xA0;&lt;/mo&gt;&lt;mo&gt;&amp;#xA0;&lt;/mo&gt;&lt;mo&gt;&amp;#xA0;&lt;/mo&gt;&lt;mo&gt;&amp;#xA0;&lt;/mo&gt;&lt;mo&gt;&amp;#xA0;&lt;/mo&gt;&lt;msub&gt;&lt;mi mathvariant=\\\&quot;bold\\\&quot;&gt;g&lt;/mi&gt;&lt;mi&gt;&amp;#x3C9;&lt;/mi&gt;&lt;/msub&gt;&lt;mo&gt;(&lt;/mo&gt;&lt;mi mathvariant=\\\&quot;bold\\\&quot;&gt;y&lt;/mi&gt;&lt;mo&gt;,&lt;/mo&gt;&lt;msub&gt;&lt;mi mathvariant=\\\&quot;bold\\\&quot;&gt;x&lt;/mi&gt;&lt;mi mathvariant=\\\&quot;bold\\\&quot;&gt;&amp;#x3C9;&lt;/mi&gt;&lt;/msub&gt;&lt;mo&gt;)&lt;/mo&gt;&lt;mo&gt;&amp;#x2264;&lt;/mo&gt;&lt;mn mathvariant=\\\&quot;bold\\\&quot;&gt;0&lt;/mn&gt;&lt;mo&gt;&amp;#xA0;&amp;#xA0;&lt;/mo&gt;&lt;mo&gt;&amp;#x2200;&lt;/mo&gt;&lt;mi&gt;&amp;#x3C9;&lt;/mi&gt;&lt;mo&gt;&amp;#x2208;&lt;/mo&gt;&lt;mi&gt;&amp;#x3A9;&lt;/mi&gt;&lt;/mstyle&gt;&lt;/math&gt;\&quot;,\&quot;base64Image\&quot;:\&quot;iVBORw0KGgoAAAANSUhEUgAABdkAAANACAYAAADXaGQiAAAACXBIWXMAAA7EAAAOxAGVKw4bAAAABGJhU0UAAAGnkY2VlAAAgABJREFUeNrs3Q/oVOWeOP4HEYmQuGJS0Q0vISEREbTSDVdaQURERGSlFVdKXEIiQkKoaKNCYqNv9ItWXERCQkJow5WudAMJCYmQjVa60Q0vIiIhIph4xcSE+zvPnfnUx/mcvzNnZs7MvF7wsHvzM885836ecz7zec9z3k8IANCdxUl7VRvZ9k+mMAAAAADAcB1L2t+0kWyvmr4AAAAAAMMVV7P/NUhYS7IDAAAAANCVJ4OEtSQ7AAAAAABd2xckrSXZAQAAAADoytyk/TlIXEuyAwAAAADQlQeC+uyS7AAAAAAAdO3VIHktyQ4AAAAAQFdmJ+1YkMCWZAcAAAAAoCu/DcrGSLIDAAAAANC1fwv9TRAfCa0k8Ti0/0ravqT9MWl/StqFIMkOAAAAADDx9of+JYhjIvrOMY7d7UlbkbQdSftD0n4MkuwAAAAAABNlbtL+Evq7mn32hMQyvs9VofXFxU9Bkh0AAAAAYCL8Q6gvKZzWXpjAmMYV/P8Rel/d/qrpCQAAAADQfNtDf2uLr5jQuMZk+x+CJDsAAAAAwFiLpU6+DP1Lsp8N412fvcgzSfs5SLIDAAAAAIyt34bWZqXqs/fHv4bqifZXTUsAAAAAgNERE8H9LBvzwoTHt2pZnldNSQAAAACA0fI/oX9J9riS+x8mPL4HgiQ7AAAAAMDYmpu0vwT12fvlN0k7FyTZAQAAAADGVlxt3s1GnWVbXC0/yfXZ/yVIsgMAAAAAjLUdob/12Z+Z8PgeC5LsAAAAAABj7Y+hf0n2H5P2uwmO7bogyQ4AAAAAMNYWhVYyvF+J9v8Nk1025k9Bkh0AAAAAYKz9c+hv2Zj/mODYPhkk2QEAAAAAxt6B0N9E+5oJjevcpP01SLIDAAAAAIy13yTtbOhfkv1CmNz67PuDJDsAAAAAwNj7fdJ+Duqz1y1vA9RXTTsAAAAAgPHx76G/ZWN2TmBMbw/ZX168asoBAAAAAIyXI6G/ifZ/msCY/l+QZAcAAAAAmAh3Ju3H0N/67L+dsJi+GiTZAQAAAAAmxpOhv6vZ42r5SarPnlWX/VVTDQAAAABgPO0L/U20//sExXJukGQHAAAAAJgoMTH8l9C/JHvcDHTVBMXzdJBkBwAAAACYKP8QWsnwftZnv31CYrk/SLIDAAAAAEycWNal3/XZb5mAOL4QJNkBAAAAACbSsdDfRPurExDDNUGSHQAAAABgIv02aT+G/tZn/8cJiKEkOwAAAADAhPqX0N/V7OeSdueYx/CfOtrvTCsAAAAAgMlxIPS/PjsAAAAAAIyl3yTtbFCfHQAAAAAAurIitGqo9zPR/k/CDAAAAADAuPr30N8ke1wtf7swAwAAAAAwjmYn7cvQ30T7H9vHAQAAAACAsbMoaX8N/U207xBmAAAAAADG1T+H/ibZf0raQ8IMAAAAAMC42hf6m2g/F9RnBwAAAIBStibteNKuJe1q0o4mba2wQKP9JmmnQ38T7f8d1GcH8t3mMwOMvXmucwAAyHcwZCfY3hAeaLRY0uWn0N9E+6vCTEnLk/Zm0j5N2sXQ+uL2etKuJO3r0Hr6Yk3SZgnV2FgfWk+9xHG+VzhgbB1qfyb4OGl3CwcAANzslVCcYLNqBZrthdDfJPvPSfu9MJMhJsyfDdWeqjgTWsl2Rtf8pH00bUw/C62VrsB42jHter+UtI1CAgAALTExcjkUJ0M+FypovGOhv4n2v4RWeRqY7pGkfd8xV04l7emk3dX+mTlJezFjXr0ohCNpRdLOTxvHD4KyUjAJVnX87RCfTrpFWAAAmHSLQ7nk2lWhgsa7M7RKNvQz0f4HYWaap5J2o2OO7A/pCZfZOfPqMaEcKa93jN8uIYGJEsvUTf+S7Zuk3SMsAABMsvuDJDuMk38J/U2yx/akMJN4OWVuvJfz88/lzKlPhHMkxPIwn3WM3dvCAhMpJtXPTLsXxKT7UmEBAGBSxXIx10JxUu2YUMHI+O/Q3yT7X0PrKRgm1/aUefFVyC8Xcir4IneUxQ1NO2vuvyUsMNFiSbDpifb4N4V9nAAAmFhvhuKk2gZhgpER66ZX2YCym/anoD77pFqZMh9iyZj7C17naanRFevun+8Ys73CAoRWov2HjvuDDVEBAJhIsXZu5+Pf09sbQgQjJ9ZL/Tn0N9H+n8I8cRaEmcnW2N4p8dq8lewfC21jLQ8zN0g/KCzANPHptgsd94nHhQUAgEkUy8bsCK2Ni66H1qrCWCN3tdDAyPqP0P/67NuEeaIcSpkD8XfGHSVeuz1jDsXyAvcLbSPFDWmvdIzX8ZC+sS0w2WI99s6NsNcICwAAAOPgWOhvkv3HpD0gzBNhbcYc2FOhj7c7XhtLDCwX2kaKJWI6V7DHpxjuEBogw7YwsxTYw8ICAADAqLszzHyEu+72ZdLmCvVYi087ZZV7eahiXwtDa5+P+KTUbKFtpDhGnWWB4grVZUIDFDjQce84F1p12wEAAGCk/Wvof9kYmyCOt20Z4/6N0IydeUk7mTLWrwkNUPIe0rkRaiwz5UtVAAAARt7e0P9Eu9qr4ymuYj+TMebPC8/Y+ThlnL8WFqCCNaG7DbIBAACg0eJGhf8X+l+f/XahHjsbc8b8XuEZK8+njHEsE2NjWqCqtI2yVwoLAAAAo+73Sfs59L8+u0fCx8sXGWP9rdCMlQdDK6Fu9SlQh0Up95RYRuY2oQEAAGDU7Qj9LxuzU5jHxgM54/y28IyNWBLo25QxvpK0+cIDdGlPyn1lj7AAAAAwDo4G9dkp5+2cMV4tPGPjlYwxfl1ogB7cl3FvWSI0AAAAjLo7k3Yu9DfJ/tekLRbqkTYrZ55cD8oCjYt7knYtY4zvEB6gR58GmykDAAAwpv4l9H81+/8K80hbkTO2x4RnbLyfMcYfCA1Qg00Z95hNQgMAAMA42Bf6n2h/QZhH1p6ccX1LeMbC/TljvEp4gBrMCa0nYzrvMadC64kpAAAAGGmx3MefQv8T7ZJ1o+lCzpiuE56xcCBjfOOGp5JfQF0OZdxrnhIaAIDREWsCxw29TiZtR8nX3J20rUnbn7Sv2n9sxnqlcRXG5aQdSdprobWZT6/mJe3x0FpR+kW7/+vtdim06hjGYy0aUvweStobSftkAMd5N2nHQ7k6v/GP/5i42zNtjGLMribtTNI+Stq2dnyBbA+EVv30fibZdwjzyHmsYEwXCNHIuzdnfA8ID1CjrRn3mpNCAwDQbPHx55iY/rbjg9zegtetSdrRUC15FGuZzu/iHJeEViL4eoVj7evyWFXFLw9eTtp30459uQ/HiUmaZ5N2ouN9zsl5TUzAP5e0H0rG7Fp7LsxxWUCmbaF/CfYjwQaZo+jtnDE9Lzxj4a2cMX5ixN/b3j7e08p+Hjrc43F2jdl86+eYTH12fLrG/la7RdQq70s9T0YBADRIXNW8vJ0UOJXzIS4ryR6T8l/08EH8bCi/qj0e65MejnU6aQv7EMO4ej8mr7/q8Y/KIvGPoI3tPz5v5PyhlOax9vvvJm5fJ+0ulwpkOtKHpEe8Xn8jtCMp7177kfCMvPjFV145oHtH/P3FZGvZL+PLtvil/cX258wy4tMAl3o41rNjNufebI/JhZrH5Uq7z/jZcWv782ov/V1vj/Nyt4nancuI+edCAwAwXHFF96b2HzFXSn5wTkuyP9X+Y6bXD/nxD4c7Cs755VBt5XpeUr+OR/Xntd9/mdX7vSTZ4x/z69pjVSbWaUn2N2qI23dB+RjIcmfSfqwx8fFT0v5RWEfSwwVj+4oQjbz1OeN7Yczm8seht1XrMdndy5f0t7Q/a10sebz4ZNG418O/J2TvB1C27Wn3kyZ+Hn8xZC/mSIt7/BJgSbAXQT99mDMG9wkPAMDgxYTtiS4/kHcm2feEelfTfJ7zYf/zmo91qIc/9ja3/+i8Eep/PHr6cTaG8on1rCT73FDvCttDLiHItKrGa+1J4WykM6H/G91ObwuFvJEOhsl6UuH5LudvnZsybi44VvxMtmzC5mG35V2+L9l/mRI18XOhPSYG46WccXhdeAAABm9O+LX8R6yHHuuUfxuqJdljH50rm663P2jHFUSPhlaSOIorWh4MrdqlZZLSmzvON5aHmf7IclzJFOtsxlVkd4RfV8zMav/sMxXez4qKsTsQul9JXzXJvjn0VlcziqvOv+xD0meNywgyvVrDNRY3jVaHvXnuCoNNsF8R8kaaXfBZ4I0xfd8fdDGHV9R4/JUFx3prQufjc12MS9mSPfsK+nnb7WCg1oX88nIAAAxYTEY/lPLfd4VySfaYwP2040NdXEkzt8Sxl4Xi0jQnp/18TNZPPR4cE/RxA85bS77P10u8n6MVYxdfE+shHmz/4fFe0o6H/iTZl4ZWMnsqYR7L++wM5ZPscTw6E+zn2308Nq3fqS8ndoRWGZ2y9dmBdDEB9+fQfWL1WMn7KYP3eBhskt2TQ820tmDcHh/T931fF3O4zlg8EfLrgM+f4DnZzRcgReVFFoT8+uwH3AoG7u6CMV0iRAAAzRCTrkUJ8JhUntp09GpoJWar1l58IpRb+fTotA/3sb7p0i7eU5nHXBdV6C/rHMrUO69r49MyNTjjUwRHOv74fDlkb4g6JSb2ytZefdglA5kWh1ZN9apJjx8r3pNono2h+t4mjJZ3C8Z4nEuWfFjxnvZBjcc+UvD5dJLFz28nK47NOwV95iXuTwdfBg9L3lPBrwkPAEBzfFTyg3lczf1AD8f5LhTXZp9awR7/74NdHieWS7lacKwdNcQtJq+L6qbXlWRfX2J8po/jqYrxi6twvypxjDdcLpDrD0Eppkm0O0zmKudJUrSvzZwxfu9Fm/qmrTCvIxkbV1XnJReXmZZ/X8VcdWzuzuhrRcFrHxPuoTmVMy5fCQ8AQHO8U+JD+aXQKi/Si7L1I+MfVMt7PFZRPcnDNcWuaAV4XUn2RaHaRrLz+vRH9JcuF8j0ZKieYP93YRsLXwQbmY6zOSE/2XttAmJQdSP67TUcM2+Dz7Om5S/eCtX3/+gUPzfmbfD8rjAP1aGCv5tuESIAgGbYUuID+doajlO2rueLNRxrQ8ExrtYUu/fDYJLss0P5Wr69rKYrShTFFVCzXDIwQ/wi7MeKiY6jwUan42BWyE/AXhCikVe0wncSEr7LK97fTtZwzGM5/b9uWv4iJlhPVRyfRzv6eK9gLCVxh6vo7w1PxAEANMTmEh/G61JUXuWbmo6zsMR7uruG4xRtHHu5xtgVvZ8PazjG8yWOs9glAzf5TdL+UjHBETdJvV3oxsKjA7g3M1xbC8b44wmJw9cV73O9LNC4J/S2geekWVpxbGIJx6lFE4tDtYQ8g1e0D9QrQgQA0AyDTLIXrZQ+XOOxbhQca3UNx3g5NCfJvrmGY6wucZzVLhm4SZmNiae3n5P2e2EbG0+F/pfNYLiKVpFOyhcpmyre6471cKy8L/2Vrku3u+L4vNx+3cpgL56meyIU78sEAEADDDLJXrTJap1J9ksFx9pYwzGeDuOVZL+jxHHWu2TgF8+E6nXYtwnbWPmgYLxtzjj6ivZf2TdBsThZ8X73cJfHydto9mlTMlXcbPZMhbGJi1EeCNkLLL4NSpo1RVEZTHsUAAA0xCCT7EWrwepMsh8vONazNRxj3JLss0oc53GXDPxdrNP8U+h9wzlG2/fBPhbjrihxuXuCYlH0uaeOe97igmtqvimZaWXF8YmJ9HUhPQH/sHA2xppQ/IWJ3zUAAA0wyCT7vjC4JPsnBcfaNYA/NkctyT7I48Aoi/XUz1ZMZvxfaK00ZHzcGoo3t2X0Fe0n8/YExSJurn4+VFstXXUPnJ0hf4N38r0fqv1u+iao8d10q0qM4yJhAgAYvkEm2feGwSXZDxcca28Nx5Bkh8l0pGIS469J+62wjZ2i1YVvCdHIK/OE19YJi8lLFe9/Oyv2fyooWdeLeaHaFyGd7USwKrpplpcYt1XCBAAwfJLs3ZNkh8nzQhdJizXCNpaKNr9eK0Qj79YS1/cTExaT25J2pcL970JorYAv45Gcfi4Gyd+y1ofuEuyxHM/9wtc4dwV7JgEAjARJ9u5JssNkibVrf66YtHhV2MbWwYKxnydEI2+e34up3qx4Hyy7Wek7OX28azpW8mGonmR/UdgaaW6JsdskTAAAwyfJ3j1JdpgccTO+HysmLP6YtNlCN7Yu5Yz9SeEZC8v8Xkx1T2jVWy97L/y+ZL/ncvpYYjpWsiC0Vv9X+Z1lU9lmKpNk3yJMAADDJ8nePUl2mAy3JO3LismKmCxSh3183VMw/vuFaCys8Hsx056K98TVBf3l1Z3+zlTsyqaKY3RAyBqpTNmqrcIEADB8kuzdk2SHybC/YqIilpRZIWxjbUNQp3sSlNlwcFJ/Ly6ueF/8vIfPiC+Zin37PKy2d/PNCfVvMAwAQB9IsndPkh3G37+F6nVt/13Yxt47BXPA5oHj4X6/F3MdqnhvzLou4oameeWXFpqKXbu7/Xm07BidD61SMzTHLcFKdgCAkSDJ3j1JdhhvcaXmT6FaEun/C+qwT4KjOXPgqvCMjTK1kCf5qYUlFe+PWZ+91ua85qhp2LPjFcfpQyEbufuQmuwAAA0gyd49SXYYX7cn7S8VExMxGSTBPv7iqtvrOfPgIyEaG7ODFaRFjlW4R8br5o6UPj4Ikof98mKo/jRWbI8LXWOUSbJvEiYAgOGTZO+eJDuMr/8J1Tc6vVPYJsLDBXNB/ejxcqNgvHdNeHxWVbxXvtbx+lhvOutLq/jfbzEFe7pX3QjdJdkvhvQvRBi8eUEtfQCAkSDJ3j1JdhhPL3SRkFglbBNjS8FcWClEY+V8wXjvEaLwTYV75YVw8xM/eZ9D9wtt125N2snQXYJ9qh0SxkZY5jMIAMBokGTvniQ7jJ9/StrPFRMRrwrbRNmfMxfiqlElg8ZL0eeJfUL091IVVe6ZT5WMry+suvde6C3B7nNfc6wsMU6LhAkAYPgk2bsnyQ7jJZZ7ORvUYSdf3qrd48Izdt4PNoksEvcpOFPhvvlt+3WxDEZWOZMfhLVrG3JifyVULxtzt5AO1ZqCMbrRvgYBABgySfbuSbLD+IiJ8qMVkw+ngzrsk2ZOyK9xvFuIxs6zBfeBT4To77ZXvH8+lrRtOf/+hpB2JSbEL4bsBPv9oXoZmU+Fdag2FIzPeSECAGgGSfbuSbLD+Ph/FZMOPyXtIWGbOEWbPNp8bvysLhhzK65b4hdQF0K1xO3nOf/+gJB2Je/L4mfaP7M0VC8bs1Voh+aJgrE5KEQAAM0gyd49SXYYD+tC9TrsTwrbRNpRMC/uEqKxc2vBmF8Tol+8EuqpA/61UHbl+ZyYftHxs29WHJP4mfYeIR6K1wrG5m0hAgBoBkn27kmyw+iLm4X9WDHZYKPDyfVRsKJ5En1XcE+YI0R/F2usXw29J9m3C2VlD4fsUlbXwsyNMeOc/b7iuBwR5qEo2hdigxABADSDJHv3JNlhtN2StP+tmGT4c9J+I3QT61zO3PhAeMbWnoL7wnIh+sVbobcEe0wU3yGMlcSnLfLqrD+X8bolXYzPM8I9cIeCJ6gAAEaCJHv3JNlhtO0L6rBT3h0F8+NpIRpb6wvG/nEh+kUsKXIjdJ9kPyyElb2XE88vC177esXxiZun3ivkA3U6ZzxOCQ8AQHNIsnfvmSDJDqNqXaie/FknbBOtKNG6RIjGVnzq5XrO2L8hRDcpWvnvC4vB3JdimZj7Cl4fy8Z8V3GMjgn7wMwK+V9a7RYiAIDmkGTv3q4gyQ6j6IGk/bViUuFVYZt4b4T8ZNYsIRpreZ8rDgrPTRaH7hLs8XPT7AGf67bQqjUej329/X/j/44LKW5peJxjmZCLOfHcUbKfvHruWe1Z03wgFhWMw0ohAgBojkEm2d8rOM7xGo/1aeh/kn13wTGu1vh+BpH8nhUk2Rl/c0OrrnqVZMLRMPjED83zSc4c+VR4xt4TOeN/QXhmKFrskNb2DPD8FrQ/d+adT9zM+LEGx/hojZ+pd1Ycq/gZ9z7TvO/ynlS4HHy5CwDQKFvD4JLs7xcc52KNxzpbcKz3BvB+/lbTh9/ZYTDJ7wVBkp3x998VEwlxo8s7hY3QWq2eNU92Cs/Yi5tL5pWMuVuIbrIsVE+yLxvg+R0peU5xzJu4Wvj5gnO+v2J/8fPqNxXH67hp3nd5NfP3Cg8AQLMUlXCpM8n+YcFxboT6VmRcKzjWBzUc42CJ2NWxOdS9JY7zRA3HWV3iOC+7ZBhh20P1pM8qYSO0SgzlzZM1QjQR8p7IU0t8pq8r3GtPD/C8llT8PRAXgTTpS5Si8i6v9HCfq1o25jXTvK/yngh5VHgAAJrlkxIfoO+o6VhflDhWHRvH3RUGs2nTxRLHWV/DcdaXOE4dm649V+I4+10yjKjfJ+2nismDbcJ2k38Ik5tc3hTyvyBWTmgyPJwzD/YJzwxPVLjfvjLA89oSqn/h2pRVw/OSdibnPOO/zemh/ze7iM1aU70v4sKjrEVDJ4QHAKBZ5of8R5+n2sYajjW75LHqSBY/E8o9/ntbD8d4sOQfHu/X8H52h8F8aVDmS5AzLhtGUCz3cjZUSxpImM30Qkqcbp+Q9563gvlLU2OifBmyS0sx87PfhZL33HsHeF7bQvVEcvzcOOyNUGPy/LPQ3w1JV3YZG0991W9pTsy3CA8AQLOUqSk+tVqi1z8sypZpuBJaCexuLWr/oVvmWLt6OM6nJY8RVzj2UmN0YTsmZY61oofjrA/l/5hSl51R88eKCYO4MepvhG2GP3TE6acJeu9fhf5+OczoWJszFx4SnhnKrIz+YsDn9Hionkge9pM7cdPuMk+f9lo/fk2XsYmfd58x3Wv1Wkas46IBG54CADRA3LhrXWitfK7y4Tkm2uPj8vMqHCt+AIyPVr8eqtV4vNpOWjxc8kPkLe0/CvaEcqvlp7dP2n8wl/kSISa848qRqhtDxfceV8XGmudVSgpsSNoPFeP2YsUxuqX9mhsV30/84H+Hy4kRsLPi9RoTxxJl6f4aJnMF9+yCe+RKU2PiZH0OeF1oZijz5N9TAz6n+CRn2QUMde9/0825xpX3p0qeY1wEsriL48TP24+FanX0s57sWRskgft5n3lWaAAAhicma893+QdFVjI3Pv67P+dYl0L1zZOyErqx9nnaY9hx5fblmt7T1LEuTfsjeUP7uPG/Xa/xGLHkysdhZiLvntD6ouBgj2MVjxFXXcYnFXamxC0eJ9YWPdzj+4rHOd4+jk3/aKI4L3+uOK+fFLZUv0+J1X9OyHtfXvD7UDJp8qwL2StMmelq6F/5vm5t7OJz6o4Bnl+vn3Gvtj/DLi04ztIaP7N3juspU79rWV9OnfY7BwBguDbX/MF5qh0e4LH+lnKs1X06zq4BvJe/tc+/8w+quo9xeUBx2+Uyo2F+l7QfK87j/xK2TGn12P9tQt573j4fB0yNiXU8NK+kSBPlbd4Y20dDPLf7Q2txw/cF5ziMOth1fVYrKiXYj8+eeZ9BKeedjJiuFxoAAAAGJZb3OFoxGXA0VCvnNGn+N9S7D8Qo+TBn3mwyNSbWQzn3EorjlLXgoCnilwMHOs51g+FkAOKTHWlPtH4mNAAAAAzSf4ZqCfb4SP2dwpbptyG97M7tE/L+z4TscghzTY+JtjdjbjwiNL/YkXPvjeUFm1z6ovOJxvsMJwPwSsq1EpPu9woNAAAAg/Kvofoj7auELdf2lJj9eULe+7ycefOxqTHx4qaU51PmxudC84vPc66hdxp+7m8E9fYZrAUhfRX700IDAADAoPwutDZlrpJgf1XYCv05JW5HJuS9rwtKxZBvbcb8WCs04a6C++9DDT//L6ad65uGkwFIezrmsLAAAAAwKLFsR1oyWB323qzKiN1/Tsj7fyNkb+hn7jAlLTF2OigntD3n/vt1w899ei35G0lbaJrTZ0tTrpNYrmy+0AAAADAoVeuwx4T87cJW6A8Z8fuXCXn/WaUu3jU1mObWpH2TMk92TXhcTuTcg5te/mL65tnvmOL0WfxC7nTHNXI1aQ8KDQAAAIPyZKiWYP8pNL9MQRMsDukbnsa2aALef1ypfiPj/d9vetAhbkqYVq5qxYTGY2nOPTjWnL61wef+XLh5c9Z5pjd99kHKdbJGWAAAABiU34dW0rxKkv1JYSvlDzkxnIRSKVn12D8zNcjwWNKud8yXmKS9YwJjcTjn/vF2g897TfAlCYP1dMo1slVYAAAAGJRbwszHq4vaPmEr5R9D9ir2P09IDPZmvP/HTI/axC9rbkvaw0lbUuF1cUPNZUm7O7RWRM9q0Ht6PGXOfBkmq4b/koL7cFOfhIl7UFyddp4vukTps+Vh5hNTO4QFAACAQfrvUL0O+2+ErZT/DZP9RUVM2qaV/vjS1OgppitDaxVzrHV/rSO2P1Toa2vK2FxK2kdJezYMf+X4tpTzOzBB4/xNzv3jo4ae9xPh5mSnOuyjI5bv2hxaX4weCq3NQq+07zFZ8+1i+9/jfeP7pB1M2p6kbQytUmmDOu+LHdfHc4YTAACAQXohVEuwn0va74StlP9XEMtnRuz9zG23KlZmvPelpkdlcbX5W+HmZFJMZsZk2JakPRpaT6VUFVeGx1rZa9r9X+roP25Oe9sQ3/dTKfPn9QkY75cL7h9N28hxVnuuTD/HnS7bxrsvaW+EmU+zxeT67qStTtqcgj5ubd8/3m2/bno/p9r99+upi4XtzyVKxAAAADA0/xCyS5lktVXCVso/lojtP4/Ie4kJ8e+mnffZ0FqlWMaHYXRW4DZV/GLjzTCzRnlcyX5XH463ILSeNJh+rJN9OlZZcb5NUimIh0L2ZsGxfdyw842J2q+nnd/lCvcIhuOekL5JaGxHerjeF2Tc9+N8fj+0viys8z38MO0YsUTRWkMLAADAIN2ZtL+Eagn2V4WtlN+WjO3vRuC9xMfwr2ac/5qC18YkTWeiMCbf7jZFSoubRf7QEcP4JcfDfT7ugvZYTT9uLF0yZ4ixiDWXO0tCbG/4+MUnAF5rx27qS5L4f+Nq35iUjl84xbIW01f5xqcRvsu5b9xoX5dNsn3a+R12jTfe1jBzxflU21PTMd7M6D/eVzbX0P897Xvh9KfsHja0AAAADFIsD3EsVEuwT9qGg92KCfYym8heGJH383HOezha8Nq0JIvH+Mt7KSV+MVm7YEDHfyfl+C8POSZxxfT3Hef0fEPHL5bg+bbCPTbWso7J8/0FP7erge81loqJq5eXu2wb752cuXWo5mN9kHOsN3roN14n00vEfD7A+yIAAAD84j9C9Y1Obxe2Qg+0Y1X2S4tRcDXnPVzMeV1cydq5IedBU6S0PSnxjl/edJNI6nb1+bqQvinqsL9si+Vz3u84r7caOIZvVbzPlmnnkzbf5UEf5mR8YmZezceL/Z3LOeZLXfT5WLj5iZbXDCsAAADDEBNnVeqwx5/9vbAV+rek/VghrvtG5H3lJdk/yHndRx0/eyJU3zR1UqUl2OMXFlU3uowlPKYSXGeStqTi6xdmjPu6hsTp8XBzsu1AGG45m07nQv1JdvWm6dbGgrnVrxr6zxYcd02FvmKZmevT7mmPGVYAAACGIdb9vRCqJXW2C1uuuEHhkVA9WfbMiLy/vPeWlbTd1vFzp5J2h6lSyosZsX6uYj/vpfTxXcU+5mScy3sNilecVwfCr7WeFzXo3K6HehPs77o86OE6uZgzt77v47FnF3zuiCvoy3wBOyv8ulfB7uBLWwAAAIYk/qH7f6FaUue/hC1V3JjwydBKQP8cukuYPTQi73VFzntIKxuypeNnvgoS7GU9lhHnExX7eSZnzG6t2FdaH581MHaxFviahp3TmVBfgv3T0EoyQjd2F8yvZ0v2E5+miTXd4xdbsfTM4pKve7fg+GX3eoi/j5YaTgAAAIZpb6iW1PlTsFJsSoxDLJkTV/X/IWk/hd6TZqMU250he2Vt/MIhJv9igvhgx7/vbf87xWLt4h8y4lwlqXRXyC/xc3fF80rr45LhKqWumuyfuhfTg7iPw42COVbmi9D1Kf3caP/3IitC8UbgNlYHAACg8Z4M1RM7cQPPoxPcjiXtL0n7a6i/rvLZEZxDsRZu2RrTcVPX5S67SrJWmh6u2M+ugrGpYyX7NcNVSvzi5HQP94kY55eEkR49H3rfhDvO5cshezPeoqcs4r8XlU/aYKgAAABosliWpI6V11p97ciIzqVYo/uJ0CoVEEthxBXTMRF4uf2e3kzawy65yu4P1evep5nbHo+8pG0VszP6uWHISotPDnxV8f4Qr6v4lMhC4aMGRfOvTK3/bQV9lNkM+fOCPg4YKgAAAJrqN6G1Il1iu1ntP01NpjkQul9hOt2Wgnn3VcX+5gcr2esSy2XsbY/BlXYMY4sJ9fhkSyy1FL+kinXllc2gLreV+H30eIl+Pizo440Sfewr6OOi4QIAAKCp/idIaDexPWNq0hZXK2fVS95Ssa+PCubdnor9rQzZ9ZOB5ltX4vdRmdJeJ0Lvq9C3lTgXT28AAADQOC8EyeymtsWmJ21Zm8rGVc5VN429VDDv1lfs7/GMfj42bDASnivx+6jMfeZKQR9l7gnrS5zLWkMGAABAk/xjUIe9qS2Oi3IQTDkZ6qlPvLBg3sVNB6sm7V8L9ayIB4bj/RK/k8q4VtBHmQ2aV5U4l82GDAAAgKaImx+eDZLZTW1/NkVpW5wzTzZW7KuoLMShLs4vq/zMBkMHI+FgKN5kt4yrofeV7I+U+P34jiEDAACgKQ4Eiewmt/82RWnbmjFHYo32eTX1NdVWd3F+P2T0Nd/QwUg4XHBfuFyyn4sF/XxYoo95JX4/7jVkAAAANIE67M1vO01T2rJKOZzooq/dOXPuZBf93Z3R1zHDBiPjSKgnyf5p6D05PrfE78f3DRkAAADDpg77aLR/NVVpy1pluq+LvvbmzLktXfS3OaOvbYYNRkZdSfYPCvrZVKIPSXYAAAAa786gDvuotMWmK20XQn2b/2Ul2U90eW5pZafi5oe3GTYYGZ+Eemqyby/oZ2mJPsok2ZWLAQAAYGhmh1YJBwns5rcLpivTZG0muKqLvrLKxSzt8p6Sdm67DRmMlI8LfiddL9nPYwV9zCrRx90lfke6xwAAADA0/xEkr0elfWm6Ms2NjHmyoIu+0laa7uvyvDaG9M1YFxoyGCllNkIvIybRr2e8/mjJPpaXOJenDBkAAADDsC5pPwfJ61Fp+0xZpslKss/qoq9NHX2cT9r8Ls/r85Rz2mW4YOS8XeL30q0l+zqU8fqXS75+VYlzWWfIAAAAGLRFIbums9bM9oJpyzRXQvcrSzt1loV4o8t+Hko5n4uh+4Q9MDwbS/xeeqRkXwczXv9KydevK3Eu9xkyAAAABinWTP6/IGk9as0qPab7ItSTZH8gpY+tXZ7TJzX2BQzX4hK/l9aU7Ot8xus/KPn6p0I9m7ACAABAbfYGCetRbItNXabZkzFPZlfs53hKHy92cT5rUvo5ZJhgpJ0LvddBn5/z+u9Lnsd7BedxwFABAAAwSE8GyepRbDHRMdv0ZZo1GXPloQp97MzoY3/Fc1kQZibjTiZtnmGCkfZO6H2vkPUFfdxdoo+jBX1sMlQAAAAMSky+/RQkrEexHTF96RA3OD0bultZGnVudjp9Zfy5UH4D1Tlh5mansTTEvYYIRt4DBb+bvinRR9HTc9tL3Ouu57z+Qvs+BAAAAH13S9L+mLTT2ki2naYwKdLqFH9e4nVbQ/rmg59N+29bSt5XOuuwxwS90kYwPg6F/CT5XTmvjQnyok3Wi0rGrCx4/cuGCAAAAIBepG02mrVJ7twwc1XpK9P+/f6kXWv/94tJuy/nuPFnv+3o60QoV/oBGB3xqZQrITvJvSPntZtCuae1tuX08WHO62JZqlsMEQAAAAC9iInzY+HmxNPV0Ep8TdVEX5S058PNddNj0mxzSn/Tk2Ix0f5s0m5r/1ssyRBrwcek142OY74bJLtgXG0O2YnuH9r3oU7xfnEq5d70dkofl5O2MKWPx3KOG/t6yNAAAAAAUIe4Ke5bYWbiO6sdCOkJrSlrw8yNTPP2C5DogvH3bM594KMwcx+HAyF91XtMyJ9O+bf4ZMz0zZKXh9YXfWnHizXaVxsSAAAAAOoWE+ex/Eusyx5XqsfSL3G155nQSoI9l7R7SvYVV6Vvbb/ubLuf2F9ccfppaNVBXiTkMFEeb98DsjZBjUn059v/f+e/753Wz4OhtUFyWvmXmMzPKxETX7fMUAAAAAAAMIpijfaDodyTLlNJ8adS+olf+B2q0E98UmdX0uYbAgAAAAAARl18kuWl0Np8+VJoPeky9bTL8aTtS9r6MLOMTKe4wfKLoZW4n/7UzNX2/45P0zydtDuEHAAAAAAAAAAAAAAAAAAAAAAAAAAAAAAAAAAAAAAAAAAAAAAAAAAAAAAAAAAAAAAAAAAAAAAAAAAAAAAAAAAYH7OTtjpp25K2N2kHk/ZF0i4m7UrSriXtRvv/Xk3ahaR9krT326+5XwgBAAAAAJgkS5K2M2lfh1YC/W89ttNJey1pdwgtAAAAAADj6Lak7Uja9yE7WR6T7m8kbX3SFofWKvcpc5L2SNKeDq2V7mmvj6vdX2v/LAAAAAAAjLy5SXsltEq/pCXG439/K2n3Vex3WdJOZvT5bdLuFXoAAAAAAEbZhqSdC9kr13cnbUEP/c9L2rGMvs8n7UFDAAAAAADAqImr1/eH/Brqj9R0rJhoPxOyE+3qtAMAAAAAMDIWhvy665+EVmK8TqtzjveZIQEAAAAAYBQsCa3V41kJ7/f6eOyvco670dAAAAAAANBksfzLpTCcBHu0LefY3xseAAAAAIBmiSVP4saecfPOj0NrBffVpF0P2cneXtqFBsdicfv8ss794wGcw10F8VtuygIAAAAADN/KpB1O2o3Qn2T6qCXZFyTtbM55f5O0WwZ0LnnnsdfUBQAAAAAYnmUhv+73pCbZj+accywfs3CA53Iw51xOm8IAAAAAAIMXV2HHkjB/G3JrYpL9pYJzfmLA5/NewfnMMZ0BAAAAAAbnjqR9HYafYG9ikj3WYc8rmfP5EM7p9aAuOwAAAABAI9yTtDOhOPl9LGnPJW1FGFzt8SbIKxMTk+/3D+GcthaM1TrTGgAAAABootlJuy1pDydtSYXX3RVatc7vTtqtSZvVkPdTtJlnbB+E1mruSbS8IDb7hnReRUn2jS5VAAAAAGDYYiJ8ZdLeDq2SINfCzYnMHyr0lZYUjZtlfpS0Z0OrXMugxbrdx0N2ojaubl864XPg85CfzL5/SOf1dMF5bXb5AgAAAADDElebv5W0i+HmsiCHkrYlaY+G7sqlxFXw85K2pt3/pY7+3w2tVfKDsitkJ2k/a5/rJFsc8hPZR4d4bnuClewAAAAAQMPMTdqbSbsebk5YxpXsd/XheLFUy5cdxzrZp2N1eixkJ2jjlwmzTYfCzUW3DvHcDgQ12QEAABgR10LxRnBFLe+R7XUV+3q/wbFaUUOsphIDj3f52q2mLBPGdVdvLH/oeG+xVvnDfT5uTLRf7jjuN6FVyqVfYhmcb0P26mwJ9pZvC+b+/CGe23cF57bU8AEAANAUcTXhtqSdCuUTTueT9lzSVodWciYvURL/7ZGkbQj5dXHPt89jfoNjFZMycRXoPUl7JbRKH5SNWVzJuT60atvObsclbjb3bPu95702ljTY3E4ozDFlmTCuu3q8lPIeY6J7wYCO/07K8V/u4/G2hOwa7PNdVn93a8E18O0Qz21OwbUe/22WIQQAAKBpYhLraCiXuFrbwx/011P6uxJadWFHzbL2uZeJWV5phK0h+4uHFaYmuO56lFbb+nToLsHe7RcOaU81xXrt/VpRnrUK+lGX0C9WF1w/+4d4bkVPwX1l+AAAAGiqmJC6HooTV0t6OEZaeZqXRzhma0O5ZF/eY+1pKzzjZoT3m5LguutRWoI93ocfrNjP9qSdC7+uBq/6e2BhGFxd7UcyjrXXpXOTzQXXz4tDPLf3Cs7tdcMHAABAk+0OxYmrbV32vSSlr5jUXzDiMXurRMyykjsxoZf2SPx6UxFcdz16MSMuz1XsJy3h+V3FPuZknMt7A5obcbzvdtncZGvB9bNpSOcVn264VHBuDxk+AAAAmmxxKE5cHe2y77TEx8ExiFlMHhVt0BYTPPemvDatTv0HpiG47nr0WEZMTlTs55mc+N5asa+s2vd1+yblOAdcMjNsK7h+Hh/SeW0pOK8Thg4AAIBRcDgUJ9q7qaF+NozvytFHSsTsUMdr0laZxnIMNuUD110v5iXth1C9hE6nWELsak5sq64MT+vjUs3vPWvF/GqXywxFyeyNQzqvoi/PnjB0AAAAjIJloThx9W7FPpeG9OTKrDGK27sl4jaV6IklctKSV2tMP3Dd9Sir7Nfhiv3sKohrHSvZr9X83leG9LJks1wqMzxeML5PDeGciurEf2fYAAAAGCVfFfyhGxNVcyv0l7bJ4O4xi1mMx9mCuJ1p/9yqlH/bZ9qB665H94d6Nq2O8bqW01fV5PjskF3Sp05piePPXCapHgvd7WnQL7eWuJZXGDYAAABGyYZQvDp0R4X+zqW8ftkYxm11KLcZY2ciKJZ2mGfageuuRwcy3v+XFfspKiXyVcX+5ofBrGTfUmIuNKFdaMBciV983Mg5x0HvmfJOQcx8EQ0AAMBIOlXwB++pkv2krZY7PcZxOxCKEyyfdPzvVaYbuO56tDBkJ023VOzro4JY7qnY38owmGTztiDJXsXnOed4ZYDnsaYgXt+Hak/PAQAAQGM8UyJRUKaWcVrN5NfHOG6x7vOFUD7ZYnUeuO7qsDNkrxa/pWJflwriV3XT6qz63x/XHANJ9mq2F5znkgGcQ9xI/WLOOcR/u9ctDgAAgFE1JxQnrY6W6CetVMx9Yx67os3bplqsP3ubqQauuxqczHi/Byr2s7AgfnEj0apJ+9dCPSviiygXU01cHX455zzf6fPx7w6tsk1Zx49f9ixxawMAAGDUvVYiWbA45/VppWK+mpDYHSkRu82mGLjuarA45/1urNjXuoL4Heri/LLKz2yoOQ6PB0n2ql4J+SVj5vfpuPHL9jM5xz6ftEfc0gAAABgHsQTD9YJkwe6c1+9J+fntExK7+Hj7lYLYHTTFwHVXg60Z7zXWaJ9XU19TbXUX55e1WrnuBG7aF7sfuSxyxafWvg2DLa20NuSXiPkutJ6oAAAAgLGxO+QnXK6G9NILs8LMcjMx4XPHBMXuuVC8onGDKQauux69n/E+T9R8zz/ZRX93Z/R1rA9xmBNmbv56xSVRaFHILw/3RE3HiV+q7A3Fm+reakgAAAAYN4tDccJqR8rrVqT83KcTGL+TBbGLj8TPN83AddeDw6G+Vch5SdAtXfSXVSt/W59icSLlWCsm/HqIX24XJa4fal8XWWP/fA/Hj0/FvRzyN9T9vsQ4zU7aPW5vAAAAjKrDIT9hdTrlNWmlYiatBvnyUK4+7wFTDFx3PchahdzNPTcryX6iy3M7kNLXtdC/zWffSjnexxN+TbwYWgn0IjGB/VXONfNN0lZWOO7Wduzzys7FuuzPhNbTb0WmNra9120OAACAUbQsFCes1k77+fjHcueKtZhUmTNBMYt1kM+G8hvhrTHNwHXXpasZ729VF31llYtZ2kVfszPObXcfY/FQxvk/OMHXRdystuwXDfH3d1y1fjkjju+U7Gd+wbX3edI2hXLJ9anziqvdTwQAAAAYYV+V+IN5ysqUf98/YfF6P5RP9MUWNwa8zTQD110XbmS8vwVd9LU91Lf55caQvhlrvze1/DrluMcn+LqIX3RUfXIjXhdxBfyZjjhuLPn6DR2vi6vZP2nPr25KvrzY7udltzkAAABGWecfzGnt/vbPvpfybysnPFZXSsRvr2kGrrsuZCXZZ3XR16ZQX/36z1POadcA4rExIx6vTOB1MbWy/1APfUx/umFVF695osu5OGV1yucMAAAAGFmnQn6yanf7D+nOx8zPTVCM4gZznfWRY6Ivlio4E4oTfitMM3DdVZT1ZUI3Pu7o440u+0kr23IxDG7D2RMZMVk/YdfGtvDrSvK7uuxj+hMi8yvGP34BNLvL496StJ3h5s1RAQAAYOQ9E/ITVfGP+E0p//3tCYpR2iaxO9r/tioUJ/viJrJzTTVw3VXwRagnyf5ASh9buzynT2rsqxsP5/yeWjtB18aH0957/KI8ripf0OX1da3kz8+ddsxvKxwn7qkQv/CKTyLExP7FjrHb6VYHAADAOIgbl3auFu1saZulPTwh8dmW8t47N2krUzP6XVMNXHcV7Ml4T1VXEB9P6ePFLs5nTUo/h4YQl9dyxvvZCbk+zodq+xTkta9LHnN9jcec3h5yuwMAAGBcvFbxj+JvJyQui8LMkg3xMfnO+rFxpV6ZpMdSUw1cdyWtCb0nJXdm9FF10+q4SvpcRx8n22MwDEdyxvuj0Co1NK7uDfUmuctunvpOqD/BfsrtDgAAgHESEyjXK/xh/NKExOXLlPf+esbPllnlF5NStzTgfcWnF2LZjbgyeJPpj+uukeJeGGdT3s9TJV/fWeZr+sr4c6H8ppXxftG52Wn8cuPeIcYmJve/CflPX70SqpdQGQUbQ72J7jd6uC4HdWwAAAAYGbsq/GG8sA/HjxuvxTrvMakUa8TGJElckfjIkOLxYsr7jhu0zcl5zYcNTyrEpNrT4ebE3a4xH0dcd6OczHsq5b18XuJ1Wzte80r7v3827b9tKdFP/HKisw57TNAvbkBsYgL9m1C8p8jBdjyWFsyjUVGmTFKV9niJY8a43Qj1J9n9XgAAAGDs3Ffyj+JjfTh2XJV4MueYLw44Fg9mJBSWFbwuJn0ulojhMOrZb8yI8a4xHscp8bixLMH19vk9V3P/8cuLlzuOsb3mY8Q63DFReqZ9jJh4fsZ11/jrrg5pm42uy/jZuDnl3pCeYI9iyZ1r7f9+sX3fzxJ/9tswsy7+3Q2KTZzDR0J/aoVXbRcG9J5P1nzeK0occ00f4vWDj10AAACMq8Ml/jB+qg/HfbPEcQdV1iSu2Psu5fi7S75+c4n3EvufPaD3szrkr/bcNabjOOXjjPN4fwDXzd4aj/FpqH9jT9fdaIiJ82Md7+VqaJV8mqqJHuvYPx9urpt+pR2XTtPLyMREe9ws9LZp4xATqvHpgBspc62pZXdeDv1Zad20JPu8Ppx3mdX9r/fhuO/4yAUAAMC4WhaKH72/rQ/HPV7iD/JYA3gQCbJ3U459seL7/qQBCYZYGqFMDd1dYzqO0YaCc1lewzGKkruP1XCMraE/JRdcd6MjjsFboXwiOW5mmVfWa22YuZFpVosrxR8agRjFlfefhfFOsq+v+ZyvlDzu532I17IAAAAAYyxv1fPBPh3zbMk/ytf1+b1nJWWfr9jPipLvZ1sf3kMsuTG16jmWFYhJxdNhMEn2pozjlKLaxe/VcIwDof9fYhQd403X3dCvu0GJifNY/iUmPWOCNJZ+iavaYxmhWEs/lkK6p2RfcVX61vbrzrb7marLH+8hcXX4ohGM0ZKk7Qu/lsUZt3IxAAAAwAiIdZ6zkgjr+3TMj0K5JMZbfXzfK0MryZR23KUV+3o0lE/MPF/je5jb7jOu5lw77b8vCoNJsjdhHKcrSrLXUTKmKAG+dwDH2OW6G+p1RzPF1f+x9E3c9DZ+QRz3MZj6YqIfTY1xAAAA4BdxE8G0pNSl0NrgsR/KJsf21Xzce0Pri4P9obhcQkzWLCzoLz7+/njSvg7VVkB+FVp1ku/r8f3MzunjTOh/kn1Y45hlU8F5bKzhGE8VHGNNDcd4uuAYK113Q73uAAAAAGCGuNqv2w0IuxUTfnGTysshOym2p+ZjHgzVSwLMz+hrfui93MDlPsY3q171rjEYxzxHMs7hk5r6j188ZdUr/qjGY3yRcYwPXHeNvu4AAAAAmEBZK9mHtUnZ9mnn8Izh6drhMJgke9PGMa7ujzWsY136WNIh1ql/qeZjxNrWO0PraYF4jFiW4rk+HCOWvTjbPsa37Zi67gAAAACgYWLZhc5E7Okhns/6aefxiOHp2rCT7MZxtBgvAAAAAOhS2iaLO4d4Pm+0z+GMoenJsJPsxnG0GC8AAAAA6MKc0CpF0ZmIvW+I53O2fQ47DE9PhplkN46jdx8wXgAAAADQhS1hZhL22BDPZ2f4tVzNLYanJ8NMshvH0WK8AAAAAKBLx8PMJOzmIZ3LqmnnsNLQ9GxYSXbjOFqMV/fmJW1d0p5I2vOhtWHsE+3/dp/wAAAAAIy/5WFmAvaHpM0a0rlcbZ/Da4amFsNIshvH0bsHGK/qHk7ap0m7kXGNTbUTSVudtEPt/71G6AAAAADGR0ykfxNmJoVeGsK5xJXz18NgN+WcBINOshvH0WK8uvNSx/V0OWmvhFYCPbZY0/7bjGtvnfABAAAAjI+Xw8wE0KWk3TbAc4i1n/eG4Sb4x9mgkuzGcbQYr+5t77iWzidtUcbPvphy7T0uhAAAAADNtyK0EkExkRoT6XG16rJwcwmYJSG9zMHLAz7XNe3jfpe0pYaudoNKshvH0WK8unNX0q6FavtXvNXx85uEEQAAAKC54urUL0J2beC44jKWMViYtLMhvRb7LUM477iyc5bh64tBlosxjqPFeFWXtjK96J45J2lnpv38E8IIAAAA0Fxp5V+qtA1COHaGsfEpjKuDKddSGc9N+/mtwggAAADQXB+H7hPsHwjfWJJkh/ocTbmWHijxunnh1/JcbwkjAAAAQHMdCN0l2L9O2lzhG0uS7FCfIynX0v6Sr/3MtQcAAADQfOtD9QT78aQtELqxJckO9dmfcT2VqbM+VTJmrzACAAAANNueUC65fiVpryRttpCNNUl2qM9jOffUN5N2qxABAAAAjIeYCIo11s8k7WrSrrX/7/ehVVImbrynPMxkkGSHen0WshPtPyRtoxABAAAAwPiQZId63ZW08yH/SaFjSbtfqAAAAABg9EmyQ/0eDMWJ9htJeztptwkXAAAAAIwuSXboj3uSdiIU738Rk/FbhAsAAAAARpMkO/TPnKS9EcptNn0kaXcIGQAAAACMFkl26L+HkvZFKLeq/VHhAgAAAIDRIckOg7M2ad+H/ET75dCq6Q4AAAAAjABJdhisWUl7JmnnQnai/RthAgAAAIDRIMkO9V9P60v87LykfRyyE+1LhRMAAAAAmk+SHeq/nqpcP59kXIPbhRMAAAAAmk+SHeq/nk5XeM3CjGtwj3ACAAAAQPNJskN/rqcq5V5OpFyDbwsnAAAAADTfZ0GSHeoyPcl+sMLr0krGbBBOAAAAAGi+yyE9yb5baKCyzidDHi3xmllJu9Lxuvi/5wonAAAAADTbopCeYI/tY+GByjqT7LE2+4KC1zyRcv09L5QAAAAA0HwxkZ6VZL+RtCVCBJWk7XEQ663fk/HzK8LMp0kOCSMAAAAANNPspD0QWitnvw7ZCfbpJSteT9rqpM0LrbIWQLbDOdfSm0lb076eNoX0Ouy7XWcAAAAA0EwHQnFSvUzbLJSQ6XAX11R8aiQ+VfKo8AEAAAAAwK9iPfZVSdsQWk+QbJ3W4mr2uKp9tj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vfjbBDYAAAAAAKiFJDsAAAAAAHRJkh0AAAAAALokyQ4AAAAAAF2SZAcAAAAAgC5JsgMAAAAAAAAAAAAAAAAAAAAAAAAAAAAAAAAAAAAAAAAAAAAAAAAAAAAAAAAAAAAAAAAAAAAAAAAAAAAAAAAAAAAAAAAAAAAAAAAAAAAAAAAAAAAAAAAAAAAAAAAAAAAAAAAAAAAAAAAAAAAAAAAAAAAAAAAAAAAAAAAAAAAAAAAAAAAAAAAAAAAAAAAAAAAAAAAAAAAAAMAouZy0v/WxVbG3xuOuNrQAAAAAAPTbvqR9nbQbob4Ed0zcH07agYrnsjVpB5N2PPSW/D+TtIcMLQAAAAAAgzI7aatCK8ndTWI7JuvXJe3WGs/plqRtSNo3Jc/hfNI2J22W4QQAAAAAYFieCNUS7Kv6fD5zQyuBnncOMRF/l6EDAAAAAKAJ9oRyCfaTAzqfQznncCppCwwZAAAAAABNsSiUS7J/OaDz+Trj+BeSdq/hAgAAAACgaY6F4iT71QGcx70Zx46btS43TAAAAADN9XLSlggDMKGeC+VWsy/q83m8m3HcbYYIAAAAoLni6siYxNkkFMCEWhzKJdk39vkcbqQcc6/hAQAAAGiue0Krzm9M5GwWDmCCnQrFSfb3+3j8oynHi2VsZhsaAAAAgOaantSRZAcm2e5QnGQ/26djb0k51g9Ju8OwAAAAADTXK+HmhI4kOzDJ1oVyJWMW13zc+ETR5TBzk9WHDQkAAABAcz0WZiaOJNmhmWYlbWXSdiRtf9I+SdrF0ErEXgvlEsN1t11jGOdYluV6ifde9yakX6Yc43HTHgAAAKC54qrJ80GSHZosJtbjJpuHQrnEryR7PQ6XeO8Hazzeayn9v2H6AwAAADTXrUn7KqQnjiTZYfhuC61SThdC8xLrk5Bkf7bEe49PEMyq4VgrUvr+xCUAAAAA0GxxVWxW4kiSHYbrmdAqA/O3EWjjmmS/r+T7X9HjceITRZ1fpJwMrS9ZAAAAAGioPSE/aSTJDsOxKGnHw2gk18c9yR6dKvH+3+yh/zlh5hNFl9rzAAAAAICGigmhoqSRJDsM3rqkXQ6jlWAf9yT7rhLv/0QP/b+f0t8qlwIAAABAcxWtYJdkh+F4Loxecn0SkuxrS8bgri76fjqlnx0uBQAAAGCUxc3rYm3duNL7YNJ+CK1N7a6325WkfZ+0D0MrIXbvCL23O5J2NJRPmkmyw+C8Fqonts8n7YOkbUrastDayJj6zW7f/4vGY0vFfpen9PGBcAMAAACjam7SXg6tpHrVRFd81H967dyN7f/epIRXTJj3awPFXaYPbXtD/1ZKXy55DodHcD4/X/EcPw3KiQzaxyXG5UCF/haGmRudxjr8twg1AAAAMIpisupcSE+a3Eja2aQdSdqxkF8rOa4S/6D9mvi/5zfk/T0dlIlgcHPth5rn17XQ+oLoVMlziInOSz0c69kBx2xDhfOLSdglptlQPFtifOKTTrNK9BW/1P02zHwq4S5hBgAAAEZRVg3kuFJ0TWiVCegUEySxPMMXIT/hsqwh7zEmhw6ntDIb+R0u0Z42jejwcCi38jdv1Xqct70kHeOK4KdCuSc44vG2hXIJ0jo9EFrlqJqY/Odm95Wcu2Xu+590vCaWonlUiAEAAIBRtDXMTJDEZMemCn3EVahZq9tXNPz9q8lOv1UtgzLVnqrxHDYXHCs+eTKML8TilwAnS8QiPknzkKnUCGXGa2dBH2+H3mu5AwAAADTC4tBaHVpHci+Wb0hLtDe9ZrIkO4PwQaieZK/zC6qVBcd6a0hxeatEHL4JSog0ybslxuyrnNdvCcptAQAAAGPkUJiZ7Pi2h/7S6iqvbngMJNkZhLJlNqa3x2s8/hM5x4lPrgxj74QHQ7lyTQtMn0ZZU3L+ps2px8Kv+3VM38cDAAAAYCQtDN095l+kswb1uobHQZKdQfkwVEuyf1DjsY/kHOe9IcXjs4L3fyZpd5g2jRP36LheYv5u7Hhd/KKpc2+A06E5m2MDAAAAVBY3EExLjKzvsd/OFbsbGh4HSXYG5eFQLckeE5lzazhuXAl+IzRrc+KlBe/9SmitdKeZymzoe6BjDp5KGeP7hRIAAAAYZTEBkpYYqaO8y+GQvZqxaSTZGaTPQ7VE+/Yajvl0yN9QdBgOF7zvbaZKo20rMXcvtn92TtKOpfz7OmEEAAAARt3xUO4R/26sCKOTpJZkZ5CWh2pJ9pM1HPNYTv+vDyEG9xS852OmSeOV3WPgkaTtT/nvrwghAAAAMA4uhfSkyIc19X+u3d/WhsdBkp1B+zpUS7Sv7eFYRQnt+4bw/p8vOCclREbDyRJz97uU/3ZI6AAAAIBxkZVkj3Wg766h/z3t/t5oeBwk2Rm0TaFakr2Xld15Ce0vh/T+j4dydbxptncqzuPYvgn17DMAAAAA0AgxwZaVCKljNfu6dl+7Gh4HSXaGocwq4Ont4S6PcyKnz6eH8L7n9ul9MnirKs7hC0lbKGwAAADAONkX+rvh4uyk3Uja3obHQZKdYXg6VEtQ7u/iGItz+otPrMwfwvteF/JXOTM6ZrfnUZn5G38XLBcyAAAAYNysCcWJkdcmIA6S7AzDnKSdD+WT7DFJWbWM086c/oZVF/u1nHOyGebo+bjk/H1RqAAAAIBxNCtpZ0JxciRu0vjQGMdBkp1heSlUW82+s2L/p3L6Wj+k93wg55weNSVGzqcl5+7dQgUAAACMq5hALpvg2x2GU16i3yTZGZbbknYlVKtpPadk34/k9HMxtL5kG4bPQ3b5mlmmxEiZKglWNG9PCBUAAAAw7squRJxKzm0bs/cvyc4wvRmqrWYvu1npOzl9vDvE93up4vsdtbZrgubuutCfJzAAAAAARs6CUK5szLiWkJFkZ5juCeVWA0+170v2ey6njyVDfL/XgiT7uNhbMibKAAEAAAATYXGotgnjVItJllEvISPJzrDtqXjdrS7ob3nOa78b8nu9HiTZx8W5UK7EEQAAAMDEiIn2H0L1pNKol5CRZKcJ116Va+7zgv7yVhi/NOT3Ksk+Hh4sGY/9Lm8AAABg0tyVtOOhu+RS3NxuyQi+Z0l2muD/Z+8OIK86/8eBP5IkiUlmkphkMjMyM5mJZJJJJJmZRGYymZGZJDOSzCSRTDKJmSQzMZPJzJhJMhNJJpNIkiSx/3l+937+388+3XvOc849595z7329eHx/v/W5z3nO85xzzz3v85z3c77k+bamTz1x8dC8vOcrR7yfj4Ig+yTYl9gf25zaAAAAwDRakJXjoXqQKS6quHiM9leQnTZ4LZRP1dTLOzmfudSC/bwXBNknwaWEvng6ZtcCAAAAgNrFvM9V0sfEcjMrr4/Jfgqy0xaXS5xjMe3K8z3qOJPzmZ0t2MefgiD7uIuB85TFei85pQEAAAA6wZQjIS2g0msW4zjkahdkpy3eLnmOHZzz+fgWSr+c5/G/L2zBPp7t075/DP/Y2J54fH6iqwAAAAD+Jy7M+H2oNrPzUMv3TZCdNrla4ty6m5X5sz77Xmj/ApQHQnvzxZPmTOLx+ZKuAgAAAHjWm1n5I5QPtH/a4n0SZKdN3i15bu2e9dm8B2EbW7J/W3LauMfwj4U7CcflDd0EAAAAkG9H6ORdLxMMfLWl+yLITpvMy8qtEufVte7nngv90zrdbtH+5eXz/tXwt17qAr1HdRUAAABAsZimIubcvRfSgi6XW7ofguy0zd5Q7gHWW6Gz/sG4pGzKW+D1NcPfagcSj8lNugoAAACYBjG1RB2LDb6QlZ/C+OboFWSnbeICpndDepD9YlZ+zvn3l1u2f5/ktPV7w99qvyUcj3GR3fm6CgAAAJgGM/mbX6ypvq9DcfDloxb2gyA7bZQ6Y7io/NHCfYsP5p7mtHmD4W+lpYnH3AVdBQAAAEyLmSD77gbq7FdOt7AfBNlpo5hj/VEYPMi+t6X7dzanzXG9h8UOgdbZkXjMfaCrAAAAgGkxExCvc9ZhnKGaFxhs4wxHQXba6kgYLMAeZ4s/39J9W1vQ9m8Nf+ucDeObFgwAAACgETNB9pg/d1GN9Z4I45VvuShg9L5DhRFZEfLTqhSVtuc3v1DQ/gMOgdaYl5UHCcfcLV0FAAAATJPZqV121Vjv1jBeM9kfh/yg0ecOFUboRKgeZN/e8n2LM56LHiJ86BBohbcSj7nTugoAAACYJrOD7HUujrgx1B+AWZ6VY6EzSzIGxe+GTvCxjkVb7wdBI9rrpVAtwB5nHc8fg/07mLAv+x0GI3co8bjboasAAACAaTJ3kdL1NdWbF2SvMmN+XVbuhf6BxA0Dtvf3kB80uuxQoWXnako5MSb7FtOQXEnYn1NZWehQGJk/E4+71boKAAAAmCZzA3e/11TvjtB/EcZlJeuKC6n2C7DPDrQPMqO9aDG/2O7UnPVvOqxowJuhfJB9nI7FVQnneSzXsvKKw2HoXkk85h7rKgAAAGDa9Jodu6eGer8LvQMwJyvUdSw0nwd4f0L9KXmhtwfpZWjOHyE9wH5zDPdvY+K+xYdeX4XyD+yoLnVdgL90FQAAADBtegXZH2Vl7QB19lvIMOY9X16hvtshLbjzaIA2r0+o/05B+2fnlV7v0KIB74f0IPuBKdjHeM4fzcrLDo1GpSxOO1N+0F0AAADAtOmX5zkGlKsErpaE/rmVt1Rs45OQHnRbUHEb87r7XFT/P6GTU/657ucWZ+XdOftsgUaaEhcxvZt4Lrw4xvu5O5RPjXM9K8ezsi0rbwzwXcB/LQ5p+fJnp+4CAAAAmCp5iynGYMkHJeqKQb1+wZi9A7QxJU/zTAqJeQNs52AoH9ibW752SNGwwwnH4S8TsJ9xXYcnNZyToyjHJuRYW5mV3yrs//tOUwAAAGCa5AXZZ8rV0MlHvqJPHTG1zJHQOyAWA987B2zjqZAW2PlxwO3EWfj/hOqBtRMOJ4YgZQHK3ROyr+sGPCcF2cuLDyo3hE4ankEecsTv7c3BGwUAAADAFEgJss8uD7Nyrfu5GHx/HPIXwHu9hjauCp3cy0Wz2F+tYVvrE7bVKy/0Rw4lhijvGI2B0SUTtK9xcdPzQZC9KTHf+jdZORc6KXeeNtAf8Xi90b1ufOv7EgAAAJg0ZYPsKeVWVj4Og6Vumevt0Anw9wvgbK1xW2+G9MVWz4Txzn3N+InnVd7Dre8mdL/fCZ1ArSB7vTaMoH/OOY0BAACASRcXV4yLnsaFSvdl5XRWLoRO8Px+6AS1H88q8b/9EDopY9Y32K4YzI4pWe50txv/92TozHSv28LQyUd/rrt/j7v7HYPvMYj5SeifPgeaFN/YyAtgbprgfY8PGGLqqutBkB0AAAAAgAriA55+wd344GnelPRDfOMkPmS7GwTZAQAAAABI9HPoH9z9akr7JC4G+17oBN1j/vaboZNe6vGIylcOUwAAAACA9nkh5M+gflUXAQAAAABAb3tD/wD7H7oHAAAAAAD6uxL6B9k/1D0AAAAAANDbutA/wB7zjy/SRQAAAAAA0Nv3oX+Q/UvdAwAAAAAAvb0W8hc8XaWLAAAAAADgWfOycjX0D7B/p4sAAAAAAKC3/SF/FvsruggAAAAAAJ71alaehv4B9gu6CAAAAACASbckKwdDJ+3Lk9AJkMf/fZiVP0In5cvH4b+51Rdm5c/QP8Aeg+9rdC0AAAAAAJPsuaxcC/kpX2aXc6ETPP+m4O+O6VoAAAAAACbdkZAeYE8td7KyVNcCAAAAADDp/gn1B9nf0a0AAAAAAEyDmRzsdZWjuhQAAAAAgGlxK9QXYL+YlXm6FAAAAACAaVFXTvYYYF+sOwEAAAAAmCbPZeVmqB5cf5yVz3QjAAAAAADTanlWfg/lguuPQif/+krdBwAAAAAAIWzIysnQCbg/DJ1Z6rHEgPrfWTmXlcNZ2ZyV+boL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q+ncKCwAAAAAA1EKQHQAAAAAAKhJkBwAAAACAigTZAQAAAACgIkF2AAAAAACoSJAdAAAAAAAAAAAAAAAAAAAAAAAAAAAAAAAAAAAAAAAAAAAAAAAAAAAAAAAAAAAAAAAAAAAAAAAAAAAAAAAAAAAAAAAAAAAAAAAAAAAAAAAAAAAAAAAAAAAAAAAAAAAAAAAAAAAAAAAAAAAAAAAAAAAAAAAAAAAAAAAAAAAAAAAAAAAAAAAAAAAAAAAAAAAAAAAAAEbkRFb+7VP2jUH7P81p/3HDCwAAAAD1eS/0D8bVWR6UaNOGBrZ/zFBTwrqcY+nqGLT/Wk773zC80AqrsrIlK3uzcjIr32Xlp6zc7V4zH3fL0+7/PszKvaz8mJWzWfm8+/lluhIAAABGKwYTz4VO4DDeyNcd3I6BgV+zcqpEm9Zk5UxWvs/KoxraEAMWOw01Jd3IOabWtrjdr+e0+7phhZGJD7gOZOViTde22SU+WItB99W6GQAAAEZrflY2ZeXbAW/2/8rKx1l5uaZ2xaDhhQrtuJKVd7Myz9BSwf6cY+toi9t9LKfd+w0rDFV8MyvOUr8bhvPWWCyXu9sFAAAARiwGtm9XuLmPuaybCmofT2zDndAJrsMgVob8tyPa+PBmXsgP5q00rNC4JaGzdsPNkJ5OLT7cjmljNofObPSFc+pcnJWNWdkTOm95pbx59kNWXjQcAAAAMFoxIHcnpAfY4+vvCxpuT1EbzmflOUNHTS7nHGtbWtjeLTntvWQ4oVExuB5TtjwMaYH1+NbJWxW39UJWjoTiYHtsyw5DAwAAAKO1LaQH2X9suC0rCra/z3BRs10h/4FO25zPaa91CaA5H4XOoqQpb1p9kpVFNW03pmW7kbDdA4YIAAAARuuXkBZkv9VwOz7os904k2+7YaIBMRD2pM9xF//70ha1dVnoP6s1tnWh4YTaxYW6ryRcH+O5+UXopH1p4ty/FgTaAQAAoNU2hbQg+9OGAghRTEPTa7bek277oCnf5Bzze1rUzo9y2vmNYYTafRz6P4SbXa6GTjC+SctDWnq39w0bAAAAjE7K6+ixNLXg6Jd9tveOoaFhG3OO999b1M682bQbDSPUJj5MPh/SFwNfMKR2bQ1pa6e8ZAgBAABgND4NaQGFCw1se2cYbkAfZpuXlX9yjvk2BKzW5LTvtiGE2sQZ41cTr4e7R9C+lPRulw0jAAAAjEZevue5KWOer3G7G4JFThm9wznH/BctaN+hnPYdMnxQi9Wh89Cq6Dr4OCubR9TGzSHtAcBWwwkAAACjcSbx5n1/Tdt7JSsPetR/0lAwZK+E9s4UL5ppv8bwQS3fASk5z2OAfdTpmf5JaOcVQwoAAMBs87o3tJ+EzuJ+P2TlXujkHX0c0oLCdZdjE9rXbybu/60atvVC6D1j8HuHPCOSl/N8wwjbNS4543HtG1cxJdSdxD5owzohJxPbus5pBAAAILiwI3QWHnsyomDCNAYaor8S+2CQoGNcVO5a6B0wXOzwZ0T25hzv34ywXd/ktOsjw+ba59o3kJj+7O/E/W/L+bY1sb1HnVIAAADTaUlWDmTlbguDC9MSZN8bml0ANQaRLvao72aoN9c7lJW3LkEMeC4aQZsWhf7B1qfdNuPa59pXzYLQebibsu9ft6jdyxPbbFFkAACAKbQndF6F/3cMyiQH2WOwJ2UG5dPujX5Zp3rUFcddXmna4ELOMb97BO3ZHep/0IVrn2tf/+tRr3I1dALybZKaMmi1UwwAAGA6rMrKb2MSYJiGIHuUmu+17AKo+0PvReTedBrQEttzjvdLI2jP5Zz2bDNcrn2ufZW9l7jP8RrVxkD1H4nt9z0BAAAwBbZk5cGYBRmmIcj+WmI//F1DQGOH04AWmV/wnfTiENuyKqcd90Mn9RKufa595S0v0f+ftHQfzie2/7DTDQAAYLJ9PIYBhmkJskeps+Q2JdS1PvROQbPPaUALnQj1vb0xiIM57ThumFz7XPsqu5C4v1davA9nEvfhrFMOAABgch2scHN/p3tT+W7opBdZpBsb9UHiuHxfUE/Mtd4r3/AJXUxLrQvtD3a+YZhc+6hkc4m+f6vF+3E6cR9+MOQAADDeUnM6Vy1xAaoPa6xvkyEbmn0lx+ZiVt7WbUMXAzkPQ9oCqCv61LEsdFLKlA3Mw6jdCO0NsP9leFz7qOxaYv//2PL9+DpxP24bcgAAGG+Huz/s79YcXHjYrTMG2XeFwXOaxhQWcZbtekM2FNtKjE1cEO41XTZSxxPH6mCPzy7Oyu89/jb+NzMxabv9ob1B9v0t6qeYw35jVj4KnZm1MQ3Hn93r9INuWVyx7gvdz9/r1hcXgT0XOg/x38/KK659lLSjxDi83vJ9SZ3JftewAwDA5IizXM8OGFQ4EfrPln0+K5+GzozalLriTfvh7k2sheOG5+WsPEoYn8ehE7Bh9F4J6Qugzj2XfujxdzdDZ3Y7tN3K0N4g+8oR983C0HnIHc/xXmstPO1+J8Q3Vs51/76KA6GzuOOl0P+BetzOF1l5wbWPBKlrjfwyBvuSmpP9vmEHAIDJUzW9S+qr8SkpauINuyDf8MUgy/WQFqx9VXe1yq+J5+k7BedinI36ku5kjPwc2hdgvzTC/ojB/S9D74Dxne6/xfQm8xva/vKs7M3KrdA7QL2/hceQa197vF7iPHt/DPbnfDCTHQAAptrHFYIKNxLrPlVQz5e6f2SOJIzz1dDu2YjTamdIzx8c9co7HANgb+pKxsyu0L4g+84R9MPSrBwNvd8Wi2nhdofhvhUWA9enc76HFrfoGHLta4/U9GfxerVgDPYnNbf8ZUMPAACTK/UV19lldUGdcXZ6Xn72s7p9ZFJSjlwJ3jBoqzgr9V7iedpvYb9tupExFNcOeBL6L/jbxHfWstA/9Vlsy8Ih90HMYX0n9E/jNsqAdr+ZvBdd++jhTuJ1bBx+L84L6SkSzxl6AACYXPGmPOX16dnlq4I68wL3N0O7ZrZNm58Kxja++v+8bmq1I6H6zNt9uo8x9k3Osb23ge3tzdneN0Pc77zZ4jHY/24Lxiamj+kXaPzMtY9Z1pa4Zu0Yg/15OZRb0wgAAJhgr4Vygbon3RvqXjYUfPYt3T0y6wrG5mHozPaj3V4K1RcshnGWd3250sD2ruRsb8OQ9vn5nHY8GmI7UvSbzR5Tfqxw7aNrT4nr1jg8+Hg3TNZDAwAAYEBlZ8f2msX3XOi9CNpMOaqbR+r7gjH9QBeNjbKLQF7QZUyAmJbhn5zj/OUat5U3O/X2kPZ3VXdb/dqxuWXjszunrUdc++hKTVP4YEz252yJa/Eaww8AAJMvvo5+I5QL3L0xp46vc/72ehh+/lr+Z0WwGNck2VHiPP09dPJZwyQ4nHOsH65xO4dytnNoCPv5Ysh/oLB/wPrj4p6fh84DuFjqSLezKae9cS2JeSM4Xlz72ueXMDkPh+MxfTdxf+4aegAAmB5Fr1TPLX/OumkuSmHxhu4dqX3B7KpJEs+71IXjXtddTJC8BSzrnGF+e4Tfl3Hxzb9ztv/jgPVvycr9UP/bZkUB7VGktnHta5/7ideu02OwL+tL/Gb+2tADAMB0OR7KBdpnZtNtDKOd9Ue+33LG56zuGUtfJJ6jX+gqJkxervSNNdSfl/v994b3bUFWfg35KTSWD1D/lpy648KlLwzY9rzvogOufYTOuj4p167jY7AvJ0v8Xt5g6AEAYLosDvl51XvdlMfctf1eE7+Wlfm6deRjmjeGa3XRWFqZeI7GlBPzdBcTZG8ot15IWadz6v+o4X0retD98QB1xzfOHhXUv2XA9ufV/a1rHyV+Xx5r+X4sDekPDG4ZdgAAmE4bQ7nZ7NdC79lxT93EtkLezMWrumesXUw8R7fqKibIsu71pdexHoNeg6xBsCj0D5w97W67KZtDcYq2QfyW8F3x3oDbyKv7imsfIT0w3fYg+2clfifvM+wAADC9TodygfaroR2vhvOsg6Fdr+9Tj5ib+kHi+fmj7mLCXMg53ncOUO+uMJqFGJeE/DzwsbwzQP3bE78rmgyyP3Tto3scjHu6mPgwLnVdlLjo72LDDgAA0+u5EjcQ/WasSVHRDmeDBWknTcybfLvkOblStzFB8oLGlwao96ecerc1uD9fhWZngf+Z+D0x6D7m1f3YtY/QWdcg5Vg81eJ92F/i2vuJIQcAALaGagH2+CrwGt3XGj/njJMHIeMnzoj7vcJ5+bmuY4LEtT7uh3ofKq0I+bNRm/q+XB36p7+pI/j9VonviUEWji1a+PSpax+Z7xKPxXMtbX98yJ06G/8vxxoAADDj21A+mPepbmuV+6H6GwnjUI5N2Xj+ULGfbrvZZ8LkLRK6v0J9eTmWjza4H98UnLs3B6z/VInviYUDbGdJaNdMdte+djqYuH83W9r+8yXG6C1f0wAAwIy4yNu9kjd+S3VbqzwWaJgYx/sEIn5K7KstTgcmyLqcY/16hfquh+GnF1kZml00MT5YS1274faA+1K0aPp91z7XvsymxP2Lbz7Mb1nb3ysxPl/5igYAAOZ6t+SN31ld1ipPBBomwt4e+x7XTXgxK+sT++qi04EJcyPUExh/PeSnfGjKkVAcaFw2QP1lUsUMeu3eEprNK+/aNxnXvvklxubtFrV7VUh/YPVbaN8DAgAAoCW+L3nzt1WXtYZAw/jb3GO/H2XltVl/cz1YAJXps7+m74Zjod7UMyniLPO7BefrhQG3sa/Ed+nuAbf1YUH937n2ufZ1paYiPNyS9j5X4hob3wh5wVczAADQz/KQPoNnZobtMt3WCo8EGsba2j5juHnO332S2F8HnRJMkLx0K6mLlca/qXsR1RTvJJyv7w64jdRFJmNZMeC2ThfUf8i1z7Wva0MYn7zscZ2CnxPbG79zXva1DAAAFPmt5A3gt7qsFcrm1BdoaI84G+6fHvv8QY+/jWshpMzc/NspwYTJC4ClvFWVl+bkUoPtPlNwrsbzeeGA2/g78Xv0jxr252Jo1xturn3tdjW0f/HQeP79GNID7K/7OgYAAIp8WvEmcLuuG7mfgkDDOFqSlWuh3GzQU4l9ttlpwQTZFQZLt3I+5/M7G2x30dthPwxY/7wS36Of1LA/RTPHh/12m2tfu6WuJXJ5RO2LD65/SWxjfBj+iq9iAACgSExX8bTiTWCc2fO8Lhypszk3hbRTDI71mhVatDDhG4nn5fe6mAmyKPR/iyNeu5bmfHZpzvWtjpnk/byacJ7uHXAbLyV+Hzyt4Tr9YsE2rrn20cPpxGN025DbFVO+3Ajpb4HIwQ4AACQFL1IXe+pXzuvGkToQLII5bk72GKs4K3N+wmdTXsGPQbUVupkJkhes25PzuT05nzvdYHvfTThP1w64jc2J1+g6FiTdUbCNL1z76GFx4m/MO0O8ZsXvhMeJ5068Vi80jAAAQIqvQz2vNb+nK0cmL9/wHt3TOvt6jFMMnC9J/PyHiefkfl3NBMlbSPG3nM/lrTWyocH2nig4Px/VsI2tid8Fr9WwraJUVa+69tFHfOBxJ+E4/Ss0m3JobUhfe+hO9/gCAABIsi3nBuNhKJ82ZrkuHYk4U6xfOoRfdU+rbO8xRrdDuVfRFyWenxZAZdL8k3O8r+7x93npVG433NZzBefnxYa+T+aWH2van7zZyNdGdDy49o1OnHX+XIm/fzGkLdIbz8t1Nbc11nehxO/Z4xX2balDAgAAplcMiN8L/QPsa0L5NDIXdevIXA7NzmJkcDGf+tyFA+93z7Wyjieek2/rdibI4VAuXcnnOX9/qOG2/l5wbp6oYRspQfaXa9jO6oJtfOzaN3ViGpWn3etaqjhL/VLitevMAOMX1zx5q3v+/xXKpT6scj3+ufv59Q4LAACYTnk3OjOvWa8L5dPG7NK1I/FJsAhmm8WZbnfDs4suVr0pfyVYAJXp83Io9+bGrZy/X9NwW++H5lOsbQnFM3Lr8HHIT3uzZITHhGvfaFzr9vGCimP2KKQtOFrFthK/WeN1+FSo/jBqbfjf25zzHBYAADB99uXccPwy528Ph3JB9gfBgoujENONPA2jyT1Mvjh770aPMdkxYL2/hLQFUKVxYpJcSfyeW5/zd78PoZ1FCytuqmEbeQufxqBfXSks8mblH3HtmzpLun37eIA64nXpVMHYna1Yd9F6CDMB/L1h8BzwMxNWTjosAABg+qzNuamJN0yr5vx9nKVU5nXbOnPAUs7ZnDG5GTr5axmuhaGTG3jueOyroe6dwQKoTJ+9Ocf6qVl/l7dQ50dDaGfRebmqhm28mVP/BzXtx6qQPwv4hRYcE659wzWz4O6DGuqKi6LGBzV3Q1oKqBTX+vy+Pd8991+sqR92BQ9zAABgasUFE/PyrPfLq/paKJ82Zo/uHrq1BWPyrS4aul6LrR2rqe75fQITc8stw8AEiTNP8x4UL+iWfukonobBZ6+meFJwXi6oYRuLQtobaYPIe5vtsGvfVDoaBp/JPldMtXJwzrhtr1DPc3PqiPnSXw31p3JZP+s7RqoYAACYQl/n3IT+WvDZL0K5IHtcPPVFXT50FwrG5YAuGpqTPfr/Qs3bOJJ4Ppplx7R8z73fLf3+/cKQ2liUc7oOG/rUvbqm+uODgH4LpNeZjsa1b7zMTh/0co31fjhnzN6qUMfWOXV80sD+b+3+xp3ZhlQxAAAwZbbm3Hw+Trgpjzfbf4ZygfbLun3oXgr5OU7/7d7I0qz9offs0oU1b2dV4rl4wZAwQfIWNvypW/r9+9YhtfF6aD7I/kOf63ld8hY8/aBlx4Rr33AsmNPPl2q8rs19MF3lbY/jof61D2a8EXo/zPEQGwAApkjMmXov58YzdabP2oSb2FHkvuW/DgZ5ukfpg9A7L3BTKSp+CmkLoD5vaJgQMVXS/ZxjPW8x0GGldfguNBtkfz30X3y8DjEVze3Q/0GGa9906rXY7p/d696aAc+vczUcx1fntG1Jxe+Xl7v7Gvfrm9BJuzbq7xQAAKAFLuXccP5Wsq7PQ7kge3xlfrUhGKp4w3clYWziwoALdVet3g29g36vNLjNXcECqEyf46H8WiFHh9i+z0JzOdnjd/zV0H8x0jr0y8V+J7RjsVPXvtH4osJ5V6VcrNC2JUNq2+wiVQwAAEyRfTk3B/FmfE2NN/d1BfIZXEwjci9hbK6FZgPA02RLnz7+quHtPpd4Ht4OZtwxOdaF8gGxN4bYvqIFwwf53i2asb14wLbnLSTa9tQYrn3N+jkMJ3h9ukLbtobhB9mligEAgClRlN6l6kJgL4fyaWMOGo6h25g4NnEsYyB4mS6rbHtO/64cwvZTH3xJ38QkuVHiGvTXCNqXl5e9am74TQn7umWANseHdjf71LvbtW+qza/w269q+bhC+46F4QbYpYoBAIApEW+Ub+XcHMR/G+R19cMVbkjeMSxD934ol9onplN4WbeV8kFOn14fUhvOJY5xTPWw1JAxIfaX+H7b37Lvhiqpa+JM/Adz6okzi+em8Pi6YntjwPBimIx0U6599VsfhhfArvKg6GqQKgYAAKhZDJ4XLYY46IzW1Jlic9PTvG14hm53hbGKweGY83hb6AR2FujGZ8RZfUUz54aVKqnMK/zfGzomxMoSx/3KEbQvBq3/DPWkb4rpceYu9vpH6DxQj2V2ipTHoXze9Ph91u9h3Sdjeny49tVrfxheALtsKsNR5GOXKgYAACZczMX6Q8LNwcYBt7O54k1JfNV4j2Eauh2h85Dj3zEsx1rYnzEAcCXxeH+x4ba8UaFPY6D9BacFEyDlAdOlEbYv5v1+1KddHybWsTN0AuezP/t7+G+ak4/m/Pu5Em1c1qcfH4ZOsNm1z7UvJP62rKPE62bZNCzDzscuVQwAAEywmAIivpqemqM2vhL+UoXtxJuKt0JnBt0gNyi/hk76GDcpwxNnQv4j0DCQuJjhqVAuL+3foROoqvtYX56VT8Oz6SPKpEg4EToPzBY5PRhTuxKO9Z0jbmO81vUK9MZzd23BOf5dj8+dD70XN507Ez0lJU1Mq3KnxzbiQ8TVrn2ufbN++w3rYcXfFdo37HzsUsUAAMAE2hCqB9lmAm3/dG9Ci25S46vqdS96FW/abhjGoVnWDdAINJRzsoYgTTzXYhqnM6ETqH+jxPbj357OytnQmYV+v4F+joG2C1nZ6zRhjCwK+cG/OAN8YQvauT70DmbH2eLxYdmK7t/F9CQxrdqJHvsVz/u8xUdjype5Qfn4QHz7rD6Y372efxZ6L8waZ+jGRScn7QG4a99gXh/ifp+r0L4rQaoYAABgQJuGdMOwocGblQeGcejizMobQaAh1d0G9uu9Ett/r+UBDhil0znH8+kWtTPmTv8ylJ8RHB/wHQjpixbH2em3Sm4jXg9i7vXFrn2ufT3sDe2dJb44SBUDAADACMWbxJgT+LpAAzDGVoVO2pheZVUL2xsXaYwPzuJbLVdD5y2Xx90SZ6vHWbnfhs5Ck+sG2E58OB6D+nEG991Z24n/G1NynOtu43XXPtc+AAAAYHBvhs7ssSZmbAs0AODa59oHAAAAU+OV0JllGQMPcQbkzdDJG/x4ROUrQwKAax8AAAAAAAAAAAAAAAAAAAAAAAAAAAAAAAAAAAAAAAAAAADUbH5WlmRlbVZeK/G5F7LyZlaWZ2VRVubpSgAAAAAob01W3svKyaycz8qtrDzMyuOsfNfnM/e6/34/K39l5VxWTmRlR1Ze0qXQmBgI35iVL7Pyc/c8/HdWuV2irl1zPvtv95yO5/1HWXledwMAAABAb6uzcigrN8N/A2wxuH48K5uysqCgjjjzdXNWjnY/N7ueG936V+lqqEWcbX4kdB5wzZxnT0PnwdjOrLyRlYUV6o2z4J/rnsux/vtz6o/n9xLdDwAAAAAdK7JyJjw7ezWWH0MnfUQVy7LybY86Y5DudOgECIHyFmflcFaezDm3vhzgfC06l3+ds63rDW0LAAAAAMZKTA0xd8b5TDlR0zYO96n/QeikpAHSbQid9C+zz6W/Qyf3epOWdc/Z2du9GorfbgEAAACAifVV6B38juV8zds6k7OtQ4YCknzW4/yJge5lI/zO2G9YAAAAAJhGMc9yv6B3nCX7XM3bi/X9k7PNzwwJ5DrR47yJ6ydUCbBXnX2+JfReFHW+4QEAAABgmuwI/YPd/3b/vQkfFWx3s6GBnnoF2B9n5ZWS9ewN/3vYdSsrr5X8/Mo+5+4WQwQAAADAtHg+K/dC/0D3Xw1uO852vRvyZ9AvNkTwH5/2OV8+LlnP1z3q+LNkHQv6tOVrwwQAAADAtDge8meTf5RYT5xBG/Mznw2d1DMvJX7uaMH25XeG/3mrz3lypWQ9e3LOuUUl6+pVx0+GCgAAAIBpEHM3Pw35Qe7nE+rZ2qOep93/XmRDwfbjTHf5naGzjsHtPufJuhL1vJCVRznn3PKS7epVx33DBQAAAMA02BfyA9y/JtQRA38P+nz+TlbmFXw+/vuTgnZsM1TQ962T70vWc6zgfKtjJvtjwwUAAADANPg95AfbjibU8UFBHSkLIP5cUMdZQ8WUW5NzfpRZrDSucfA4p66ywfH5fep5asgAAAAAmHRLQn5gO5btCfV8W1DHoYQ6ThXUcc9wMeXOhupvm8y2s+Bc+71kfUuDmewAAAAATKk4w7woyL4+oZ4rYfBZ6B8ktGWlIWNKxWO/39oJO0vW9V3BeXaiZH0bQ/+1FAAAAABgon0cigPbCxPqeVhQx4WEOrYmtOUdQ8aU+jz0ny2+sGRd9wvOs60l69s+wHkPAAAAAGPtdCgObKd4XFBHyqKMbye05T1DxpS6HupZq2BlwTkWFyAuG7Q/GOqZEQ8AAAAAY+dcyA+4PUqs51EYfCb766E4yP6VIWMKvZRzTuwoWVdRiqjzFdrXL/3MNkMHAAAAwKSLM8zzAm4PEuu5V1DPtwl1PBeKg+wnDRlTaFef8+Fp97ypo66ZsqlC+273qWupoQMAAABg0v0Y6gmyXwyDB8cXh+Ig+2lDxhTql9bpSoW6juecX9cr1Le8T12XDRsAAAAA06CuIPuZgnreTahDkB166/fGyakKdZ3MOb92VqjvvT51fWDYAAAAAJgGP4R6crLvLahnXUIdKUF26WKYRndDfQsB9wuyX6nYtrM96ooLIS8xbAAAAABMg7ggaV5Q+0liPW8V1DEvoY7loTjIftyQMYX6LSz8doW6+qWLWVehrvl92uY8BQAAAGBq9JqFOrekiEH0J30+fymxjvUJbdltyJhCT/ucD8sq1NXrrZNTFdu1I/RejHWlIQMAAABgWnwZigPbixLrOt/n8/sTP/92Qlu2GDKmUL8g+7wKdb07p447WVlasV0/92jTMcMFAAAAwDTpNRN1bnk9sa5zfT5/IPHzWxLastqQMYUehupvmcw1N0XUoYr1vNqjPfdC9YA9AAAAAIyll0JxYHtzYl13+nz+TOLnd4d6FmGFSfNLqCfI/nKPOnZVbNMPNdYFAAAAAGPtnzB4HvSlOZ//K7EdXxe046yhYkqd6HNOzC9Zz2896vi0Qns296jnvGECAAAAYFp9FfKD2ymLIm4tqGN5Qh2XCup411AxpTb3OSdeLVHH533q+KZkW+Jiq3MfzF3PynOGCQAAAIBp1SuFxOxyNaGOkwV17C34fFzA8UnO5+9mZYGhYkrF8+PvUO0tk2juYqezZ8b/E9IXUI3n4NzFTmOaqBcNEQAAAADTLqZ6yAuSv5Dz2Rigu1vw+aKUMRsLPr/fEDHleq1Z8HPC53aF3gsR/zTrv+1MqGdheDYPewzQv2RoAAAAAKAzE/Vh6B/k/iTns++G4sVTY/kgp45vcz4XU1EsNETQc7HRLX3+dnF49g2TA7P+fU1WHnf/+72srM7Zbvzba3PquhLS0kABAAAAwNR4L/QPdN8OnaDdXDF9xI05f/soK1/2qONBVlb2qOOtnO3Gul41NPB/4jl4ucc5Eh+CzeREX5WVfeG/edMfds/vuWY/IIuB9o+ysmTWuR1zwccHYE/nbPNo8OALAAAAAHqKQbZ+Ae/vwrO5m8+G3rPeYzDwZo9/i7NhZy+QuD50gnu9thdztG8yJPAf87NyJDwb+O5X4jm6Mqe+d8KzC5n2Kz8GD70AAAAAoND20Jl13m8R1BhE39f9v+f++8lZ9bwSOosi9kr/EoP5eSli4ufeNBTQVwycx/QvMS97nKkeU7/EWe23QueB2MdZWZFYV5yVvqv7ub+79Tzufg9cDJ01EVbpcgAAAABIF3O0nwtps1tnguK7e9QTg3znS9QTZ+cey8pSQwAAAAAAwLiLs1c/C50FF++HzuzWmRmuv2XlVFa2hmfTyMwVF1X8NHQC97Nnyj7q/v9xBu2HWXlelw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Hssyco7ugEm2nPOcwAAAACo39as/JOVJ1l5UXfAxDqflX+zciEry3UHUyA+WNqWlWNZOZeVm1l5mJXHWXna/d/7WfkjK2ezsj8r67MyT9cBAAAAKZZm5bvQCbrF8lPoBCSAyfTJrPM9BhZ36BIm0IKs7MrKpdAJpP9bocRA/KmsrNOdI3MiZ3z2jUH7P81p/3HDCwAAMBk2ZOXOrBu+M1mZr1tg4r2dlQezzv0YSFyoW5gQH4bOm1l5AfT41tavWbnS/b+LAu6/ZGWtrh26dTljcnUM2n8tp/1vGF5ohVVZ2ZKVvVk5GTqTj+Kko7vd30qPw3/ffIoPYO9l5cfQefvp8+7nl+lKAIDp9MWcm71jugSmyqvhvw/ZYsBqhW5hjK3Oyu8hP1j+KHTe5lgw63Px4fK7WfkzFAfb4+xjD6SG60bOeLT5wcfrOe2+blhhZOIDrgNZudi9JvxbY4kP1j7vXo8AAJhwMT3MT3N+EH6pW2AqxaD6rVnfBTHoLjUG42ju2xm9Spx5+HpOHTHwfjKkBVFW6vKh2Z8zFkdb3O5jOe3eb1hhqDZ0v9/vhnqD6nnlcne7AABMoLig6c05PwCP6BaYai+E/wba46vQ7+iWqRAX9pyEnPzbQ1re9dRgx1cJdcUHUq84hIZiZc443A3tXKB2XsgP5nlIA81bEjprN9wMaUHx+KD229BJG7M5dGajz31zaXFWNmZlT1a+T7z2/NC9BwMAYEK8Hv6bGiKWk7oFCJ1A++053w8WRJ1c87oBgpvdoMI42xLSgidlHyhfSqgzzox/yeE0FJdzxmHLmB2XlwwnNCoG12PKlochLbAe3zp5a4DfT/H6UhRsf+h3FQDAZFgfnn2N/pxuAWaJwcK5My+365aJEtOhxBl6f4f/BhjGVcyrm5JPNz5AWlSy7hWJdce3QJY6tBq3K2cMzrewvedz2rvTcEJjPgqdB6ApbyN9UuHa0M/LIX/9iJlywBABAIyvODNj7kyO34KF24BnxXzsc2djbdYtYy9+38dX5v8JvWfxjaNlffanV9lTcRsHEuv/3iHWuBgIe9Kn/+N/X9qyY/NpTlv9/oL6rcnKlYTv63hufhE6aV+aOPevBYF2AICJFFPEzJ3BHmduPK9rgD4+mPOdEWfzrtUtYym+Mh8XWMzLDT2uQfbvQ1oAPAbiq+bsjoHde4nb2e1wa9w3of4HKU34KKed3xhGqN3Hof9DuNnlaugE45u0PDybnrNXed+wAQCMj5U9fuTF2Rtv6hqgwNnwbKDyBd0yNuKs3oNZuR/S8tGOmx0hLfBdx4zBQ4nbuRekjWnaxpz+/71F7cybTbvRMEJt4mz084nf0SdCJ2XaMGxNaE+cwGBNDwCAMfBcVq73+EF3UNcAid8hcxdCjWmm5uuaVotvKcXX4FMWe5sp98dsH2Oqjb8T9y0+WF4+4PZWlujLEw7BRsU3EvJSBLUhYLUm5K8NANQjfrdfDe190+iXhHZdNowAAO13occPuT90C1DC5h7fI1/pllaKwYYjIe11+dm5oY+FzgKf4+TTEvv4U03b/DmkB/VXOxwbdTin/79oQfvy3nw4ZPigFvF79nbCd/LjMLp1ZTYnXje2Gk4AgPba1+fGf42uAUrq9Rq2dAftEWdZHw3lg+vxYcmKMdzf+CbFnRL7+kFN291TYpsnHZaNeiW0d6Z40Ux7v8Ognu+AlOvA4xb8XklZnPuKIQUAaO8Pz6fB7FOgHqt6fKfEQNYSXTPycTnZ5/s+L7j+ZRg8fcoo7Syxv//WuK+rSvazxcWblZfzfMMI2zUuOeOp17zu2H8SOgvb/hA6azTEnNuPS35n1VWOTWhfx5RQqQ9a32lBe08mtnWd0wgAoH0/8q/1+OEWc/NajA2o6kSQe7pNAYYzoVpwfRIWrr1cYr9v1LztWyW2vd+h2qi9OX3/zQjb9U1Ouz4ybBP3mzsuwHw+lHuTSJC9uvjwMnU9jracb1sT23vUKQUA0C4HQntzlALja3Wf75bXdM3QxLeUvgvlgixxBuWkBNejFSX3/3TN2z9TYtvXHbKNWhb6P2iKAc9FI2jTotA/2Pq022bG35Lu7+27oX2B9UkOsi8InbdBUvb96xa1e3limy2KDADQsuDD4+C1daAZF4PFlEdhbVa+D9MdXJ+xp2Q/vF/z9neX3L6HUM26kNP3u0fQnrzj44LhmpjvoHuh3cH1SQ2yn0rc76uhE5Bvk9SUQRbNBgBoidN9frCd0TVADd7t8x3zrq5pxBtZ+TGUD64fCZMXXJ9xoWR/1J3jdn3J7X/uMG7U9py+vzSC9uSlMtpmuMZaXJPhtzAewfVJDLK/V+Ia2MZA9R+J7fc9AQDQAmtyfrC9rXuAGsSZYb1SIcS81/N0T21iIPfnUC24PslvLc0L5RYQfNrAcbmg5LhY6LJZ87PyIKf/XxxiW/IWxr3vO3KsbSk4zgTZm7W8RP9/0tJ9OJ/Y/sNONwCA0Tvb58faQzd2wBBuFHfrmoFtzMqvoXxwPd6UT0Ou5zdK9k1T+W3vh3KB/sUO7UadCO1YfPZgTjuOG6ax9XEYv+D6pAXZU99gutLifUhdz+OsUw4AJs9LWfkgK9+Ezquv97s38k+7//uo+9/+zMq5rJzMys6svB4EdEfhRT/WgCHZFSzyWLc4SzL1VfKZEq/D0xJcn/FhyT5qKgd22fz47zjEG7UutD/Y+YZhGksHK4z1ndAJqMY0am+G0SzAO0k2l+j7t1q8H6cT9+EHQw4Ak2FB9wb2yoA3EnHm9Nlu0GC+bh2KI2F4i74N28kGb3ofNBRQmfSFp5ock39nfRfVVd8mXxG1ynuot0X3lLIjdBZoK3uNPRSmK7g+40zJvjrdUDu+CfKyt82N0N4A+1+GZyztKznOcWFw6Rnrdy2x/39s+X58HUb7BhYAMERx4ai/Q/7rzjE/7K1Q/jX2GHCPi9Ws0M2NiA8y7oZ25CNtwofdH5x13vDG4/Je96Y8RTyG7w+wrY8m7Jg73B2TuzWPy8NunTHIHmdLD5r/9El3nNf7mqjdP336/GddUyi+7RUffv5V4fz4IkxncH1G2VQ6Bxpqx6GS7TjnsG/c/tDeIPv+FvVT/M24sfu7JD6Eim97/Nm99j7olqrpjS50P3+vW9/l8L+3XeN33itjdDxtKzG+cTHU15yCjdhRYhxeb/m+pM5kv2vYAWB8xVcYi2aGxZvalbM+E4Plxxu+ISHd1in5obY2pOdk7DdrPd5UvjBAGxaGTt7pe4nbiymXJj19Uvw+ODtn23UEAAAnEUlEQVTg+X4i9H8IFxdx/DR0HvSljvPh7g2v1FXN+TZnDFbrnp7i8RgfGpadcRuD63Em9DJdWGrR01jebagd75Vsx9+GrnErQ3uD7CtH3Dfxt0t8cB3TUPRauPpp9xiNb+2d6/59FfGhVlyz41Lo/5A8bueLAX+LNe3l0EnHNY2TKNomNY3aL2OwL6lvYt037AAwnpaGzuyLogB7vxktW0N64EuQvTnncvrxuwnc330Vj6k6F2UsCrDE8+LNKTsOq6Z3SX2NPiVFTby5F4gcjs9yxuEL3fMf8c2MPSH/bbG84PpSXfh/FlX4fmkqF/rWku2I1wQP/Zr3c2hfgP3SCPsjBve/DL0Dxne6/xbTmzSV2nF5VvaG3m/BxgD1/hYeQ/EBw/WQ9uDsVadco14vcZ6NQ2rM88FMdgCYWDFwXhRgjxf55wvq2RUE2Ucp3hg9yenHQxO632cqHFMbatz+xoJtHZnS4/HjCuOSmrLnVEE9X/o6GKotOWNxU/f8n4Xdc+KfUP6tmxhcf04X/sdbFb5fmsqPvKlCW14yhI1r6jfpIGXnCPohPpg7GnpPhImp3uKkg3lD/i7slyrjYqienqYJRxLGNK6j8YLTrXGpb03HBzYLxmB/UnPLXzb0ADB+Up6mf1RjXYLszXinoB+3T+h+r65wTNXZF++H/Dzg0zzztMoDkKL0InF2el5+9rO+CoZuecGYTnN+2hgwijP9y65ZEI/xg0FwvZ8tFb5bmnqjqE0Bf/5nUeg/8eBpaOZNp2Wh/1udsS0Lh9wHMYf1ndA/NdsoA9r97hcutuT4eSXhPL4SvDE3LHcSv1vH4TfgvJD+9rc1PABgzOxJvNlPnRXwYiiXNsYsx/ocHVGAoQ2+LRngOFPjtn/M2c7XU35Mxhv46yXH5quCOs8UfJ8s9lUwEnnf+wensD+WhE5O4rKLJAuup3k3lA9sL25wrMu2ZZshHIpvcsZgbwPb25uzvW+GuN95s8WfhObWJyhjec5147MWtO+ngnM4pr153ik2FGtLfLfuGIP9eTmUW6cIABgTRTNCq84KOFHyZnO9oajFlYJ+XjDB+7625DH3pKaAS96stUl/sJHqtQpjs7xPXRsKPvuW7h6ZvAU8f5+ifohvrsQ89A9D+eB6DMoLrqepkgqkqWvgwgpted8QDkXeNePKkH+HbRjSPj+f045HQ2xHin6z2WPKjxUjbNe6ULxGxitOr6FJmRA2U8bhwUeZh8Q7DD8AjI/DoZlFIsum7zhpKAYWgwd5wd7HU9AHZRc5q2MWW94Cn387LP+/IyXHpteMvxh8vJXzmaO6uZXBkpnUDAsnfP9f6B7nj0K14PoSh1ApX4byge2m8k4vqNCWzw3hUMQxz1sH4eUat5U3O/X2kPZ3VXdb/dqxuWXjszu0cz2b7wvO3w+cWkOVmnrwwZjsz9kS14o1hh8AxkNcJDN1pl2VH+U/hfQfEIKRg9ugj//vjYgyQY7rNWzzck79Xzgs/78YYL1RcnzemFPH1wVjuVA3j9TpBq4j42Bl6KQ4elLy+L4XOsF16Y2qORnatb5L2bYcN4RDkzeh5HCN2zkURrvwfEzXmPdAYf+A9ccHifHh0IVuqWOiwqaC78h5IzheVgQLUbbNL4nfqxfGYF/iMZ26RstdQw8A42N7iZvBKq+W7ix5wymv4WCKXp2/MCX98EfJ4+6dBm/EVjss/2NdybH5c9YN9kuhXECe4TtUMEYHJmx/Y0ArpkZ7GsoH12OwS3B9MOMeZPcG3/DkLWBZ5wzzvBnkTc9Gjanr/s7Z/o8D1h8XGu61vsSgb5AV/Y4aRWqbfcHM4rZJXdvk9BjsS5kJQV8begAYH6dCs0H2ZSVvOLcYkoEUzSL9dkr6oexieIPMSMq7EfvVIdnT8ZLjMzPzbmMY7QxBir1fMJbfTdj+ll175N9uoMADoXoIslNGXq70jTXUn/c2YdNrUizo/ubIS6GxfID6t4T8VGAvDNj2tj2c/S3Ut0YV9Uh9U2wc3hAqc+3aYOgBYHyUmfFb9SJ/pcQ2dhuSgVwo6N9TU9QX10sGO9Y2cHx/6JDsKc7evVVibOINfMxz2++V8muhk/qK0dsWpitlVTzu9pQ8nmdKzF9v0bzhBSoE2dkbyq0BUlbeRIePGt63oofXHw9Qd3yLrGidiS0NnjvDniCyuKHfiwzn+/VYy/cjLoye+sDglmEHgPHyuMSPlrcrbqPMbHn5SQdzS//+fx+GwRfZTLnx7Fffk+4PaXrbWHJ8roXeM+meuuFtlc2h+IHJvAnc77hPMV3XX6F8oDU+HBVsr6bKmwRNEmRvt2Whf2qneM1eNEDdi0L/wNnT7rZH9b3754D1/5ZwLL/X4LlzZcjHSd6s/atOo5FJDUy3Pcj+WYlrxD7DDgDjY34YTt7qMnnZ3XAOpuihyZdT1Bfx9eM7odxs6bKvUn8e8mepku90ye+gq2Hyc3yPu7cTxnHVhPdBTFd1LQi2D8OxMN5B9mOGcOjy3vjbOUC9u8Jo1sNZEvLzwA+67kzq2k1NBtkfDvkYORimZ12RcfIwjP+ErUUl7k3i2i3WbQGAMVKUA7GuH9CbgyD7MMxL6N9dU9Ynn5U8xj8vWf+NnLq2OiQLPRfKPQjpNbttnm5slZTFvN6ekr6IsyH/CNWC7a86lJLsDuMdZBewG768oPGlAer9KafebQ3uz1eh2VngfyYey9saPHceD/kYORsssN5Gvycei21Ojbm/xPXhE0MOAOOlbJD9RMXtvFZiGxYvrG5RQv++P2V9Emd4PSxx/N3tnhcpXg/5s08Ef9NsDdUC7PG14TW6r3VeSBi7aXsAFdcz+SUItjfhvQr9uqChtiyo0Jb3DeHQxbc47+eMycoKda4Y0e+B1aF/+ps6gt9vlTiWNzZ47jwd8jHyc87vDr/tRue7xGPxXIt/H6Xek/zlWAOA8VT043x2+aHiNpaE5mfL05kVrH+fdbhk0CN1sdK82WNHHY6lfBvKB6c+1W2ttDhh7N6d0r55M3RmypY91uO117oDvVV5SLeoobYsqtCWbYZwJPIWCd1fob7PRvR74JuC4+vmgPWXWVNp4QDbKbpPGPZM9vuh+ht241DGNU3VwcT9u9nS9p8vMUZv+ZoGgPF0o8QF/1Go9lR9YRjOTJhp92YQZO8lzjAr8zDpr8R6/8mp4zWHYylxQbh7JW8SLSrbTilB9p1T3kcxYP5DEGyvw9sV+nF1g99jZdvytiEciXU5Y3K9Qn3Xw/DTi6wMzS6aGH/vP0g8jm8PuC9FC6HfH/Lx8TgIsrfRppC+xtL8lrW9zFtXX/mKBoDxdbbkD7P1DQVd2vqjaJxsCILs/ZwoeZxvKqgvL+/0nw7FSt4tOUZndVkrpczm3aWb/s8rFa7BM8F2D/I6nqvQf009zF9foS0vGsKRyZtkUiYwnpc67q8G238k4Tf1sgHqL5MqZtDr8ZbQbF75sp4EQfY2ml9ibNr0ADMu9p76wOo398IAMN7eL/nDrMprr68k1v2T4Wj8Bn9ag+wvlTzOfy6o72TOZz9zKFb2fclxsrhs+6Tkpf5cNz3z/XQ6lHvjJpYfQyfAN+3K9tvmhtqxuWQ7Yrvl3B2dvAUIywQhj4V6U8+kiMfN3VC8psMg9pU4lncPuK0PC+r/bsjHhiB7e6WmFzzckvbGB8HXQ/obIS/4agaA8RZnHT4q8cMsPolfXHIbqTlTLQA2mDVBkD1PmVyI/4b+i2rGm9u6F02jY3lIn+0Ty50w2Ew96peSHsxM9t5WdoMfZQM8Mdj+xhT327WS/bW9oXZsK9mOWw75kZ9vgy5WOqrfA++E5te++K7EsbxiwG2dLqj/0JCPjUdBkL2tNoTxycsefw/9nNje+J3zsq9lAJgMh0r+OCs7M+erxB9DZnQNJiUtzzQ/yHit5HF+ssLN7SWH4cB+KzlO3+qysfse2qmbcsWA1ZehfF7g+P0zjcH2sil3PmyoHbtKtuM7h/rI5QXAUt6U2jKi3wNnCo6t+KBu4YDb+DvxOP6jhv25GNr11lrZNWIE2Yframj/4qHx/PsxpAfYvZUGABMWFEn9MT0zm315Yt0xcH4rSPswDPODGaRFLpc4zuNN6vMlb24FDwfzacUbxu26rlXXk6ZnWE6L+JbGF1l5GATb8xwI9TxAHdTJku046BAfubwHIynpVs6P6PdA0RtfPwxY/7wSx/EnNexP0czxYb+x9lMQZG+z1PUvLo+ofUuz8ktiG/8JnbSqAMCEeT2Uez3yYmK9uxPqOq37a1OUm/bYlPfP2wMGQWK+6X6pHOqYOTbN1obyuZVnzwJ6Xhe2QspClB6qlu/TA6H87MppCbaXzYXe1KLJ50I7csOTblHONT1ej5bmfHZpzjWryd8DryYcW3sH3EbqOjZPa7j2vliwjWsjOC76vR3zj1OmNU4nHqPbhtyumPLlRkh/C0QOdgCYYDEAWSbQXpQ2JuaivB+Kg/ULdH1t7hT09wldlPyaaSxxYbH5sz77Xs7ffqNrBwp0XA+Dzcw6rxtb4c2EsXpbN1US3xLYl/A932sh53UT3i9l+uOPhtrxeyi36Okih3Qr5AXr9uR8bk8YzeSRdxOOr7UDbiP1wVUdKY92FGzjixEcE3lvx1h3pz3f+ym/G+P1csWQ2hS/E1LTvMU3n0zMAYApEPNW/1PiRvGDPvXEmSlFaWLiTYgAe72+L+jzU7oo6QZ1dtmd2L8bdW1lX4d6XoF+T1eO3MaEcVqlmwYSr5txpurfQbB9RpmHp48bakOZHPp/OIxbI28hxd9yPpe3fsiGBtt7ouDYelTDNrYmHsev1bCtUwXbeHUEx0Rerv09TpnWiA88Uh46/xWaTTm0NqSvJ3Sne3wBAFMkvgL7bYmbxZij+qXuZ+Nrb3GmXV6+yDi7/X3d3Iii1yctEpm+TsDcV5VjyoZ+r4bf1q2Vbcvp+7K5qGM6jeW6dKSKZkA+DRa5rvO7LC7iebPkeRLz1L45YX3xZck+eLHm7b9YcvuHHL6tkje5ZHWPv89Lp9L074GitEQXa9jG9oRj+Mea9ud6aFeqmGhxzu+9X50ujVrR/b1d5rs35YFzPC/rfsgc67tQ4nv/eIV9W+qQAIDJsSl0nv7XtdBO/MF6NMid3KSPQrOLYU2KvSWP3bdC560NAZN6xYB4vzzTMcC+JpRPI3NRt47UtlA8i4t6xWD7+xWu15e7322T4K2S+751yMf93PKGw7ZVDody6Uo+H+HvgaK0RHWkBUwJsr9cw3ZWF2zj4xEeE5dDszP46e1k936xzHdknKV+KaRPDKs6fvO615rPS15vz3d/z5b1c/fz6x0WADA54g/gMq9A9yp/hk7+dou7NG9TKJ7JQSfdwt1QLnD7c8M3m9Mo76Zo5pXsdRW+c3bp2pF5v2BszumiRsVg79WS58svE3ATP6/kd/qRmrf/VYltuw63z8s54/V3j7/PextuTcNtLVrrqI60aVtC8YzcOnwc8tPeLBnhMfFJTtu+d8o05lq3jxdUHLOUtcWqpusq8zA1Ln58aoD7g7Xhf29oevsPACZEvMDf6fPj5NPuj4eYfuRC9wfn993/+2zozOSJP0YE1odrURhNLtpxdCDU84aG3LrV7Av5Qb/ZDpcck5iuaoUuHomDBWPzpS4aipi259eS5038+w1jvM9HQ7n89HUq09dHHJ6tdCWk5Vhfn/N3vw+hnUUTXzbV9P2Rl5atrhQWv7f4PIn3L0/DaPLuT6slNdyrLO/en+aN3dmKdRethzBzTxDflh00B/zMJJSTDgsAmAxvh9551ePsFU/U2+3Pgh+AFpvtiHkRU2a8FJW9urK0tTk3QPHmau7CmPGYLZsK40fdPBJF60Js00VDFQOCl8N0BNtfDeXS19V1LczL3zyKmc5Uk5dGbvai8XkLdX40hHYOY2HpN3Pq/6Cm/VgV8mcBt2GSztmcNt7snvvUZ2bB3Qc11BUXRY0Panq94fRFxTqv9fnNer577te11seu4GEOAEyUT/v8oNyna8ZC0UwLuf3+50gYfJ0BawyUE9+2yMuz3i8H62sVxmeP7h668wVj4u2m0Yj5bS+GyQ+2/1Fi/7bUtM3toVwefNppWch/+LugWx7l/B5YNoR2PgnNT6To91bkLzXuR94baodbckysLejrb502tToa6n/rNk4Mm/uG3fYK9TwXnn0b6tVQ/8Sz9bO+Y6SKAYAxF3+Yn+nzQ/Iz3TM2thbcFGzXRf/filBuBqK8nIP7OuQH9fJ8UXJ84uKpL+ryobqZMx43dM/IxaDR+VAu9dI4eb/Evp2uaZvnwugWXKVeF3LG7v2C4+vCkNpY9AZeHTb0qXt1jfcb/RY9rzMdTdPHRCwHnDa1mZ0+qM61jj6cM2ZVFvyee2/1SUP3bw9nbUOqGAAYY3HWyk/BzKtJsDDkz3Q6pIv+IyXHogcW9d1A5K0XUHQDH2/M/yw5Rr6/hifOuMp7aHVcF7XGS6H/Q/VxDrLHY/DvxO+GR2HwWb9LQ/HM4pnyl8Ou9fIWNvwp53fyMB+gXA/NB9l/CM2u6ZO34OkHLTsmXgrFkzE+dOoMbMGcfr7UvZ+pw8kw+Nsex0P9ax/MiG+a9XqYI1UMAIxxYORiMPNqknyfM57ndM8zN1BVAuwx+DR/yG2NN58/drf9pPu/8f/fU+PNSFNimpB7Of2ZOitobSj/9sFHDvOhWFUwDht1UevEB1sncs6pB2O4Tx+U+G4YNKD3SYlt7XC4tV68pt8P/dPB5C0GOqy0Dt+FZoPsrzf8XRAn9dwO/R9ktNHBhPN7v9NnIL0W2/2z+x29ZsDz61wNx/HVOW1bUvH75eXuvsb9+iYrt1rwnQIA1OzLgh+OH+uisZP3SvNd3fOM70P5IPuJIbYv5nn9raA98ab1rRb38aWctv9Wsq7PS45VnLG62mHeuLw3FR64YWy1uEhczIf7JIx/kD0eZ1dC87PL5+UESAb9jmN0jlf4PXB0iO37LDSXkz0e01dD/8VI69AvF/ud0N41O1K/U+KiuAudQpV8EQZbIym1XKzQtiVDatvsIlUMAIyp1Fm88WL/Tugs8ihQ0n6LQv4r7Mt10X+8WeEH8JtDbN+PiW2KY97G2cL7Ctq8psZAgCBXO2+S3TCOhxjkikGw/9fe/UBolb0BHH9kJBkxxkqyhiQjWUNW1liJJBljDEkyMoYka4xEkiRrSZIkkSRZGZIxkkSSsZLIGslKZCQZGUaSMRK/33323tne7nvuPefe9773z7zfD8faZt5zz3vOee+897nnPmcp7/Onir4P3ZDO9YmXtE/r/ZbgvLyZqVUZvSm+D/ySY/tsm4D/1EDdthXb7Q22PW4j0bKnxtAnteYd5sLLBsegVU1JPsHrNHtxDEr+QXZSxQAAUFG2VexZly/BxfvH4AvVuFfGgosGZCtug0lyidf7O8E8ninRBbXpEdMy3USxpXdJu2nYFkmeNuYM07yp4p4I+YXuqRR9ekafGHlf4fcw5nhe0BzXSRcPdIj/VJhL/WNMp8p5k+DvShG59uPysqe9abTH4b0ONNDmDoneGPtQRebFLsc5od9NLgbnUdi1pfg+l7akeTr7cs7XyqSKAQCgwmy5HfMsM8GXn5UMSybiVgzdoHvqHEwwV0/n2K5hqe5jpnpRHZdO4W2Dn/dzKfqmn6neFHpBuBjR59N0T2VVPfXBjSad02871nudKVRJpxL8TSkiF3fcvgNpUtfoTdBPoXp0IcwfGc3nuL2fqpbLPMl3xYVgPLbwkYq1I8drzTQ3il4IqWIAAICjpLmN8yi6gmgrQ5OJpxF9PEvX1NGVNK4rEzeU5GI67omRooNjGjx/JM3dkHRXyr7ZzXTPXFyKhWG6BwVyCYh/DQI9Lk6K27nmDl1fWV0J/qZ0FdA+DVr/I9H7syRZBavn7vBmr/pkX0dQalOk6I3UpHnT9bvVhDS24XnZHErx3UOfPtB8/3vFv6nBgqJvTkl+15hJU3cVkY+dVDEAAFSYPso4K+ULtOuKml8Znob1x/RxD91Tx2Vl9JOc27Qv5Weor8B+1Lyt9x3a2Gj++L6UfaMBtd+Y7pmKyuX7TnjsGcW7JG6P6NvSGrluzneZLq88lxzRjwtsn+b9Xoho1xHHOvQGaPgJpOfyfZqT0dDPJxJeY5j68bP4weYq2y/xex+VuZTt/HQ/p/f9NcX3kbzzsZMqBgCAZeBH8QOHZfsSOB+0DY2JeszxD7rGeNFqm5d55w7tDC5Ik35+DhbQf9pWXXnvms9WHx/vTnEcvQDZLsny6JuKPunRzwVNU88zo3QNSkKDYh8t5wQNOGrqmPAGj7qy8Jm4LRA4QFcvCyMO4130Uzr69+tLxDyMeyJU920xpYucFPPmpuGV6C4pafQ7yAcxpw/btEzmiD4FUMaFSlUKsq+Q/G5WvEvRvrzzsZMqBgCAZXYB+qpkXwTvMiwNG8jwy2YrWJD4VCNrCvpsJt0UKs/HsHdKfT7XJGUhuFDtdbig/SjZb5Cl4/qGqZ9a1M2pGeEGBspFU13cdDwn6IreJ5a/CbXlTynXptNozGqJD/7pDZky7FmgaY5MwWy9OX9Cvi1W0fQkmirtquF96d/VuAUEmvIlHJTXm9z7avqgLfgbremUTBuz6sKZo8vwb4Ku1p8UguxpbcvxfU+kaN+0kCoGAAA06K+SfRkkrUnjolbg9dE134nbvLHoHLubg4vjV5Y2FrHCbk9OFxc7pbkpqpDOxYg+HaRrUFK6kvaCNL4KVTdvPuuVjXTpshR3Q+ZmidrZEcznpCuCdf7rkxudjsc5KPGbmUfts6Q3/duX+VzpF/en+AiyfzMm5V0l3i6kigEAAA1YK+YAu26ipEG0oSCYohcWGmy8J37w9kPwxUCDVLriazFUGl11epGhaViPlC+faJX6aansKWm79Uv5eKitexlO5ECf7DClM3pE16AifhZ/jwb9bvMg+D4T/i6jK301JZKuhNRAjT5d1E3XLXt682QkopTxxsqa4Lv6rWC+LoTmsK7K1Y2AdaPJ3gaOoze8NaivK7jnao6j/30XfE70GNtabL7odzHNh/9aCLIDAAC0/EWmaUXX1wy/JOuXT338Vjc0HQi+gGs6GNvKm2mGJxPXIvp3G13zn2Mx8/CDlHuFyVCovZsYTuTgtJjTFGygawAALerX4Hv3nBBkBwAAaCn6iGNUztGjORxfH3M9K/G7waNx+jiwKW/nFF3znymp7hMVtZ8h8u0jD5qL1rSK/QhdAwDAv3TfEl0IoUF3Xf0/E/ztXCyo8IQwAABAk+hGR1FBxYc5t+V4TFtWMlSZ6I/o33665t8N8aq8N8CTmraeYziRA9PTMffog2VV2KsAAAAAAACL0ZgLa11hsT7n9mgqjg9CkL3ZTEEhXVXT3uL9Erf50t8lb3ttLnl98qOLaY4m6xXzJpCdLdYPBNkBAAAAAGhhBywX1mcKatekkC6m2TQv/gshR2PYdMznoezpLx4LGwUjP3pDbib0GdGUYz+1YF8QZAcAAAAAoEVpIGTRcmG9rqC2mYLs/zBkmdNNCU2bMe1s0f7olfinOlaXuO1H5fvNWTuY3miyW4bPSV+L9gVBdgAAAAAAWpCmZHlpuah+X2D7Xhnac41ha4rtXvkS6msN0q5twb64F/N5uFDidvcJN0mQryOGz8hIC/cHQXYAAAAAAFrQQYeL6gcFtW1jRHt+ZdiaZp+hv596pa2F+uBny+dhY0nbvVv8FB1L7TzBdEaT7RA/fVft5+NYi/cJQXYAAAAAAFrQE4eL6g8Fte26VG/DyeXgsKHfx1vkveuTHS9iPgt3StpuvVlWG+wkD3t1bPbKkPjBWU2PpZuFakqixZj5Nh/8/KP4T/tMeOWqV/Z7pTvHds+HPh9HGU65EozNci1zDDEAAAAAAN9bKfWrEKPKlpzbNhjRju0l6j9d3b3GK1vFX/3sSvPb62r89eLn9l5RwrlxyND3f7TAZ+KU5XNQto0cde5cCrXxd05tpbfJK2elfrNQDa5rkHZPcH6Oo+eOvmD8P4fqeRPU36ynLrq8MiukiAEAAAAAAJAecX9E/FGO7eqX+tzgRedi12DmLvHzcU9J/UaxSfLWjxjem65I1VWro1KeHOi6KraVUkH0SPxNp7sla68Gav+W79M47Oe0Vmo/inmTUC0PJf0G0z945bahTp3PN8W/oZfle3hfc4yF4JwNAAAAAADQknR1epJcrDekuauu28VPc2E69jOvrCqgjzQ4dV6+T4uggStN6zDslV9StktXwXeIvxJV6/8Yql9Xp64pwRzZIfUpIcZKPq+1386In/Zl6WaN/ldX+2pQWm9maFqL2lW+Oob/xMx9HZPNJXufYzXtuyfZBlKRvRGpX3G+VK5mdIxzEp1HeyiD+jXA/q6mXl3NvpWhBQAAAAAArUwD5qYV43HluWSfMkPTHmjQczbimBr8/CHnvtGA/zlD/+hK9nVNOJ6+v6ehY71u0rGS0hXTr0JtO17SOa03Ll4mmM+ay1qD539afu9yST+/unp5B6ey0rsYM7cmMz7WrZhjnW2g3s2hc/RUAedlAAAAAACAUrIFF+MCQ40E9zRAuFP8FDCfJT6on3cgR9v1PtQOXb3Z7BWb+j4/hY6rq7FXlmCe6E2Hm6G2nS/hfD6fcj7bNv7t5FSBJsxJPc90ZHw8rW825pgnU9Spe2HUPtFyhmEFAAAAAAD4ZoP4OXXTBiA1SHRd/FzQptQpGiDW4PFur+wTf3X4fXFbQX9L8k8Rc9LQjheSX6DftOL1VInmi45hbbBtXMpxE2DJrGQfZCffNNLab5lbzcqhP2o5bl+CuoZqztdvpVybTwMAAAAAAJSGBk7/V6Kiq7mHC+iHq4a2zEi6AHvawPOAmDdFbSvRfNGNWcdrxmpjidr2JeO5eInTAxr4nMzHzK1XTTy2ni/mJP7maLtDPfrE0dJeBVccXwMAAAAAANCyNNC+KMUH2DV4W8QGjqYAu/ZH0vzzuhnl0mpqXfX5c8LXd0X0y0AJ54ymC+orWZveZjgXH0hzN/rF8nbFMr9GHevRc9DF4NyoqWe6HV93yXJ81ydkNH1WL8MJAAAAAADgRje2m5ZiguuaQqanoPd9IqJNRxPWc13Mm7YmsTKiLdeZnk6yysmuAXZW7SItffrlq2WOrXWoZ9BQz9fg3212Wo6vK93bGCoAAAAAAIDmOOiV19L8wLpuKKkrNLsLfK/bI9o2nbCe32Le5+qEdZnqeMS0dKKbPs40MCf16YWTdCMadNwyz546zuVPMedO21MW+nNb+qS9DBUAAAAAAEBz7fLKTfFzgmcRVNcVmM+9ckH8VCNF0yDW+4i2JkmPsE7iN49Nmv7GVMdHpqOz9cE8SzI3dfw0vUYX3YcM2OafS67/w5Y6XFJITYk9PRcAAAAAAABystUrQ1655pUJ8Vd6a+B3MVQ+i7/K8qFXbge/r6/TgH3ZUhNE5Uy+l7CeyxIfyMpiJfsiUzCxncH8ex7My6U5qgH1d8E8Pid+XnnSZiAra8R+U2efQz23LXWcdajjhqWOeYYLAAAAAAAAaWn++ajAU5LNSjVvd9yGsUmD420S/RQAgPIbEHuQ3eVJHtv+GC6r0A87tIWnNwAAAAAAAJCKBqjS5kquNSzxAaznCevrFFayA1V2VOyB7VUO9Xy21HHXoY5Bh7b0M2QAAAAAAABISldu6spwU8BpOGFddyQ+gHU1YX27IuqZY9iASrgp9sC2i0VLHS5prXY7tGWIIQMAAAAAAEBSv0v0avFVCeuybQo7mLC+fZJ+1SqA4k2IfZNdFwvS+Er2bWIPsl9kyAAAAAAAAJDUa0mf47hWl8QHr75I8qD9GclmRTyAYtyznBc+OdYzb6nntkMdHWIPsl9jyAAAAAAAAJBEt0QHm/YnrMu2weFkivZFpZ/Zy9ABlfBQsgmyP5DGg+PtYg+y32TIAAAAAAAAkMSImANNmqO9I6O6lsqeFO17H1FXJ0MHVEJWQfZblnoOONRBkB0AAAAAAACZi9qUcDpFXVckOnD1OkV96yPq+othAyrjvmSTk33MUk+vQx0uQXbSxQAAAAAAACCRqHzJN1LUdU2iA1fDKeobiqjrMMMGVMZdse/V4GK7pY4VDnWsF3uQ/QpDBgAAAAAAgCTmxBxoGkpRV1SQfTpl28YNdS16ZQ3DBlTGuNgD2y40iP4l4vWPHevY4dCWQwwZAAAAAAAAktBUDaZA0+4UdUWli+lNUVdbRNtYZQpUywWxB7ZXO9Y1GfH6U46v3+3QlgGGDAAAAAAAAEnoBqemQNMPKeoy5Uy+kbJd+8W8GWsXQwZUyn6xB7a3OdY1EfH6046vH3BoyyaGDAAAAAAAAElEBdlXpKjrQKiOD17pTNmuKUObLjNcQOV0iz2w3edY14eI199yfP0hyWYTVgAAAAAAAOA/nyV9juSw8AaHZ1PW02Noz7ykD9gDKNasNJ4HvTPm9a8c23Hd0o5xhgoAAAAAAABJPZFsguxbDHWMpGzT/QzrAlC8ixIf3HZJKzVoqWO9Qx2PLXUcYKgAAAAAAACQ1FUxB5vaEtbzzFDHiRTt6TPUM8kwAZW2ReKD2y8c6rhmqWPM8npNgfUl5vVzXlnJUAEAAAAAACApU1BbS0+COn6PqOPPhG3RzVbDaSVee6WDYQIqb1Lig+TrYl6rAfI5y+ttKWN2WV5/iiECAAAAAABAGhq8eifpciSr8GantSvjZ8V9A1VdQRre7FQ3OdzAEAHLgn6Wo/aA0HIswXkmqhyOqeN2zOv0Zt4qhggAAAAAAABpaUA9HHSacnjdSOg1p4N/f1Tzb8MO9WhwK5yHXQP03QwNsKwMSXSg+71X2g2v0Rtwb0K/u+CVC4Y6Pnmly1DH9pjjal09DA0AAAAAAAAaZdpsdCDidzUQFs6PfLrm55u9shj8+7xXNsUcV3/3ZaiuaXHbxBBA9YxKdMD7jtQ//TIu5lXveh6aMfxMzye1KaZ2BOch0/E0R/sehgQAAAAAAABZ0IDVX1K/wlODWUsBq41eOS7f503X9A9Dhvpq0ztogEsDa2uCn+nKVM0Fr+kbvoaOeUlI2wAsd/vEX3UetQnqseBc88Lw82s19fwkflopU/qXUYlPEaOv+5WhAAAAAAAAQJbavHJe6gPfUUVXmHbF1Ncv9RuZRpWHQsoGoJVojvYJx/PDUlDctFfEj2LfVLW26Pntslc6GQIAAAAAAAA0iwbONf2L5mXXleqa+kVXtb8VP53DUfEDWy50VfpI8Lp3QT1an65ifeCVU+KvkAfQmvTzf1L8lFUfg/PD0jnimVdueGVQ7Jsoa1qqE+IH7mvPNQvB/+s56IhX1tLlAAAAreP/n5gvVk+IFvQAAAhhdEVYdE1hdGhNTAA8bWF0aCB4bWxucz0iaHR0cDovL3d3dy53My5vcmcvMTk5OC9NYXRoL01hdGhNTCI+PG1zdHlsZSBtYXRoc2l6ZT0iMTZweCI+PG11bmRlcj48bWk+bWluPC9taT48bXJvdz48bWkgbWF0aHZhcmlhbnQ9ImJvbGQiPnk8L21pPjxtbz4sPC9tbz48bXN1Yj48bWkgbWF0aHZhcmlhbnQ9ImJvbGQiPng8L21pPjxtbiBtYXRodmFyaWFudD0iYm9sZCI+MTwvbW4+PC9tc3ViPjxtbz4sPC9tbz48bW8+JiN4MjAyNjs8L21vPjxtbz4sPC9tbz48bXN1Yj48bWkgbWF0aHZhcmlhbnQ9ImJvbGQiPng8L21pPjxtaSBtYXRodmFyaWFudD0iYm9sZCI+czwvbWk+PC9tc3ViPjwvbXJvdz48L211bmRlcj48bXVuZGVyPjxtbz4mI3gyMjExOzwvbW8+PG1yb3c+PG1pPiYjeDNDOTs8L21pPjxtbz4mI3gyMjA4OzwvbW8+PG1pPiYjeDNBOTs8L21pPjwvbXJvdz48L211bmRlcj48bXN1Yj48bWk+ZjwvbWk+PG1pPiYjeDNDOTs8L21pPjwvbXN1Yj48bW8+KDwvbW8+PG1pIG1hdGh2YXJpYW50PSJib2xkIj55PC9taT48bW8+LDwvbW8+PG1zdWI+PG1pIG1hdGh2YXJpYW50PSJib2xkIj54PC9taT48bWkgbWF0aHZhcmlhbnQ9ImJvbGQiPiYjeDNDOTs8L21pPjwvbXN1Yj48bW8+KTwvbW8+PG1zcGFjZSBsaW5lYnJlYWs9Im5ld2xpbmUiLz48bW8+JiN4QTA7PC9tbz48bW8+JiN4QTA7PC9tbz48bW8+JiN4QTA7PC9tbz48bW8+JiN4QTA7PC9tbz48bW8+JiN4QTA7PC9tbz48bW8+JiN4QTA7PC9tbz48bW8+JiN4QTA7PC9tbz48bW8+JiN4QTA7PC9tbz48bW8+JiN4QTA7PC9tbz48bW8+JiN4QTA7PC9tbz48bXRleHQ+cy50JiN4QTA7JiN4QTA7JiN4QTA7JiN4QTA7JiN4QTA7PC9tdGV4dD48bWkgbWF0aHZhcmlhbnQ9ImJvbGQiPnk8L21pPjxtbz4mI3gyMjA4OzwvbW8+PG1vdmVyPjxtaT5ZPC9taT48bW8+JiN4QUY7PC9tbz48L21vdmVyPjxtc3BhY2UgbGluZWJyZWFrPSJuZXdsaW5lIi8+PG1vPiYjeEEwOzwvbW8+PG1vPiYjeEEwOzwvbW8+PG1vPiYjeEEwOzwvbW8+PG1vPiYjeEEwOzwvbW8+PG1vPiYjeEEwOzwvbW8+PG1vPiYjeEEwOzwvbW8+PG1vPiYjeEEwOzwvbW8+PG1vPiYjeEEwOzwvbW8+PG1vPiYjeEEwOzwvbW8+PG1vPiYjeEEwOzwvbW8+PG1vPiYjeEEwOzwvbW8+PG1vPiYjeEEwOzwvbW8+PG1vPiYjeEEwOzwvbW8+PG1vPiYjeEEwOzwvbW8+PG1vPiYjeEEwOzwvbW8+PG1vPiYjeEEwOzwvbW8+PG1vPiYjeEEwOzwvbW8+PG1vPiYjeEEwOzwvbW8+PG1vPiYjeEEwOzwvbW8+PG1zdWI+PG1pIG1hdGh2YXJpYW50PSJib2xkIj54PC9taT48bWkgbWF0aHZhcmlhbnQ9ImJvbGQiPiYjeDNDOTs8L21pPjwvbXN1Yj48bW8+JiN4MjIwODs8L21vPjxtc3ViPjxtb3Zlcj48bWk+WDwvbWk+PG1vPiYjeEFGOzwvbW8+PC9tb3Zlcj48bWk+JiN4M0M5OzwvbWk+PC9tc3ViPjxtbz4mI3hBMDsmI3hBMDs8L21vPjxtbz4mI3gyMjAwOzwvbW8+PG1pPiYjeDNDOTs8L21pPjxtbz4mI3gyMjA4OzwvbW8+PG1pPiYjeDNBOTs8L21pPjxtc3BhY2UgbGluZWJyZWFrPSJuZXdsaW5lIi8+PG1vPiYjeEEwOzwvbW8+PG1vPiYjeEEwOzwvbW8+PG1vPiYjeEEwOzwvbW8+PG1vPiYjeEEwOzwvbW8+PG1vPiYjeEEwOzwvbW8+PG1vPiYjeEEwOzwvbW8+PG1vPiYjeEEwOzwvbW8+PG1vPiYjeEEwOzwvbW8+PG1vPiYjeEEwOzwvbW8+PG1vPiYjeEEwOzwvbW8+PG1vPiYjeEEwOzwvbW8+PG1vPiYjeEEwOzwvbW8+PG1vPiYjeEEwOzwvbW8+PG1vPiYjeEEwOzwvbW8+PG1vPiYjeEEwOzwvbW8+PG1vPiYjeEEwOzwvbW8+PG1vPiYjeEEwOzwvbW8+PG1vPiYjeEEwOzwvbW8+PG1vPiYjeEEwOzwvbW8+PG1zdWI+PG1pIG1hdGh2YXJpYW50PSJib2xkIj5nPC9taT48bWk+JiN4M0M5OzwvbWk+PC9tc3ViPjxtbz4oPC9tbz48bWkgbWF0aHZhcmlhbnQ9ImJvbGQiPnk8L21pPjxtbz4sPC9tbz48bXN1Yj48bWkgbWF0aHZhcmlhbnQ9ImJvbGQiPng8L21pPjxtaSBtYXRodmFyaWFudD0iYm9sZCI+JiN4M0M5OzwvbWk+PC9tc3ViPjxtbz4pPC9tbz48bW8+JiN4MjI2NDs8L21vPjxtbiBtYXRodmFyaWFudD0iYm9sZCI+MDwvbW4+PG1vPiYjeEEwOyYjeEEwOzwvbW8+PG1vPiYjeDIyMDA7PC9tbz48bWk+JiN4M0M5OzwvbWk+PG1vPiYjeDIyMDg7PC9tbz48bWk+JiN4M0E5OzwvbWk+PC9tc3R5bGU+PC9tYXRoPg0Xt6oAAAAASUVORK5CYII=\&quot;,\&quot;slideId\&quot;:2766,\&quot;accessibleText\&quot;:\&quot;min with bold y comma bold x subscript bold 1 comma horizontal ellipsis comma bold x subscript bold s below sum for omega element of capital omega of f subscript omega left parenthesis bold y comma bold x subscript bold omega right parenthesis\\nspace space space space space space space space space space text s.t      end text bold y element of Y with bar on top\\nspace space space space space space space space space space space space space space space space space space space bold x subscript bold omega element of X with bar on top subscript omega    for all omega element of capital omega\\nspace space space space space space space space space space space space space space space space space space space bold g subscript omega left parenthesis bold y comma bold x subscript bold omega right parenthesis less or equal than bold 0    for all omega element of capital omega\&quot;,\&quot;imageHeight\&quot;:133.12},{\&quot;mathml\&quot;:\&quot;&lt;math style=\\\&quot;font-family:stix;font-size:16px;\\\&quot; xmlns=\\\&quot;http://www.w3.org/1998/Math/MathML\\\&quot;&gt;&lt;mstyle mathsize=\\\&quot;16px\\\&quot;&gt;&lt;mi&gt;First&lt;/mi&gt;&lt;mo&gt;&amp;#xA0;&lt;/mo&gt;&lt;mi&gt;stage&lt;/mi&gt;&lt;mo&gt;&amp;#xA0;&lt;/mo&gt;&lt;mi&gt;variable&lt;/mi&gt;&lt;mo&gt;:&lt;/mo&gt;&lt;mo&gt;&amp;#xA0;&lt;/mo&gt;&lt;mi mathvariant=\\\&quot;bold\\\&quot;&gt;y&lt;/mi&gt;&lt;mo&gt;,&lt;/mo&gt;&lt;mi&gt;second&lt;/mi&gt;&lt;mo&gt;&amp;#xA0;&lt;/mo&gt;&lt;mi&gt;stage&lt;/mi&gt;&lt;mo&gt;&amp;#xA0;&lt;/mo&gt;&lt;mi&gt;variable&lt;/mi&gt;&lt;mo&gt;&amp;#xA0;&lt;/mo&gt;&lt;mi&gt;at&lt;/mi&gt;&lt;mo&gt;&amp;#xA0;&lt;/mo&gt;&lt;mi&gt;scenario&lt;/mi&gt;&lt;mo&gt;&amp;#xA0;&lt;/mo&gt;&lt;mi mathvariant=\\\&quot;normal\\\&quot;&gt;&amp;#x3C9;&lt;/mi&gt;&lt;mo&gt;:&lt;/mo&gt;&lt;mo mathvariant=\\\&quot;bold\\\&quot;&gt;&amp;#xA0;&lt;/mo&gt;&lt;msub&gt;&lt;mi mathvariant=\\\&quot;bold\\\&quot;&gt;x&lt;/mi&gt;&lt;mi mathvariant=\\\&quot;bold\\\&quot;&gt;&amp;#x3C9;&lt;/mi&gt;&lt;/msub&gt;&lt;mspace linebreak=\\\&quot;newline\\\&quot;/&gt;&lt;mi&gt;Discrete&lt;/mi&gt;&lt;mo&gt;&amp;#xA0;&lt;/mo&gt;&lt;mi&gt;set&lt;/mi&gt;&lt;mo&gt;&amp;#xA0;&lt;/mo&gt;&lt;mi&gt;of&lt;/mi&gt;&lt;mo&gt;&amp;#xA0;&lt;/mo&gt;&lt;mi&gt;scenarios&lt;/mi&gt;&lt;mo&gt;:&lt;/mo&gt;&lt;mo&gt;&amp;#x2009;&lt;/mo&gt;&lt;mi&gt;&amp;#x3A9;&lt;/mi&gt;&lt;mo&gt;=&lt;/mo&gt;&lt;mo&gt;{&lt;/mo&gt;&lt;mn&gt;1&lt;/mn&gt;&lt;mo&gt;,&lt;/mo&gt;&lt;mn&gt;2&lt;/mn&gt;&lt;mo&gt;,&lt;/mo&gt;&lt;mo&gt;.&lt;/mo&gt;&lt;mo&gt;.&lt;/mo&gt;&lt;mo&gt;.&lt;/mo&gt;&lt;mo&gt;,&lt;/mo&gt;&lt;mi&gt;S&lt;/mi&gt;&lt;mo&gt;}&lt;/mo&gt;&lt;mspace linebreak=\\\&quot;newline\\\&quot;/&gt;&lt;mi&gt;Expected&lt;/mi&gt;&lt;mo&gt;&amp;#xA0;&lt;/mo&gt;&lt;mi&gt;Cost&lt;/mi&gt;&lt;mo&gt;&amp;#xA0;&lt;/mo&gt;&lt;mi&gt;Function&lt;/mi&gt;&lt;mo&gt;:&lt;/mo&gt;&lt;mo&gt;&amp;#xA0;&lt;/mo&gt;&lt;msub&gt;&lt;mi&gt;f&lt;/mi&gt;&lt;mi&gt;&amp;#x3C9;&lt;/mi&gt;&lt;/msub&gt;&lt;mfenced&gt;&lt;mrow&gt;&lt;mo&gt;&amp;#xA0;&lt;/mo&gt;&lt;mi mathvariant=\\\&quot;bold\\\&quot;&gt;y&lt;/mi&gt;&lt;mo mathvariant=\\\&quot;bold\\\&quot;&gt;,&lt;/mo&gt;&lt;mo mathvariant=\\\&quot;bold\\\&quot;&gt;&amp;#xA0;&lt;/mo&gt;&lt;msub&gt;&lt;mi mathvariant=\\\&quot;bold\\\&quot;&gt;x&lt;/mi&gt;&lt;mi mathvariant=\\\&quot;bold\\\&quot;&gt;&amp;#x3C9;&lt;/mi&gt;&lt;/msub&gt;&lt;mo&gt;&amp;#xA0;&lt;/mo&gt;&lt;mo&gt;&amp;#xA0;&lt;/mo&gt;&lt;/mrow&gt;&lt;/mfenced&gt;&lt;mspace linebreak=\\\&quot;newline\\\&quot;/&gt;&lt;mi&gt;Interval&lt;/mi&gt;&lt;mo&gt;&amp;#xA0;&lt;/mo&gt;&lt;mi&gt;for&lt;/mi&gt;&lt;mo&gt;&amp;#xA0;&lt;/mo&gt;&lt;mi&gt;first&lt;/mi&gt;&lt;mo&gt;&amp;#xA0;&lt;/mo&gt;&lt;mi&gt;stage&lt;/mi&gt;&lt;mo&gt;&amp;#xA0;&lt;/mo&gt;&lt;mi&gt;variable&lt;/mi&gt;&lt;mo&gt;:&lt;/mo&gt;&lt;mo&gt;&amp;#xA0;&lt;/mo&gt;&lt;menclose notation=\\\&quot;top\\\&quot;&gt;&lt;mi&gt;Y&lt;/mi&gt;&lt;/menclose&gt;&lt;mspace linebreak=\\\&quot;newline\\\&quot;/&gt;&lt;mi&gt;Interval&lt;/mi&gt;&lt;mo&gt;&amp;#xA0;&lt;/mo&gt;&lt;mi&gt;for&lt;/mi&gt;&lt;mo&gt;&amp;#xA0;&lt;/mo&gt;&lt;mi&gt;second&lt;/mi&gt;&lt;mo&gt;&amp;#xA0;&lt;/mo&gt;&lt;mi&gt;stage&lt;/mi&gt;&lt;mo&gt;&amp;#xA0;&lt;/mo&gt;&lt;mi&gt;variable&lt;/mi&gt;&lt;mo&gt;:&lt;/mo&gt;&lt;mo&gt;&amp;#xA0;&lt;/mo&gt;&lt;msub&gt;&lt;mover&gt;&lt;mi&gt;X&lt;/mi&gt;&lt;mo&gt;&amp;#xAF;&lt;/mo&gt;&lt;/mover&gt;&lt;mi&gt;&amp;#x3C9;&lt;/mi&gt;&lt;/msub&gt;&lt;mspace linebreak=\\\&quot;newline\\\&quot;/&gt;&lt;/mstyle&gt;&lt;/math&gt;\&quot;,\&quot;base64Image\&quot;:\&quot;iVBORw0KGgoAAAANSUhEUgAABfUAAAIPCAYAAADacDRxAAAACXBIWXMAAA7EAAAOxAGVKw4bAAAABGJhU0UAAAE2FoU2RgAAgABJREFUeNrs3Q+kVsn/wPGPK0kSSZKsSJIkS5IkiSRJEklyJZEka63ISrKyZCVrJVaSJJEkSeJKkrViJVlZkZUkiSRJEvt7Pt9nnt89d+7M+X/m/HneL479frvP+TdnZs7M58yZI9Jsc3rLld7yubd86C2/CAB0Q1vrt/m95UBvWVbzMezrLVPIRgAaZGVvOUIyALTXaK/RXgMwVHUuAIc/e8t/1kKhBkD9FpYGqn7qLY8jx7ot4P5Hesvq3nKitzyKHMMMshGAGmndtLG3/NpbXph66S3JAtBeo71Gew1A5+tcoBE2OwpN6MVlmee377lkAFqu6fXbFNMJPN9bXnuOtepO4vLecrC3XOstnzzHQCcRQGhLpD/69bqnbiKoD9Beo71Gew1A9+pcoJFWmI7Jnd7yUeoJ6o94GggUaABd1PT6bSxFvV1lJ/FZynsHnUQAIe1OUS8R1Ador9Feo70GoHt1LtAK68T/pH+wPJD+g4Ck5ZZZnor/yb0uUz3H8lh49QZANzW5fhvMfTrHHFPoTqKOgp1l/reOin1EJxFAA4xE/qvTXDwXgvoA7TXaa7TXAAxDnQu0xgHxB+CPFtiu3vR3OW74vhv9vN5yQ/ofyXjXW06Ke1Q/ALRNW+q3EXOMoV/njtpCJxFAAx0UgvoA7TXaa7TXAAxbnQs02kLxB/W3lNTouBfZ5iKSHAAa63HNncRpdBIBNJArgEVQHwDtNdprAADUZkT8Qf3NJe1jcWSb60hypzW9ZS3nB6Bmt2ruJAqdRAANtFmGI6hPew2gvUZ7jfoYANAin6XaoL4ajNbfQHJPonMj6rcNdnJ+AOgk0kkE0DjDENSnvQbQXqO9Rn0MAGiZEEH9wxVssyvGTNrs5PwA0EmkkwigcYYhqE97DaC9RnuN+hgA0DIhgvqrTONjJck9wbFIeu/k/ADQSaSTCKBxuh7Up70G0F6jvUZ9DABooRBBfSR3EHdyfgDoJNJJBND4Nk2Xgvq01wDaa7TXqI8BAC1FUD+8b3vL+w7ftLt+fgCdRDqJAIZHV4P6tNcA2mu016iPAQAt1sSg/uwaGiahLOstbxzpvZPzA4ZCk+s3OokAMFkXg/q01wDaa7TXqI8B6lyg5aoI6g86PxsyrDOlt+wyjZSvveVDgf1/01vWe/62prfs7S3f95a1Kbc331Qwut5R898dZj9ZaHq886R3nTfttpzfiPS/z7Azcqz7zP9fUVHaaBpsN/v70fx3pznXqRVekylmH7vNOf7QW0Z7yxYazEHzQll1SZn1W5Xnn7aTqPvfaPLkD+YY9HdzGtpJrLo8zTBpfzDDfQXNvI81rW6eYtpUuo/DZp+7TfmbUsG+1kfqlcORe14V30Ra3Vs2xfx9hTnvQ+Y4tlRwzmpB5D5/xKTvEk+7tu6gPu012mu012iv0V7rVp7uenygSW2dEPmr7rbNsNe5dbVpy7TYlL09pm/pc9D8Rn/7bcnHQN+2ZaoI6u+X9EF9LWzne8sna/9ZC/SIudHcMRXCLevvy3vLY8d5XojZ5tbe8pcnfQbLLXMOi3rL65htnU3Yjm85V+G1b8v5LfPkEXvR49OPC00vIW30ZvsoYX+az56Yc9hlbuB6s5xtLVkaCVohX+4tXxL2e8s0Gqr0KsN1/JJwnjvMcced09SG5IUy65Ky6rdQ55/USZzZW06a4/ft+17Bm3+ZncQQ5UkDgi+tbZ4PdP+eEXMPjyurO2K29yVh/U8Na8OUeR9rUt2sZehGwv70b9cK7m/EdG7HUlx7Lfe/y+SAd5Z9bTH3zNdmm2OO32hH91/PMbwzHbMy7PHU5YPlkQkoiNQf1Ke9RnuN9hrtNdprYcpTyGva9fhAU9o6VeavprRthr3ODd2mLdsKUx8M3th5Y/LsbzHrnOotF3vLP5E+2hXJNrC6aX1b1zlm7et+Mu2UdQntmWjZ30VQf7IrCUH9paah8SqhoKWxymT2d46bzcCahEbNGkeFcCny95em8ttszkn/+73pINjbcpnXW65HFtd5P7R+M1gOVnDN23J+M8wNMlrgzptG6+A4f3Ts75nkH0WgoxL+iGzrgfSfUm40ncAjGTtP/5nykCY4dyESKDgRuR6bTDq5bpLnpdoRaEvNjdF3bncz3Az1ifk+R1k8JMkjFELkhbLqkjLrt9BlIa6TuMpxg0/qcOQZeVJGJzFkebrjOebdge7hI6Yh8ibhenyX4dwWeM7rqFQzUroJ97Gm1M122v9h6sjoeZ3y3GdmZdzXelNHDLbx2KTZYF9bTV32xlO+Z6W8h3xv6hZXB2vM6pD+nbJ+uVAg7yy2rtm/jrxzItI513y2vaagPu012mu012iv0V4LX55CXNOuxwea0NapKn81qW0z7HVuyDZtFRZY9bmm8X5THrNYa+WzJ+a65VF339ZFHxj9mVB+/jD1qm2dJ29ekureHm19UH92ZJu+oP4ZUylfiMk0cQVaK8efxf+0M1rJLBX/K22DZdTa/lkrc8Q1UH60tpWmUXRd6n29rg3nN8e6yX52PHyJ/tYeUfBvjsp5sXWT+d3zu1lWR7JoJ3FepBK+k3DcrhEdOtJmWoX5ZUpMYyTPvHfnI+ufrjkvVFGXFK3f6iwLvk6ivqb4UbKPJBrLkTeLdhJDlqcR8Y8AuCJhLY85lvc5trfD2sbZhrVdqr6P1VE3b5Xxj+S9lviRNicd+3ucoazb638X89tpnvN7YerFOA9MHXshoeO7NVLHPDAdrBOmwe3rJO7LkW82Wtv7NSY/zJDxQSpvawrq016jvUZ7jfYa7bV6ylPoa9r1+EDotk6V+aspbZthr3NDt2nLttPKB/ogbVGB7em53bbO61jGbTSpb+s6vwcxeex4zLr2w8jWj8y3lRnUn2LdkNK++nExY4HWp6qHTUE4FVPJaCX13CyHzA3I1dCJTkXwrfW3ZSmO/3Tk92leZarzpt2W87NHGyW9ZrhEir2aOMtU5tGKfUrCTdTVyf8r43nqfv+JrJs06mTE02G7WHG+We8pZwdybOtcpOExu+a8UGVdkrd+q7MsuDqJuyMNusGrloNG6TlJfkX3csBOYujy1LSGz3nxv1Y4O+O2TlvrfyPNEeI+Fjov7Yms8ypFes/x5L00+e53a509KY/xsGN/bzJ0go56Or67zf/W9HONmNG86xqd80qyjWTSkTrR17x/LtBGDRHUp71Ge432Gu012mv1lqeQ17Tr8YGQbZ2Q+avOts2w17l1tmmLOmjt+6OUMxXQNEdezjIwq8lBfTVX/G+nP/GsY79te0w6yBfU3ymT55q0l2Wm8bjNNBieWdtIG9TfXrBA3/BUMjr/2j2rgbFCJo7ueWn9/YxVuNIWnsFr2mmeHNd5027D+a2VbE/eBu45AllpG5fnrHVPpFjnO0/ZWZIz76a9iez37HddxXnH9WT0do7tDDoVZxqYF8qsS8qo30Kfv6uTOGhw6qiKeZ71dGTY05iOYpbX9Yp0EusoTzelvFHERS2JuQbfZ2zQvRH367VNEOI+FjIvbbbKatrXZe959jcvQyfmRs4g339W3Zcm4LfR04H6z7Qb4oICek6u0XBbUh63Bg6io8geZTjn6eJ+VfxtB/I57TXaa7TXaK8NS3stq9DXtOvxgZBtnZD5q662zbDXuXW3aYvY4tjvoRK3v8qx/R8yrN+kvq3Ljph72Hbrt7OsvPhQOirrhweyLGmD+hsLFugDnvX1IcNMx+9nmEaLfgF7bkxFl+UYBq+hpfngUJ037Tac30+O9a/lrJjTvHGyQPK9pqxP/d8XqJR3iXvuvSSzxP0E9V7Fecf1ocCsI3iXZexMh84LZdYlZdRvoc//lqcuP5IyX/pGgb2S9HOf5u0k1lWe5snkB9pXa7yn3/Ck4bMM29gg9b3+3YT7WMi8pPknGmw+k+N80pb1pY7jyzoiabq452q+krKsFPng3xXHuqdyBjnXZDxvV138tuX5nPYa7TXaa7TXhqm9llXoa9rl+EDItk7o/FVX22bY69y627R5zZLJbw8+q2A/dxxtgLTp07S+rcs1T7l7bt3DLsjE6akWS0c1Iai/QYoF9XdKeU/u7UK2OEPmT3vOdd6023B+rnnO/s55c9uRYr3Dkn/6KdeNMc2rejoSNvr6+P6M1/GxJ8/PrTj//OPY508Z1h+8qvmgoXmhzLqkjPot9PnfKthZ+kb8c0SmzeN5Ool1l6epJu8cMA3UOq2IuSdvTbmN6Ouw7yT7x5rafB8LnZfsV48XZNjXfEcb7qv5d5e71m8f5Uz/g55zTPrY1AzPemntc6x7PcV6ozJ5Pt6stkn4oD7tNdprtNdor9Feq688hb6mXY4PhGrr1JG/6mrbDHudW3ebNi/XVEZpRtEvlP7Dhksx7fwo12j2mxmOs0l9W5e54v+Ow+ANTvsN9u+kw4rOqT/FZDJ91cEeIVhnUP95zvR4JPlf43kgzX8S34bz2+RYP80TfVelPJpivasF8v/2nBWmvV7WOdQuecrtjorzjyuNX6ZcdyTSaBxtaF4osy4po34Lff63cq4X9YMnb96vsJPY1vJUlbue8/kj5T09Ou/4bw08vyrvYyHz0mLrNw9ypMWOSDvuQ8y9drnjmPJ+/HiKJxh0KWG9oh3frY5107xGa482+jHHObtGPr9tcT6nvUZ7jfYa7TXaa826pl2ND4Rs69SRv+pq2wxznduENm0eOmWV63sDSUF6vSdHP1j8NOV5uaZ2WijdMSr+b8npd0J+znFfa60yP5Srjkszgvp55wB2PfU8XXKa13nTbsv5HYtURFcl3eucrpvU3pwN47SNw7k5857dMb2ecXnuKbe/VJx/pntuRlsylNO3km3kb8i8UGZdUlb9VndZ2JbxfKd6Gkdp52zM00lsa3mqylrxj9ZfmbDuLgkzUqWp97GQeemXkvKblrk1Ev+x0JNSbO5k22XH9r4kHEPRjq8rsP46R/2bZ8RRHUF92mu012iv0V6jvVZveQp5TbsaHwjZ1qkjf9XRthn2OrcJbdo8dkm+tyu25ryXu75HcUS6xTcVnQ7o+TeSpxZIx5Ud1B+R8Y+mtDGov8yTHjr34LcN6kTJEJzfSMbK1HWT2pezMshS4dnzuaWZc+yTVDPl1eUAeehXyfcBtrECjblQeaGJncS6y8K2HOd8vsB9JU8nsc3lqSp/es7paoY88HdDz63K+1jIvPRPwHbAw5wdgix1ZdI2q+j4vs1RF03Ncb51BPVpr9Feo71Ge432Wv3lKdQ17Wp8IGRbp478VUfbZtjr3Ca0afNwPTxI80bAz5LvzQTXtIN3pFvmi38quaZ94LdSZQf1oxmojUF9dTomU+i5zWlIJ4rz61st/Ski3uQsxK4P1FzPsH+7AXEy4ff2/F6fWlZnLBb3qJ64J6DfSPZ5GuvIC03tJIY6/7I6ids99Uua1zuzdhLbXp6qsln8ryT6yqr9kbDDDT6/Ku5jIfPSTMdxb6owIPG15HbeYk/a/9Cwju8r6/efSyxPb1uaz2mv0V6jvUZ7jfZa865pF+MDIds6deWvuoP6w1bnNqVNm4frTZA0fS3Xw4A0H0V2TU/zWbpnf0zddUeGRBVB/cGrJW0N6mtlcTsmc+ixHZH8Hw+s+6bdhfPT16h1XtzB0/9HMvkr32lvUofE/crVjJTHYs9XlpTvtxW48TeFa87uuA+wHZPsH/GqIy+0sZNY5vmX1UmcJ/lfj87aSexCearKE096+l6pPiDpPrjaBFXcx0LmJVcnbkNF+5pXQTvP16k636CO7zTH79+XeL3etjSf016jvUZ7jfYa7bXmXdMuxgdCtnXqyl9NDup3sc5tSps2zz7+y1nGr+dM+22efU7vYJ/X9z25sWHp9FcR1N8k7Q7qK32N6bLEv8rxVPI9ba77pt3m89MvrF8zFa/OFaofhFlq/pb3dbI5nnKQ5umsPUfrsxTr7Hbsa1bL6o0tjnN4FdPQe1FBPq8iL7Spk1jF+ZfVSXQFT9J+wClrJ7EL5akquz3pqaOXZjp+/6BljaCy72Mh85JrXs2NFe1rgydtthbc7ntp9ivqm0rsKNcV1Ke9RnuN9hrtNdprzVPFNe1ifCBkW6eu/NXEoH6X69ymtGmzmiP5p/jJG9Tf5Nnn+g72eReK+ztCuhwYhk5/FUH90I2oKiqZgUMxaRT9QnyWEY1NuGm37fz0Q2iPzba0wP7kaDjmvUmpw45135lOYJb10pSbfRJu1EKVnqe8oa6XfB9cqyMvtKGTWOX5l9lJfOfY1m8VdBK7Up6q8syTpvY81N9Yf9/VonMs6z4WMi/traBDkrUDVPQaP3Vs80qDOr7bSqx76wzq016jvUZ7jfYa7bVmqPKadjE+ELKtU1f+alJQfxjq3Ka0abNaL/ljrnmn39kg9cd5Q/KN1teysLDrHX6C+skWiv/LytEORdqbVJNu2k0/v5WRm9Pgus7z/LZIJ1Gdcqyvr6n55hBcYDWE084/va9h1z8vV8f6TsyN6OeC+wuRF5rcSQxx/mV2Eh87trU3UCexjeWpKgc8aWqP1Dxq5c8pLTvPMu5jIfOSa1/7K9rXGk96HCu43THHNi80qOPrqs+/5DzXJgT1aa/RXqO9RnuN9lo9QlzTLsYHQrZ16spfTQjqD1Od25Q2bRnnmjbm6mrznEux3joZnqD+noS66n7XO/wE9bMd55OEDHOwhTftpp7fCUk3D3RZnUQ1KpNHrLwy255tfjPTNEjeRBo0uzLuI88XzJtmprhf2Y1+gG1W5DdFnpCGygtN7SSGOv8yO4ljObeVtZPYlfJUFQ3cv/Ska7TT/qQj6VfkPhYyL7kanxcr2td0TzpcKrjdB45t/tygjq/vA5B5XsdvSlCf9hrtNdprtNdor4UV6pp2MT4Qsq1TV/6qO6g/bHVuU9q0ZZxr2piraxqr3SnWG5ag/iKTb/5LWL7rcoefoH6+m8bzmAyztqU37Sad30XJ/opRGZ1EMZ3BcykqBu386Bx1czNu3zUlwJOW1h9nHedyIvL376T4/Nwh80ITO4khz7/MTuILx7bSTAtRxofX2lqeqvKDJ10H6bTc+vfVHTjnPPexkHnJta8XFabHpwrOzTVlw44GdXy3lNi+bVpQn/Ya7TXaa7TXaK9VL+Q17WJ8IGRbp678VWdQf1jr3Ca0abNa6sknaertxY71ludM3yq/a1EHHbz2UCZOCzYm/m/KLe5qZ5+g/kSaCdanzED6NXHXl7KTXu+o86bdhvM7Yq2rx7AgYCdxhjnHt+ZY9ppO42Vzs7xozifvx3eWecrcihKur86BeCpg2V0u8dN6PC54UwydF5rWSQx9/mV2Eu2P1TxPuV7WTmKXylNVpsr4SFV70VEcJyP//58WnE9V97GQeWlZzPWowg3HvjRdZpbcfvymQR3fBZ79Hc9xrnUE9Wmv0V6jvUZ7jfZafeUp9DXtYnwgZFunrvxVV1B/mOvcJrRp8/TFinwL4HWO+5LvQ7lzpTuib6oMvq80X9wPaXR5KB1FUH/yTS1Lh2+T58Y2tcE37Saf3xxHnnyQct0yOona8fvDBLbmVXgdPlVwY1xqtnsocB3iel1tu2lEuebulgbnhSY1WOo4/7I6ia6GS9pXGLN2ErtWnqpyzJO2+lGh6PQ8R1twLlXex0LmpY+e61G0U/vMUef6vq2wO+d+5ji29ThhnTo6vh9zHGeZnW7aa7TXaK/RXqO91r7yVMc17Wp8IGRbp478VUfbZtjr3Ca0actqT3yfct0rkXWup1xnq2N/n6U71sVc/7g59o9IBxHUn3xTe5RxnZ8k2xNo1017V6C0bvr5uaaJSDtH2qGCnUTtFOqXz3VEa9VPMK95yt2WnNubZRo371M0qMu223Eems/OyOTXu7OoIy80qcFSx/mX1Um0G6hpR4/k7SR2qTxVZaanYxU3x3JTVXkfC5mXLnn2tb3gvo57rr+rvXc757625+iY1NHxvSLljNyrK6hPe432Gu012mu018KXpzquaVfjAyHbOnXkrzraNsNe5zahTZuHq94+n3Ld+5F1/kq5jus7E390pF+rZTM6ddyNlOk9eLCxRDrmqxDUt29qun6W+ZYWOfa/IeNNe0/Am3aTz+9KgZvU2QKdxDnmpm1/PLIqvg/4aQd1fsZtTYtU9HWMsvV9iPNDwSBhHXmhSQ2WOs6/rE7ir9Y2fsuwbp5OYt3laYbJOzr6Za001wmJD+jflXao8j4WMi/5PmClr4wuzLEvvX7/mv/tctqzv0U5rsF5axuvY/ZbZ8d3m2ef9zOeb11BfdprtNdor9Feo70WvjzVcU27Gh8I2dapI381ZcDCMNW5TWjT5nEkZ99L793Rj91/kXRv1SV9S6fNfdurMnnaHdtc8U/D81jyvZnYSFNjOvfbAx6Hq0B/zLB+FUH9XwumY1xFcNnx+98D37Sben43Jf8TxfuS//WaOxJ2nrGRSKfU9QGhtI2c2eZmMJgLe2pNdclxz7ncKbDNOvJCqAbLx4aefxmdxOmmMTpYXwMIWeY4zNNJrLM8LXAESc5LM7le162i87japKPu65PJj1tbch8LnZf+9OxLp8FYnnJfMyP7ipsTd5a4v61wMUcZt9/6SPPKc9GO75YcHd+465llZPhBKTb4hPYa7TXaa7TXaK+1pzzVcU27HB8I1dapI3/V0bYZ9jq3CW3aPFzfevosycHl9Y71NqXY3z3Heks70Lfdm+F6jcb0e49JR6yIOcnDAY/DVZl9zbD+Lsf69wre1L5kqPjtr1knjQBzjZb8K6bCKvMBS9PPz/eqfFIF5CuwaSr2jY6b4jbTWazyCd7WmPL3wZTBaTGNlj2RClfLy6oa65K54n7rp0ggr468UGZdUrR+q+P8y+gkRj+6+iljvpyas5NYZ3m6I+XO61i13zzH+6mkTvEycc8ZWWbjqer7WMi8tFQmjr6xG/rHE4Is+lHLfzN0xjd49rWmQFDwUs5rkLXju1PyjZbf4tmvpnuat1L1FV3fSJ8qX9+lvUZ7jfYa7TXaa/WUpzquaZfjAyHbOqHzVx1tm2Gvc5vQps3L9UZOUoD+nIx/5HXwUOZqwjpTHGVurAN920Uy/nahLjdzpvkgry2TDjgSU+k9CHgc+6TY3L6uecU+5jyWscg2/pR0r97Yr/8kvaLiu9nYjTE9/8eS/mMYXTi/w5519Sm56wvkMyKN0r8d6720ztH1WuApSZ5nOmn5ZI7xfMbG5bmE7WpDR+cH1Nenzpj/aiX+Xup5PTPOZUfaF1FHXiizLilav9Vx/q5OYpYPZ22xysSmjGm1xnPOGxpankbEP4XdlYbe9xd6jresERi/JVyD1S25j4XMS/sT9vXFNLDPRfal+Ss6QinLKNu94h4tl+ZjoyutTsJdSf8wyNc2mJJy/ROS/4NfZ2PS9+eYQNQWk86+oL7Wqz+ZjnLZnR3aa7TXaK/RXqO9Vk95quOadj0+ELKtEzJ/1dG2GfY6twlt2iL9MHvwU9wbD/Mix7je1NWD9ZZlKG/aX00zSr/JfVstU4+se1eaabXmxLTj9c2eWW0O6G+PObnB8kugk7zt2X/aD1Q8lPK+CzAmk+e5mpuhIvkxZYZ8K+6nRVfNzeWyKcD6IbCZJaZ1089vrvg/5vjFVCbRm+/nSF5Z71nvT7POmOcmOVpCJ9E1r920lBXnjYL72tOQOmW1dVw/FdxeHXmhzLqkaP3WlLLwRdLNW3wo0gh4nTN4e9Fz3Gk7qqHLUxuD+r48WdZ8iRcS0vdyS+5jofPS0QL70U7u9IxpuFsmT8Wko+DiXoPfYN3br0m2OUfPSP6RPyOmvVDkQdH1hGBCtIN/PtLx/cdcy7hr8MHk/aqC+rTXaK/RXqO9RnstXHmq45p2PT4Qsq0TMn/V0bYZ9jq3CW3aInZnSMcxR/9p8G9PPbHaOebBRnT7BzvQt7U/uv1rgXXtwewzpSVWmQ7NPfG/Gu97LeGpqRiPl3g8U00Q4WxCJ0tHUK2Uya/VLjGZ80nM+vrQ4rD5bdrXcsfE/RRSRx9uMxXARtOYumul08EM538wRdr/ZQpllZ3EJp7frgz587n0P8AzqIReJPz+kOd4r1bQURzLkF4/59j+U6n3FW6Xx5H88k0J2wuRF6qoS4rWb3WWhc0miOXa/klTT2w0dYWO9Dpm/f5ixnpLG1A6yuVmQlrpm2XLUqZ/yPLkO+7RBrcHdjsavmXZkZDO/7ToPhY6L+2S5MEWdvusyJRGyyN1th082GHSUBd9NfyWVR/uz7Cf+eKfx3uwvYMx9cbymI7fYETWaMrO2E8xnRXX8oc5LteH7D6ZTsJWST8ij/Ya7TXaa7TXaK+1ozzVcU27Hh8I3dapMn/V3bYZ9jq3rjZtWewHYx/McQzOd1mkrOno9BmeoL0OQFkRubbbZHyqqqwP3Zrat10m7oE5V1K2/ReJ+w0Ve8T+NmnBx3O3BW70xsmz76+m8lKXc24jzdyrYzmOS5/sLc2RDkc8ncu35uZVRaZqy/mt9zRUB8sTc8OxO9LrZOI8W9EvXCfNr7YjYZ95liwNHU3jC+Kfc3CwPLQq/SY5LOU/ya0yL1RRlxSt35pQFsQ0fC6Ie9SQveirsWck+/zSV3Km15UGlad5MvmjXJel2eyOQNkfCjpoOkVfc96Hm3QfC10368fZfkkodx9NZ2hRiQ957qcIdj8ydfyMDNt+nfFafbACSJ8zrn8m5fW8mHA9n1mdvM2RjuZl06aeUnE5pb1Ge432Gu012mv1lqc6rmnX4wOh2zpV5K+mtG2Gvc4N3aYt2zpHAP6rlVf1DRXXaPz5MnEqmi+Oc34r2b+10rS+7YcU+eNFzPpZy9pnGX8Aho4YMQVms6lM9DWsfWbZawpJ0emJ9PWpnWabuv0NARsrbTg/fUI7ah1T0txZs8357DPrLk+5r+XmxnjdpInu75xptNw2DWGda++TKfCfU9wwnuS8LuvMTWlf5Dz0mJr+atB0c86LKth2yLzQRHWev47i22LlyT3mGBa3oB6vujxNjdRza1uQl+wpchYE2OcpyT73e1PuY3XVzSsj+Wqf2e+6CtsI08y57Lb2uVlaPt+kxxQTDIue705PkELz2HapPpBPe432Gu012mu015pXnkJf067HB+po67S5vqbO7W6bVvuQB6T/YO2Daa9oG0YfiK5Psf6oaQsN1v1gtqVTGM0oeFxt6tsCwP8aLFoR/p2zAtSO/hJzEz0tEz+0M0LyAmhQpzk6MupeoP0OXrM9wSUAQHsNAAAAAFDUYL69z5L9dVQfHfk6eF1oBkkMoCE2ST3zIw5eD17MJQBAew0AAAAAUMRgSghdfip52zr3mL7uzcgvAE1xRybOtRhiOpEDMv5RPgCgvQYAAAAAyG23TByxOq/k7WsA6xHJDKAhllt13k8B9rlK+vNav5T+/J0AQHsNAAAAAJDbS5n45eyy6VfDD5HMABpAR6A+itR5On3F3Ir3qR8ke2eWFVwCALTXAAAAAABFrJaJo750WVLi9rVz+ER4lRtAGDqNzgbpj8af6vj7Gau+O1nx8WgdqMG310JAHwDtNQAAAHTXfOlPO3vFtC0/9pYvVt98p/QH1+n3nB70lku9ZZfwXScgs82OTuLtkjp13/WWN71lIckMIFB99sGqz3Tk6dHeMlP6Afzo33TkfJVT4ewy+9EGzRwuDwDaawAAAOighabf+zXSVtVg/lXTHx+xfvuL9L9zZ//+dG+ZRXIC6eiTsM+OjqI+LVuaY3taULf0loe95ZWUO4oMAOLqnreOuixu2R/gmFZzaQDQXgMAAEBHbZP+iHx78Ema7z8tMu3R6Lo65SRvuQMpHRJ/0Es7i4elP0Jstkx8uqbTXMwxf9sj/Vdm3pj1bgkjUwGEM1+yBfRvkmQAaK/RXgMAAEBurrdJb2Xchg5e+Vsmv1W/iOQF0jko7hFgWZcX0p8fCwBCmpKhDvtTmK8PAO012msAAADIa670g+/RNqZ+Sy7PFLffOtqrj0hiID2d1+p36c9jlbVzqCPERoUPrAGoz+GEekrn69MP5U4jqQDQXgMAAAByO+1oax72/FaD9nulP1WPrx16x7G9rSQzkI1+UFI/8Hiht9zvLe+lPypMl0/SfxJ3y/xdR3nNI8kANMQO6QetPpk6Sz+ce7e3/CR8BBIA7TUAAACgqBHT17YH0blG6S+WiYNRxjzb3CXFp/IBAAAAAAAAAACWDTI5AP/Y89vjjt8ud/zO9Z08fRjAG6YAAAAAAAAAABTwnUwOwF/0/PaK47c7PL91fTtqOckNAAAAAAAAAEB+52Vy8P2s57fXHb8d9fz2ueO3W0huAAAAAAAAAADyuyyTg+8HPb+9KulH6t/O8FsAAAAAAAAAAJCCa0qdfZ7f/ub47TrPb285fruT5AYAAAAAAAAAIL8LMjn4fsTz2x3W7772lime37qC+ltJbgAAAAAAAAAA8jshk4PvZzy/nSX9QP7gdw9itnvXsd21JDcAAAAAAAAAAPnZo+91uRDz+8+R312M+d07ST+qHwAAAAAAAAAApGCPvtfluue3i63fPfH8bopjmw9IagAAAAAAAAAAirPnv3/r+d1hmTyqf6Hjd+scvztAMgMAAAAAAAAAUNwymTyyfon1m5He8tz87Uvkd+cc2/vV2tY/Zn0AAAAAAAAAAFCC/TIxEG/Pl/9b5G9HZDzAr8vWyO9WycR593Vu/eUkLwAAAAAAAAAA5drTWz7JeED+mvQD+H9E/u2M+e0KGf8Y7ofecrS3XJKJo/ifSv8tAAAAAAAAAAAAUAGdI18D9y+lPyWPjrrX6XN0mp3V1m/nS3+qnWfSD+brovPx68OA3cKUO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6Yk5vudJbPveWD73lF5IEQAMs7C0/9ZY7veV9b/liFv3f13rL/t4ylWQC914AAAAAADBs/uwt/1kLwQUAdZnZW871lq/SD+Df6C1/OeopXZ73lqUkGbj3AkhpbW/5ubdc7y3/9paPveWT+fcq6YPoVwH2U7W5veWg9B+uvzBp98X896X590Pmd0DbTOktr01+ftdbbps26TbzNwAA0DH/FVw0cPXZNB40gPXQdDS0AbG3t6zvLSMVHfsyzzG957ICqIGOXn5q6iEdoT8j8rdtJnBg11caJGHEPtqEe+9wWt5bdpv2nbbznkn/LY3Ppm7T/2qA+W/pB0Z/7C2rSLZS0/+RVeb0frNHqg3WbY7c13TZ0NL0m91bznjuw67li/n9LLIeCtA+8Nbect6U34+R+lLvmfd7y4XesrO3TLPWXWl+cz7HfvXh2y0rT7/pLaNcEgAAukU7ZjelP9rnv4oWbbyM9Zbve8v8kjs4BBYANKXj9jBS581z/Ga/p87aSvKhRbj3Dg8NDGkQ/02BNqC+kXRIqhvgMQz0QdpHK13PV5ymWs7vOa5nG4P6Ghx9mTP/6noryILIQd8IeZ2xv3y3t1wyffOv5t93FTiGUcd+DnBpAADopnmmEZE0Ml8D9FelP5/u4KHAE+mPOkgzsl9HDqwu6ZgfC1MAAKjfj5E66GbM7x446qzNJB9ahntvd2mgWIM+/4g76KTtvn2mHRcdWapvHGnA94S4A1k62vtbkjeXh1Za/lXhvhb0lssx7fi2BfU1z72XYoOT9I0UAvtIa4bpK9v9X+0361ubs616c2Nv+V3Gg/j2srzg8Ry3tqcPCOdwmQAA6KY5MY0KHamVNNJe55PWUaenpT86K66RrPP8LS54vPogQues1gcKOnfgSWE0GIDwHbgPki64uVAmjnp9Qp2FFuLe202bpD+tjt1e02t8VCYGo5LqxAuO7Xwy+0B63zrScXsF+5lp7l1J09O0KaivfZosI6XjFp0qj6l4kESnwrIHb+i3G5alWHeFTH4r6nNJbVS7XP/ApQIAoLseexq0F3NsS0cfPJT4Vw1pWABos8NWvbYn4fffSP9Dh4cJEgBoAA3oXvK0084VqKfOO7anQao1JHlqh2TyiN8y59CfYu5Fj017XD8Qq6OHr0j7g/qXrXTTfsw2Kz/ruer3v3Q08wuJD+yfJjsiwQmZPC3dNxnW32Ctf6+k47prbfc6lwoAgO66EdOxy0s/mvshpqGsjYtpJD0M7fCvJRm4bi1hf7yQD5EBaAt9Y9I1Ol/bbNsKblsDpq63NnWe8hkkfSoXrbR7W/L2dWoPnfvbftNmkbQ7qL9KJn7XYVnK/HpC4gciMW0JfObJ5BHxx3JsJ/oti7MV1SNvuFwAAHSXb3TOuYLb1Q7C05jG8gM6eZDx16V3khRctxaY66jLCOoDaAN9CPtO3NMtljX//T5Pm+8nkj+Va1a63Q+47zYH9e9E8vK8jOvuj+mr7CFLwuNHR35ZUrDOLKtNfUbKn9YHAAA0VFVBfaWvvP4Z01i+Q/IPvbGSG7LgulVpmxDUB9A+OuXIR0f9pSPBl5W4Hx397JqnXR8mTOEyJLpupdutgPtua1B/QeR415fcF7pIloTHTUd+yWNJZP2lJR2bHdT/yuUCAKC7qgzqKw3s/yP+wP5RLsHQOiblj04B161KrhF9BPUBNJmOwndNiVjVfPd3PO297VyKRAT1sxt856ZIAH6x5/xvkiXh4apT89CpsDTo/qnEYztT0rEBAIAWqDqorxaJf459bcgs5TIMnc1WPiCoz3Vrg9+FoD6A9tCp0l552l/7K9rnWc/+znM5EhHUz04/CqpvhywouJ2/HOd/iywJD9cbSXm/F6cf2B0r8dgI6gMAMERCBPXVAfGP1h/jMgyVb00DlqA+161tLglBfQDtccvT7rpR4T73ePb5iMuRiKB+NjrKWYOrv5ewrfPCSH2k5wrq520T67cgfi3x2AjqAwAwREIF9dXf4g/s55nTdbb057hGeywzjdeyGsLgutVdXxLUx7Dh3tsOuzztLZ1bf16F+93p2S8fa0xGUD8b/U7Dz5LvA6W274Q59ZHeeynvwaU+ZC1zejKC+gAADJGQQf294g/qn8nQgN9lOjo6dc+HAscz3wQm9LiOmv/u6C3fVNTx0KlLNACo83/u6y27e8tGKefjcXrMvg+ErTHn9n1vWZvjuDeYY9Vj/sGcw5beMiPjtnQ77zzXf2eJ6VzW8VYhVJ5r23Ur43zXm+PZa8rYXvP/V1YYcGlCUL9L9VjIcry6t2yK+fsKs89DJk23lHyOOsJ0VSTPHjXnutPsuyxl3RvKvPfWUXZDlJcZ5rgP5rjXlk0/WOubdudYxfveFtPWG6HZnekeQ1A/HFcf5SBZEh7XPGXmpwYcG0F9AACGSMig/hTxz63/JmFd7fTrq7GfrPXyBBa2invuTLsjpfvU7wG8LnDO2rHXERhfYvb1xTQOV2fc9ogJRuhH6b46On/Le8tjx/4upNi2TrVyOeG4B/tMc9xnE9L7v4L5sOzjLVuoPNe261aE5n8N+o4lnO+gntDX87OM5rue89yjy6sO5Kmq67FQ5VjzyxaTN1+Le+o3/Y0G8f/17Fsfbh0ueN2Wee5l9qLHqMHX6TnLRln3hjLvvaHKbh3lRefzfinNmUP+e/GP0q/6Aff2mDSeSrM7032HoH44hxznv4QsCY/9MfXc7pqPjaA+AABDJGRQP25/utijE/UDuifFP9osa2BBAwnRObFfmqDJZtNx2Ww6wk9KaAwtMAGVwfp/mA5DdF+nHPvR9JmVsG0d3fmbTB49He38rRH/A5T/zN9dZpjAjv7mbW85ETlmHdWqo5ZcwaDzMZ31eaajOlhc1/Oh9ZvBkjRKqorjLVOoPNe261aUBt6eRY7jsUnHwTlvNXXHG0/dNivFPo44zsuVBn950uC6VBPU60o9FqIcLzVpoXWjK3gcDeprsD1uirisD0Zd53hOJj6c0OPfFknLHx15TPN52lHkZd0byr73hi67dZSXOw0L7jzzHM9vAfY9GpNvpgjiENSvzznHvR3wme65Tw2WOqeoI6gPAMAQCR3U3y3pRzacMcd3IabDnCWwEB11/IfEj1b7sUBHVIMSg7kWXyd0ik46zumxI3ChASedN/RfiR9lKCYg807ig1KuKUM0iDsIat1JCJ64RnDf6y3TcnRa807jEup4iwiR59p23Yqyy8x3Mb+d5jnnF6acFA241DH9TpvrsdD594GpN/UeEhfU13P9aP7tgbn/6YOFS+IPgO/LkJZzZOJDCZ1bfE3Mb+0R5f/GpEsV94ay7711lt0Q5UUfHHz1pNOVGurIlTHXN8SbameEOfXzIqhfn5vWuR8gOyLB3oT7aV2BfYL6AAAMkdBB/WUxjZ/fE9a9WCCw8K1k/zDv6cjv006BsEcmTr2RNMJyjicYYAcCdKSqTvugQdRTMYEbDfw8N8shE6T46PjtDmv7ut4/Mj46KWkUuwYxXKNa03xUrIzgcMjjzStEnmvbdSvqd2v/e1Kud1jcU35lDezXHdRvez1WZ/49Ku6g/uBBs27XNZe9fhT2T3FPrZR2fvCxjPfXJRnuyVXfG4ree+ssu6HKS9OC+kc9x/Ip0P5ve/b/SJD1HkNQP4wRmTjF2Evh+w9I54bEB/breFuLoD4AAEMkdFB/JKbhk9T53V4gsBBt4HxMuY6OFBzMvZxmxOlmmTi1wqqU+7nnSY95GRuR2vm7ZrYXHY2ogapXVmdlRsz20gY6ffNJrsvYac0THA55vGU0qqvKc227bkXYwb0bGdc/5zh+LQuzCwRcQgf1u1yPVZ1/N4o7OPyfua5xAVw9B9dI/y0pjnetY73jOdLzq6SbC73se0PRe2+dZTdEeRm4KcXf6CiL7wOO1wPse4r4v5NQZDqyqVL8GydlLm8rSj+C+vVYJ/W+gYf20vvEs4T6Yn/gYyKoDwDAEAkd1Bdxjw78z3SKswZl0gYW7uUMRgxex1+b8DsN+kSnNTiTYx/2sjlmnQOetNCG5UzH7zVQo6NF9FXRudbfdol7juk0DVnX6MR7GTutWYPDoY83r6rzXNuuWxFLHcecdZS9Bm1fSrGRtHUH9btUj4XOv/MK3utc98pTKdb7ybHetRTrnct4T6ji3lDGvbfOslt1ebHzlx3YuVpTu+6J1PcB861SzVQUBPWrN8xB/eibRPfpGiKjhRI/v36Wt9PK8J0Q1AcAYGjUEdR/K/Hz/vpsKBBYsPe5OENHPU3Hxp6eYEGG9Jgv/blm7VGZ82PW2SnljDrXNydeSP7RJI89xzE3Q6c1S3C4juMtK5+Xmefadt2KuivlTONwUNJ9pDtLGoQM6nelHqsj/87wrJPWPsk38tk1L/zfKdZzPQzYkWK9su4NZd176yy7VZcX21ST/vpgZWON7br3nrQ6E2Df1z37fifFpjMZlqD+LanvwdCwBvXnRO5dOuhoIV1D5LBS4j9Cn/btvjK4PlbOdFIAAHTUsAT1H0n+1//1w4lxIyQXW9t+kCNNdkQ6FR8kOVjqCtw8z7Ffe1qFJRnXv+S5ljsydvp3Nvh486oyz7XtuhWx3LHfszm3NcXT6bqUcv26g/pdqcfqyL9Fg/quEcgPU6y3SfIFVw/mzGtl3RvKuPfWXXarLC9N5mtjVR3U14eAvm8LnCy47WEJ6tsfvD4VMN8Ma1A/+i2S3QLkt0biA/v63YYVAY7D1e7gYRUAAB1VR1D/neSb77VIUN81WvJ0Sefzi7XdXwp0WteY4EWewE2e17SvOq5BluW551rGpUGR4HAdx5tXlXmubdetiJNS7ofHLju29yVluas7qN+VeqyO/Fs0qL/Zse7rlOsek/F5xq9KurnxXUH9vQHvDWXce+suu1WWlybzfd/i94r3e96zXx39PFeQZI7UG1QfxqC+PlAePIg6QxZECdbLxI8uu9oNcyo+Bte3TXhgBQBARzVpTv2LFQUW1DLPPv/qLd8WPJ9/JHygs6zATVzDs8hyOWafRYLDdRxvXlXmubZdtyIeSrmvMPumJ0mzzbqD+l2px+rIv1UE9bOM1h2RdA+OBlxB/X0583ddQf26y26V5aWN7borFe5zRUy5/IGmdirHrHR7HHj/wxjUH9RRY2Q/lGhDQjsnRH47be3zTy4LAADD1fmrKqg/EtPISXo9u0hQ39XAsc83z8iJmY5tbQpw3coI3CyRya+FhpA3OFzX8ZbZqC4jz7XtuhWtL1zTORSZFmOx5A881R3U70I9Vlf+rTuon9bq3vKbuD+616agflPKbhXlpekOec7374r2px8yfurZ5z1BGjolWXRkrT5k/SbwMQxbUP+4jH/nYwZZECXTNtTnmPvP3or3r29NXrP2+RuXBQCA7gkd1F8c08DZXkFgwQ4y3I7Zv27riGT7mNDmmjpBZQRutkn+AFcReYPDdR1vEVXkubZdtyLmedJtc8Fr4go2ns+ZBqMdyFMh67G68m+Tg/o6NcmPMv62hAaZ7ki7g/pNKbtVlJemWxRzvlU8xLjq2dcrYdqdJPqGQzTw9sLkx6k1HMswBfUHc44/lW4+2EOz8plreRnovqPHcDdy73xi2mF8OBcAgI4IHdTfEdPAmV9BYMGm0x9clvgpHJ5K+lGquxzrbwxw3coI3Ox2bGNWgGPPGxyu63iLKjvPte26FbHBk15bC273veSbgqkJQf2212N15d8mBvXXST+gp51tnZZO53Reav7W9ul3mlR2yy4vbTDmOc/vSt6P700IfdNkMU3sxPIfnaJKH+StqPF4hiWov9TUI/pRYh46oWp7Yu47uwIdg9bFp2Q8sK8PDw9xaQAA6IbQQf3fPPt7VlFgwUcbM58TOvk3JPlBw94KghZplBG42VdTBy5vcLiu4y1LWXmubdetiA0VdYRcU0VcyZkGox3IUyHrsbryb5OC+vpw+7GMf0T0J5k8/UNXg/p1ld0yy0sbfOs5P/3IdFkjNM959qEBo0U0rzOVr2eR9NM3ddbUcBzDENTXN4hemWU+WQ+B+OrKKxXvd4G5p0WnO/xeGKUPAECnhA7qP/fs7+eKAgtxFppgR1wH/53EB7dcAar9Aa5bVUH9EB8+LTOov7Nl5a2qPNfk61bEGk8aHSu4Xdco1gs502C0o3mqqnqsrvzbhKD+ShkP5g/q7Hme37Y9qN+0sltmeWmLnyTf94uS6Fzv9zzb1tHmTGeSnb6tZH+sfHfgY+h6UF/zpT480bdIeOiELDQQXuQhkLY/Xot7Cp6qLDFtlMG+9Jsdq7iUAAB0T8ig/mrPvr6ajnYVgYW0AYsnCZ38g551Xa9VXgxw3coI3Iw6tnE2wLHnDQ7XdbxVKJLn2nbdipjuSZtLBbf7QPI9WGxiUL9t9Vhd+bfuoP4Ja93TCb9ve1C/aWW3zPLSJhc953Y4x7b0g9r6UOajJz8coEldyBYrTTWdQ04x2OWg/mxT3vWB3TKyGjIYfMul6JSERx3l63OFx23fK/lILgAAHRUyqH+9YCe/qqD+gAabnsd08Nc61nF99PFFgOtW1YdynwQ49jI/lPuk5eWvrDzX5OtW1KcKzvedY5s7cqbBaEfzVFX1WF35t86gvh1YvZZinbYH9ZtWdsssL02jxz8v5u8aiHd9YFiDPqtSllltp7mmLtJ/07maZ8esr/M563QnRaZ8mCrxD2BCL28ruI6aPl9qvL90NaivD6MemjprJd0+ZLRcyvnO0DJH+fpS0TG7PlS/mUsJAEA3hQrqr/TsR0ciLag4sKD0lf31KTtVP3o6wPdTNtJ0WVfxdSsjcOM79jI+1HbIdPRd8gaH6zrevELnuaZet6JuiPvtnpkFtukKTn2TYr26g/pdqMfqyr91BfWPOPJumnteF4L6dZfdqspLkyw0x5kUMNfAlGvKnKS3HHxvXOjDGR3tPzvFMV4uIR2HIaiv/pT8U0sV1cWgvtb7+vBKHzCuFSC77VLOd4ZGHOXrU0XH7Bo8MZVLCQBAN4UI6mun8KlnP1le1y4a1D+eYV+bPB18V6PI9Sr63YJppoGvZzEd9bICN5+k/ADQUrPdQ56/FwkO13G8eVWZ59p23Yo44Kk78s43PMexrccp121CUL8L9Vgd+beOoL7mNTsI/SDl/roQ1K+77FZZXppCPzycZbSnPjz7XcZHhCfV4VtlfET+VVO+FucILhW9vw5LUN9+EHY9YF7qWlB/mvQfJmleLzrKWsvNebqMQ+mYKQvfV1DGHld0zHsLtHUAAEDLhAjq3/Ds43KgwMKgc/8o4/5cH5lzjVy95Dm/7TnTS+dQfZYQjCgrcHPNc+xbCh77e+kH0VxcgdFdDT7evKrMc227bkXoqF7X6NzbObe33bGttJ21JgT1u1CP1ZF/6wjq/yD5p5s7JO0P6tdddqssL00xmNppaYZ1BnNEpwna/mJ+dyPHse2OXP9vCp7nsAT1r5dcdrPoUlB/ivQ/2lzGCGsdmKQfMT4mGOZ+8o2C23HVYVW9iXNcCOoDADB0jZUqgvrTxB/Qv20a3SECC4POvf4+ywizRSk7OOs856hz/y7MkWY6OvZf87+rDtxs9xz7m94yP8ex3zfrH83QadVlT4OPN68q81zbrltRpz3nuyjHts5b23idUNaS0iB0UL8L9Vgd+beOoL7r/po2qH9W2h/Ur7vsVllefHlM01/fsgg11cfgLUj970ZJ91bBYkn/FsKgbKWZnm6uKSc6Lc+jyD4eCdIiqF/cSKTvUfRtwinmGnzNcW8Kaa2pd3ZK+W8WtXXbZRlMiaVvfBSZOs7Vhtha0TGfEYL6AAAMDd+IyaJBfR019kT8H8adkmObrsDCx5TrDjr3v2bYn2tUxbSERp+96MfhlqfcnzYW75r1kuYBLitwo52fZ55j1w9lpg3mzY4c+z8JjfPLjn393uDjzavKPNe261aUjsR+49j/xYzbmS6Tp5nJMhWI6yFlHUH9ttdjdeTfokH9LZI9qH/Tsc4fKfd337HukRTrhQrqf2xB2a26vETpdxJeWutVPV2HL0+nXZKuobbTvkrxUe0/0tROratB/dWmrtY3Nz6Z+q2qgOZVSf8QNK5s6Qe4H5tt3WnYOUZdsK7Z39KfqmyYtl1l2kffNjtW4vm+lGIfD49DUB8AgCFyz9OQz9sZ1SDLKU9HsOi85a6gyteU6w46918yBIyWSvoP5i2V8Tlq7UUbhPoqZNwID+08/JshALHLsZ97OdN1a0xnXEdjHo4JamiDdE8kmKHXY1XC/k449vNXTEBoe83Hm1fVea5t162oDZ5zXZNhG/YryZcyHsMdqTdg1aV6LHT+XSrFgvquYHmekfpppkoZ9ayXJhBe5r2hjHtvnWW36vKSVDcU+X5AGtulWLA96fsO66WcqWqWCtKqK6jvm95oYwnbXibu76gUDZK6XJJqplva2aBzTHOvuDxE264y7ec42kGLch6j3S+uckAIQX0AAIbEiLjnu83yMb/BdrTzdy6mYXVTsk/hYNvn2faCDJ17Xf6UdCPv7GkDkl6n35/QKfhiOv7nTIPrrAn6REcx3kmZFq65mj8WSNtzCceu+eSaOebBsetoqPeSfToWXzBvm/U7va6Pxf2huJDHm1eIPNe261aU6+NfOop8Xop1V8rEgPVdyf6GhutjspcC1tldq8eakH/TvjV2wnN8cQ579qlvFbjmGNfRoSdlfNSivd5L65pvCHBvKHrvrbPshigvgzaQb0T7lQrrg1NSLFCZdGxHpXgw9BlN7UzqCur7HhCV8VDqt4Q8srqkczgn1QT030nyiOpQ52i7GnOfHpZtV5n2mz337yxvFOi0ZM8dfeIqEdQHAGBIHEpoCGkDeZtp1AwW/f86ElCnAbgg4687+rZxu8TG7G3PPtJ85HLMWueuaWilDUCkHY1bpBOsgbDpKffz0LONzTnTNjoHad4lbYBcg2hvxT3y86ppjF42jXudJ3hmzcebV4g817brVobdjjpHR4fHTQ+zwTp2DRRPy7jfNTEd/hmB6uyu1WMh8++ZAkGrERmfuzxLwECvzceY4MUVmfiw4nPknuYbJf2nWWdM3A8Vyr43FL331ll2Q5WXuoL69wuWnZ8Ttn9LigdEfxZkUUdQX8vTI8/1eyT5psuMupCQR8oY+X1aqgnop317NsQ5uvimUP06RNuuMu33erap960VKdbX+7g9LduDAG1GgvoAAHSUduq3m4747Yoav19N0EFHKH5TwjHraLy14v5oYDQ4oh3HleIfTTMm7tGLOsJjmwkc6GvGozI+R/PgfA5mPOZdJtCXJc3SvCK6xBzLE4kfUXTY/DbPXI0/57jmGuzKOoXNwRTb1ald5jTkePMImefadt2K0iDgY3E/XNhh0lWXnVZgSsvH/oz7mmc6dq8Szln3O7dDeaqqeix0/tWPGx5PqDMPxuTZ5Qn3y1cmvafFpGPac9LRfOvMelp/v0j4/aEK7w1l3XvrLLshy8tNTxpVNcXCiPinyipjSpG4NzmzLCHutV0SKqg/YuoCvbf9nXANNbC/p0C7ckfC9v8peC4npLqA/n+S7nsyVZ+jzwHxvx09LNuuMu3PJ2z7qrmXTLPKlZYX1/S2FyT7gJI8COoDANBRZTVwv5iO8b+mAabz/Oor/1uk3A+O5n2osCtl5z5pOzqSJO9csPptgV/EPbI5GlzQgEma+Rkv50yPtzmOfalpeCYFDB6aIEveDz0dEffoxrcmODjSsOPNKnSea9t1K4OO/L0vyR9z1KCEBjSzjI66Ifk/EvlZqv34clvrsdD593XG9PoQWXeaZA9qnvEcx3oTWPCtp8F4DdDbI2LXmWOyf69B8TUV3hvKvPfWUXbrKC/68M/++PPlCuu+tSW05eI+grqihO2/otmdWYigfhlvYGSlD8mexrQd8loj1Qb0/2rAOaZpq9gPh+cP2barSvubph5ba9oc2q7bZtoqHzLmow0B6xGC+gAAoNNGTMNxswlC6IiKfWbZaxpss0rcn45i3BnZx24TrBlpQTqtM8c7OPZRk25lTa0yN5I2e0yjd6TBx9uGPNe261aGaeb8dlvlbHPJZZl6rPp6rMnluIw0HLWuUVIQY7a5voN0WN6xfByq7IYoL1MjZWStANnVNad+HQbfhLjDORa23tQ7O6X8AQVt3XYZaf9U/FPX6T1F3/TSN790VL4G+XUggH5b7pUpy/qW4Lc15DuC+gAAAAAAAEAgwxTUH0ztdYJzBGlfKoL6AAAAAAAAQCDDFNQfTEm2mHMEaV8qgvoAAAAAAABAIMMS1B98KPVih6/lMJwjad9MdlD/C1kCAAAAAAAAqIb94eu/O3iOq6Q/7/hL6X8zRDhHkPal+t2qRz6SLQAAAAAAAIBq/CwTg3EfOnZ++hH0d2ZZ0dFrOAznSNo32xWrHnlM1gAAAAAAAACqsV0mz4W9oCPndqi3fO0tr6W7AddhOEfSvvn+seqQC2QPAAAAAAAAoBpTpD86PxqQO9KB89plzkVHEM/p6LUbhnMk7ZvvW5n8YHADWQQAAAAAAACozo8yMSCnU4nMb/k5jfSW1R2/bsNwjqR989PhvlV//EmyAAAAAAAAANXT6TKigTn96OdakgWAhz74u2vVG096yzySBgAAAAAAAAhjY2+52Vu+yHiQ7l5v2dNbZpM8AHq29pbzkXpCvyvwl/S/MTBC8gAAAAAAAADhaWBuVW/Z1lt295Z90p2P5wIoVjdofTDaW3ZIf+78qSQL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9Zb/Isv3JAlQqqNWGTtKkgAAAAAAAADI47RMDDbuJ0mAShy3ytoPJAkAAAAAAACALBihD4R1zipzu0gSAAAAAAAAAGnoiPxocPEUSQJUbqS33I2Uu8+9ZTXJAgAAAAAAACDOepkY0L9FkgDBzOktryLl77X5NwAAAAAAAACYZH5veSvjAcXnvWUmyQIEtU4mPli7TZIAAAAAAAAAcHkg44HEr71lBUkC1OIXmRjYP0iSAAAAAAAAAIj6USYGEY+RJEBtpkr/TZlBefwo/TdpAAAAAAAAAECWSP+jnIMA4mPpf7QTQH02ycQHbddJEgAAAAAAAADqnkwMHq4kSYBGuGWVzXUkCQAAAAAAADDctsnEoOElkgRojKVW+fyLJAEAAAAAAACGl06x84+MBwy/9JYFJAvQKJdlYmB/G0kCAAAAAAAADKf9MjFY+CtJAjTOEqucPiJJAAAAAAAAgOEUHaX/VRilDzTVHZkY2F9LkgAAAAAAAADDZYdMDBJeJEmAxtpklddrJAkAAACAqqzsLUdIBgANM6e3XOktn3vLh97yC0mCIXRfJgYJV5IkQKO9kIlv1swlSQAAAACUQT+4t1H6c/IOOh5vG3aM06T/gbHTveV6b/m3t3yU/scBtYOkQb73veUv6Y+C0mCfjmac79neYJ7TzVx+oDX+lInBzP+EwP6wmNFbDpj6/b2p+3V51lvO9JaFQ5IOzNENtM9xq9wycAYAAAyNzY5OfOhlKpcBHQwMaIBEA+SfHHm+KUH9deYYvxQov/oA4FJv2SP9hxejMv7wYitZYajqcrTXMs81fU/SdN4ec0/S633B3L/sPKEPedcPQVqctvL/AbIH0HiLrHL7hCQBAADDYoX0g3pj4g4+hlimcxnQIbtT5Pm6g/o6ncBDz7G9kfEg/WbzW52WQwM626Uf9HiesmzvIDsEr8v1o3Efa6rLR7gMrbVcCOoPo98i1/q49bfVVl54PATp8VomTuMxiywCtMJfVn21lCQBAADDSKfgeCfxgRt9HflWyuWu2d7XmO3NINnRISOR/2pA3BUAryuoP0X60wC5yuHfvWWXpA/MbpF+kCeurthFdqiNvoXxOuH6PJD+g4CkZVCfP5X4h7+8ddVurvLM9DvddTJyne84/n7BygtfhqDOjJ7vbbII0BrHrPJ7lCQBAADD6gfxB21+KLBdfaX7kPSn64hucwlJjg47KM0I6uuHw1yj8/WBW5H5R4/G1Bd7uPy1OhBzbYp0eHX0qj6weSQ8oO2Seb3lhvS/oaEP4zXoy9sX3bTZugcscvzmiFW+73c8Tc5Y57uPbAK0xrdW+f2DJAEAAMPKN7duWR++nCn9UcGDba4jydFhW6T+oL4G6/51HMeH3rKhhO1vMNuyt09QpF4LY+ryLSVsXwO+9yLbXESSA42nD99eRcrt5Zjf3TW/0bd0FnQ8XV5YdeRcsgrQKkyfBQAAIP1ATZVBfbUyss0NJPlQW9Nb1nb4/FwfMA0Z1NdOzTNxj9Av88OHq2RyYP8M2bvWfB6iLl8sPKAlr6FNTlh1QVJemTYEabJEJk8zCaBdLlvleDtJAgAAhtUXqTYQpP4w29xEcg8t/QCrjqzZ2eFzrDuof9dTlg9UsC/7rYSzZPHa8/nnAHX5YLQ+D2ipU9FsOvo++vD1BUnyP4eEb0kAbTdqlePfSRIAADCsQgSCjlawTbTLmMkDBPWr4ZvvfqzCfZ6L7Oc8Wbz2fB6iLj9MXU5eQysctuqBX0mS/7km5U9PBiCsxVY5fkKSAACAYRUiEKTTddyS/lQ8GD7HIvmKoH75dDqBr+KedqfKj1Pr/P2DN30uks1rz+fU5eQ1YMCeio03JfveW/fIaSQJ0EofrLI8lSQBAADDKEQgCMPLDnQT1C/fLU8Zvhpg34PR+lfI57Xnc+py8hqg1lh5RB++TiFZJn1Q/G+SBGit67R1AAAACAShOt/KxFFxBPXLt0L8H0hdE+Cc15l9XSefE9QHdSoa4YyVR+6TJP+zw0qXSyQJ0Fq/WOX5EEkCAACGEYEgVGFZb3njyFcE9ct10VN+/w10ziPSfwX6JvmcoD5am9dm95ZtJHFnvLbyyCmS5H8IAgLdsdMqz0wDCQAAhlJVgSAduXur5Wkzy/PvGsjc2FtGe8v3vWWP9D+2Vvbr7bq9Db1ld2/Z11t+MPvUfc2o4HynmOuu+zhs9rnbnGuWc9NjfufJVztbmjYLesv23rK3txwx+7Xnqw8d1J8u43Pa28vZgOXkWsGyrtdyvckbe03e22v+fxVzt8+XfgBT93HU/FdHcH6TcTsh8nnddfkgT29oWd29WuLnEF9h6otD5vpXUX83vU7V/e8yZVfnI/5Q4jmHLM91XesZ5pwO9pa1Dcr7axx5ZDtN3f9vl/LAE+iGlcIbSQAAAJUF9d9LukDfqZhjcC2fZPxjSOvE/YFQ+2OhuzIctwb8NGj7TCZPKaKjGXWk1wfPvjTAqsHUeQXTTqdYuCz+gO3gvG6ZgEZRGpC4kbA//du1FPs7m+FaRpdzDU0bfWDzOGZfj6QfoBMJH9TfGXNcTQ/i6IMxDW6OJVzL/0x5+12Kf/R3a2/5K2Ffmm80ILlI+qNd68rnTanL94s/qL8nxbXb59mu1t0fU9Tfoxny0xaTvoNRymOO32hg91/PvjRofrika9HkOlXz93lzL7XLWRvKcxOutT7kfWlt83xD6tZTjvP9RqBeWOkyp6XnMSNju3lQ3+yI2V5Suf3UwfxwKkc6DvogafofefogSG/KEORRAACAWgJBS2Q8QJbW8t7yZ0zD+A/xB8vXyeRAu86VuiJDB2nUBAaijfRoUF8Dt29SNvrfyXigN2tH7YKMB4NPmOugATUdiagjAl0B5vMy/qAja2DijpXGhyL73OwJEOhHUV1vMcwzaTZYXjnWfWj9ZrAcbFjaLLa2p8GhY1banIgElTS/bZewQf0LMXlwUYPrHA0qPoscq6bz95G01eD7SU95Oyf+N2h8Rsz1GWzjpeNa6v6fOPYngfN50+ryK5I8Un+J+D/WvC/FPpZK/0Fd1qD+UnPdbnkCUtFAr05d83fK+vtCgfRqap261JSpVxIfbG9qeW7atb7j2d7ugPXoecn3sKeJDyJCGLHad587cD67UrRLv8vQBlrgydv6RluXP7Sc1P+I64O4+h9Z+yDIz077qSQJAAAYNlUEgk5L9qC+mtZbHniO53jCutGAXJpRMRpI0JGmcaMpB0H9fTk6y18ypuG8SCDiTkKgwzVy855Jv7Q00DL44OJriQ/anXTs73GKYMx1KWeqiNBps9HqKPwa06HVhw2DwOdbCRvUfyL+kWFNddIRcIirD1zXU0dbLs2wz7NWxzxueqYfrX2lCWSUlc+bVpfPjmwzafod30jPfSn3pen8UbIF9fVe8bP0A7Nxgd6tkW3rOhpIPmGCLr63rvblSK8m16lnTD11QfwB6Q8NLs9NutZ2cNh+OBPKYyke1B+V4bHEUd66YHlMfnyfY3v2x4TPDkn+iOt/JPVB7LYYI/PDsQcUrCdJAADAsCk7ELQ20unOM8/2XHGPPHoSs050hPSxlPvRgL4GXN/FdIiuy8QpTjRQoyNKdQoeDfRelclTGNhBksUpjkUDOf+YdXR6kKSRJhpUcI1EvJjh3Afr6MjNpFfz53jSKCmAUUawM3TarLOu6c8p1/N9sLaqoH5cYOldQ+ua363j3JNyvcOOc9Q6Ik1g/1trvWUp1jkd+f30FL/vYlB/inVeaebUvy3FAqY3JX/Q8ai4A727zf/WOsE1alIfXLhGaL4yZUw6WKf66qsPLSjPTbjWTQnqu+yS7AMihsUWK12udejcfG9tfDX5PovT1vrDNHWTr/8R1wex39A8RlEL6oqV/nzwHQAADB1fIGin6QzELRqY0CD+JtOhvmZ1dvN+PHOHpJ8nfJaMTynwMOf+dCT4c8f+nko/wPvSnJ+r468jVH8Tf2D/QYr934j8Pm1gY79nf+sS1ttsddhWpdzfPc/+4r4fUEYAKmTaaOc1+jHKRxmOc7q4p7aoKqg/JybPNXEEoh3Iu5Fx/XOO83yZImBxJvL7jyn3pSP2BtMqpZkapOlB/TR1uT7sWG86xDqy+Zm1jTRB/atSLKjvWj9tUH+juAPFg4ez0xPqf9fo7y0p9922OtUViMoa1K+rPNd9rQduSnlveJTJFdzlY7B9oxLu+yahLYlpD3yfYTsjMjGofWsI88kOSf+tollWu+8hxSy4vA+XAQAAOiPrR6KyLEU6BNcc29PAuz1SezCvuJ7H4gL7O+U5h6TpXgZ+iEmHuE51dGTdWIbj1WNyjRa8lxDQiAatz2TY3485zq1oACpk2ij71es1GfPQTxIuqL+xonJXhaWO67E04zY0UPdSso+MjQZOP+TI72tT/LbpQf0yljRB/StSLMjpWj9tUH+eFPswsWvfp1Lut011alz98aEF5bnOa20fg/3g62oD6lr7Q+B6nbo8F3oWx620OdKx87vhKRfPMmxjQwPuY01wzZOWdh8k+l2jon0Q5GNPj3qGJAEAAMOmqUH9uVawZLCciPxmvaSbyzeNPeJ+LX9Ghm1c9aSDLyCto6JeRH63P+Mx++bUnev5vT3lwoIM+5rvyCtfzb/7FAlAhU4bexRfntHu2yRcUH+ztCeof9c6vkc5t3PQc75xH6Ozv3OQttM9CBymCWYT1O+rM6g/w3PceQMD9ofSpQN1atQGyR/Ur7M813mtbVNN2h+Q/kOSuk2RyQ9bGDk8zv6wfNfmPV8RU39vTbmNaH32TrJNS9Ulvv5HtA9ivx3xHUWsFjsl31SbAAAAnVHGPMw6XcVq6Y98ir6KWjS4OCruOUJ1nmwd6TeYMud+CekwWkJH3/dq/1dxPxywp0BYknF/lzzXbofjt4sl+7RAth2R/PJBkoNJRQJQIdNG2aMuf8yRPq5Aex1B/dsNql+WO44v74f3poj7Y5eXYtZ5JPmnCXmQsh7sypz6mr4LTdmzR312Pai/1bFuUkC0bXVqVN6gft3lua5r3QbrS7w2XWQPutjawXO86ykbf6Qsj9HvCf025PllVPzfKdA+yM+Rf7tP8apNl7+VAQAAkErZH8rVub4Hc3KWMWL4lrhfJ74QCUQsKGE/ZQT1le+DZVtTdDKvZ1yee/b1i2Nfv6T4TRo6OnGNpHulv0gAKmTauAJceUZeNiWo/7xB9ctJx/HtLrC9y47tfYnJj2cdvz9d8jl28UO5KjpdRdeD+q7y9DphnbbVqUl13ocWlOe6rnUbfC/pvkM0rG6WcI9vurUx7YKVCevaH1leQZZx9j8GfZB/S+6DIB97KrlbJAkAABg2ZQeC1OESG1fzxT2ar+wP05UV1N/kOc7Djt9+kmqmyrjs2Nc/Ej7oWCQAFTJtXA9ipuY435BB/fUx5/ihQfXLQyn+UcqonZ5z9m1zmef3Ovf0tw3I502uy3XqhcEHg4cxqJ9UdttWp0blDerXXZ7rutZt4Jr+by5N3P93X7IFudvqT0/5SPrmQzSA/TfZJVX/owkfxx52dhuPKccAAMDQqSKoP1/KHTGxX/wfsS1LWUF917y2upy3fmfPx/mpwms803E8mwLkrbwBqJBpo15Z+/ucczshg0UzYjqZmv+aMBfuiKcsFKlbFnvO+YeYdU7HpJV+XHNOTfm8DXX5OSGo34U61ZYnqN+U8kxQP9197AXN2wns76vM6Oh5bo5pF/hGlM+yyvZhskti/6PsPgjKaQu/JUkAAMCwqSIQpF5Kua9BuuYKHStx+2UF9dUjSR4hvq1AUKKMTt6GAHkrbwAqZNpMc+zrfYnpXGUH42tMZ3NJA+qWeRXULb7A4vmEdW5L/JsNRyT/g5AuB/V3CUH9LtSptjxB/aaUZ4L6k82V7N8mGDb2iOupHT7XJ54y4pt67oCk/1j3MPJ9q2CMpKndVGnum6oAAABBVBXU1+BDmUF9/YDjR8dxHihp+2UG9V2BlyvWb3Y7fjOromu8S8qZM76MdEgTgAqZNq7pkvIGeEIHix6KP1C9rQF1ywZJ/32JLN5LummVoqaIe/7u6PJU8o227nJQf1A+COq3u05NUzY/tKQ8E9SfbLswLUgSe0q/kQ6f625PGdE0mOn4/QMhUJ2n/1FmHwT5TLGux0eSBAAADJuqgvpVcI2W+Wga3EWVGdS/5NjWRes3+yTcSM+9Un4gJo28AaiQaeN6KyDvSJ/QwaIz4g9Qn2pAefUFAXcV3O5TSX5o5nMops4bLDck20jFLgf1sximoH7b6tQ0ZfNDS8ozQf3JTjnOaTnN29j6seueecrJEet335RcnrvKN1q/rD4I8itj+kwAAIDOdHSaGtTfI/4g3P0Stl9mUN/14dVfrd+4AtdVBQJd+9of4JqVGdSvKm1cH2r8knNboYNFW2PKxF8NKLNrPMd2rOB2xxzbvJBhfe2A35L4wP47SR+kJajfN0xB/bbVqbY8Qf2mlGeC+slp+ElgCzWlX1Mc8JQT/fZC9C2Fo1YdMIWskqn/UVYfBOWUbYL6AABg6LQhqL9IxudDveo53u8K7qPMoP4Fx7Z2p9jf2YAdkosBrlveAFTItNnuyU95pvsJHSwakcnzBEeXb2out9M9x1V0rucHjm3+nGM7Gth8ktBZP1hhPu9aXT5MQf221amuvJ81qN+U8kxQf/J9wC7712jaTjJsQX3NFy89ZWVv5HdPArSz2mxRQjurrD4IyinbX0gOAAAwbEIHgqaYTnna0UDaMRnMHX7D/Nsdcc8VurjAcZUZ1HfN3b3K+o1r2pcnFaW5a18vAuStMj+UW1XabCkx/9cRLPo1ppN5vAH1y6cKruU7xzZ3FCz7z2PScW1F+bztdbltmIL6batTbXmC+k0pzwT1J/rWcT4/0rSdZNiC+uoHT1kZlNnl1r+vJpt4+x+DPsiY+L9XsJgkq71sE9QHAABDJ3Qg6Bez/XUpf39CxqfDmGv+bZ4nEPCwwHGVGdS/aW3nveM3yzzpvqKENNZ5w0+l2Ne6ivNW3gBUyLRZIOUFxOsIFunxf/Wcw+veMq3m+uWG47j0eGeWXGf53krQDvj6lJ33Hz1peb+ifN72utw2TEH9ttWptrxB/brLcx3Xuulcb41sENiGMag/tbe8iamrTkb+/z9kEW//I9oHme/pfxTtg6Ccss30OwAAYOiEDARpZ1wD3DqiZSTF79dJtulrXB8BS6vMoL7diTrn+Z1r1OOtgmm81Gz3kPXvHx37ultwXxrYehZzLYsEoOpOm8c5tl9XsOg3ae5ofd+8vrtzbm9Oxms1ljENNok7sD81Zh2C+n1Fg/rXpD1B/TbWqVF5g/p1l+e6rnWTXZLJD1lGBEn147A45ikvWldFp+c5Shbx9j/sOi5ujv0jJF1wBPUBAAAdHQkTCDputn0lxW91TvMXMnHaHZvrY5d6PktyHFtZQf1Fkn6E+TVP2m/Jmb6aZhoQem8CH3Ed/8GyveC+4gKmrgDUrpTbD5k2V6ScNwPqChbpub3ynEPe8pCFjlzTb13MdvxtpqeOuZ1zX65vIHwf83sN6j/KuI+fJNsI7CL5vK11ucuVggGO29KuoH7b6tSovEH9ustzXde6yZ5a5/IHzVone6DAsDz40DL7UZLnhF9AFnH2P3x9kFs1trkwboqV/h9JEgAAMGxCBYIWRjpV+1P8fvBB3Oi0O7a54n4N9nGODltZQf3DGYIdvo+06kj/+Rn3q9Os3Bf/iKt1nn29M9cm6750lNe/Ej+9iysAtSflPkKmzTbPvu5n3E+dwaJ1MZ31Z5Lvw79prJbxN1N882Cf9hzXohz7Oy/ZphgazH+bZa5b14O5DRXl8zJ9lXqD+pcL1KE63cqXAulYR6C3bXVqVN6gft3lua5r7TsOfUtCP6a9Vuox1XEup2nWOtkfO506ROd+QuID+nfJHs7+R1wfxNf/yNsHQT7TJHm6UwAAgE77ItUHgrRx+6ekmy9X7ZX0r/Xv9hz/sYzHWEZQX8/zmUwcsbMow+/tjy6mDQzNNp2ywbyovs7qn5596Sjv5Sn3NTOyr6S5yl1Bvt9zpmWVaRO3ryzThxyU/IGyMnwX02nXTuackve3X8YfCp6J+Z0+UHDN63sx4/6my+QRh0n1wyCo/2uG/bgCZdMqyudlmRpz7bcHOoaT4p5vfWnCenNM/nQ9YD6Vct9FA72uD2anCfS2qU6NcgX1045wrLM813mto3RU80trG+draL9tqbG8t81bK51mDNG5zxH/AJ6yH0KvNvXZZ9O/0LpQ3+Ja05K02puhThqNSdNjFLkgZkh33roCAADIbCSmQVpmUD86LcOzhN9qEHwwoupmyu27pmrRYNKyDMfoapxnnVfdDuoeSLHO1phroOmgI/+nxVy/PZHggp7zqph9LRX/QxztgOm0D3EfPNSR2P9K+iCpa3TYX57fznIEI0KmzRbPfr6kLAv6urVv1FbIV7GPxqTZS9PhLkpHqEVHDF9Lsc4GzzFl6egft9a9lGKdsch1TPsgaKlke2OjaD4vw4qY6344UN7zldcXnjIwKKNvzOJ6KPWPpPvY81IpFujdKfkCvW2rU+Pqu68Z0quu8lzntY66I+V+W6DM+n6WwOW+lU4rh+z8fd/e0Tdoy3prYZm4v4fUlnn7o/2PtH2Q655zzdoHQf48x8eKAQDA0Foa0/g+VFID2e5IxQUudG7ER5GORtppVnQUkiugmmXaEd+Im59Srv+t1Rk4myGdzkn8q9EaHLpmtnnG/FdfD34v2Udb7U/Y1xcTsDgX2Zc+lImOzLyT8rx8Qb5t1u901ONjcb8ZETJtzsbs52fxj+zbYtLHF9R/afLRaKCgz37xT8UyGFGaZ/5cPf8frbTNks/3intE87wU666UicHTuykDEWORdXRUdZoAsT29yNoA+byoIzHX+0Gg+4kG6V/HBDiuWnXK20ido1PZ7BT/Q4ELZt2lGa/BlJTHfsJTt0gH61S1T4rPq11Hea77Wg/yua9+vSJh2QHFv2nWet200mrjkJ3/wpj2QFl+k+S5+1c3NH2i/Y8sfZA5MW2/Kqc+RN9GK81vkSQAAGCY/BDT8H6Ts9OzzAQMbno6vnEfOo1+ePDXjPv1fbRQA1ozU6wf9xrt9YRgxzorQHM247FrkOBGis5Q3JLl9emjBfajwafpGTpJbyU+wHfZBHeeeq5T6LS5LvHBuegDhPMmiDIYUbwn4Tj0oc+FQGV7lfinFBpcA/3ew35TZn3zv+pUWTra96JMHIGn57I3x3HpQw17GgAdqRw3VckGKx/pNZiWcn9jMnnu4Lkxv7cDlT8GyudFbI8JKgyWXwIFF0Yzlk1Nk61m3Z0xv9Ng8e8xQZYzkn/k9IhM/tho1gBUm+pUEfdHidN8pLbu8tyEa92koL798Po3mrVeV6202jqEaeAq92V+D+JCivruckPTxu5D/Fpg3Tx9EORjv3V2jSQBAADDYMR0aN6maIBrh11Hr2iQ/rpjuWGCEm8lfnTwIIDjGk23TCYHU69k6OjrGwF/S/yHQrdJ/IerRj2N8buRY9dj2iX9hx267JSJo7/yBjoHfs4RENIAxaoc+9LzeJdhP3pt88wRejDFtnX6iDkNSpufUuTl6PKHOX7XBxg/mQ7fVkk/krQsU801+5jy+mp+eG2Wd+KfVkQ77vMKHJcG/B6LOyi5wypft2TiB+v2Z9zXmLjnDv/N1AkbzL5GI2V9cDwHa8jnaawy9eU9iZ/qwHWNn5o6+3iF+e5kyuPRB6HROeTtoL7eUzSAGzely3yZPI2L/dHagzHpvlz8Ae7Bw4TRlPeiptepU00A72zCPVrr2pWS/kOPocpzk671Tc82RgPW7wukvo9it5EdcN41hGlgf4Pq35K3vyNF3fRPw9LE1f/I0gdJ6n+k7YMgH7vdcJEkAQAAXbXCdER1vsHPUmzkc97ltuO4PiQEPV4knFeWc9HfrvNsJ+5DuTo3/suE4NRJKSdgt9R0Pr8knMtDExAp0knQj8jqCN64hzsfTRBoUYH9HBF3kFz3eyzDOYRMm6Wmc/AloaMWDUoNgvq6zmXTiZvSgLKvo8R0XvUnBcruS5NXFpR4XBpguC/JD1AemeP/v/buB/Kv6n8c+DEzk4zJZJKRZGYmkiSTmMnMJGZmJhnJzEcyMkmSSJJkIjPJzMhMkoxJJkkkM0likkwSyWRmot/r/N739d193937et17X/ff6/V+PDj6fPa+f8/r3HPved5zz6kzseGFiucZj+VsmD65a5vlfJqnGqiLL3TQ0P51Qj38blL/5DXOLyb/e1p+/V7xnNOTVq+tcR88Psd1ap0yEre/fyDX89B+643h9i+huu6BvDfnuhI0LJZ9IfTSCsyD/aH9yVzji7UfJ9QDQ5rI9FqJOvDXhtof09og1HOoxn0aAIAFNCmoP/ZYErg4lKQYeHqopeNZlTz8p/cXjzEGjtv4lPfh5HzG+zqQ7L+pIMHdqe3HYWp2zLDtLvMmBuV35vzueUHf2JP06TCMQH6RTcm5xJcjsddsfCH1T9LYvJH879+Tv8WXGvGF1raWj2lt8tsdyJS/+G/rG76m7km2uz8ph+P9xS9snmpgf02W80XwcOp3jXm8e8L1EYd62rxg5z4vdeo8Xs99W5PK/+097D/7xcWZQJVnvBMrMA+yXyts6mi/b4fq84dAGR+E+sNtAgCwwA2+vKA+AEDfvgmG3qlipY+9HV/4pb8g+rLDfadfQL2uKNKgM2HypPEAAKwQgvoAwNDFr13Sw5vE+QAMvTPZ5szz3aUVdv5Phv7mf/gptd8HFEUa9FmmXD8hSwAAViZBfQBg6LK9zl+VJVPFlx7pFyE3Vtj5nw/Lx7XvapjA54NJTGlPdl6ENbIEAGBlEtQHAIbuvbB84uW7ZEkp2cm7N6yQ896WOe/XOtrvI6N0Pdnnb8opDVudKdfXZQkAwMolqA8ADN3vofsA7SI4F1bePATxC4Xvw/IvFO7uYL9xUvC/wq0vA7YpfjTs4cz1fFGWAACsXIL6AEBfNo7ShbAUBH2nYJkdqWeU2PP8zjk/53uS568To/Rx8ty1dsK5n0uWi5Ov7q14/m9lnvGOLECZWZ3kSwya5w09cjxzzm92cEwxX8dDHf08Sltc2o1dK3E4ozg57OWw9JXOzczvvi8svbiJw9J8NUqnRmn/AtQTefZlyrbhnQAAVjBBfQCgLxcyzyCHcpZJj42+Y47PNfbk/iI5jxigjMHKTSXWiz3Pt47SyXBr+KEXSu5zbyZ/T815eYlfGmTHFI9B9JdHaV1YCuCn/xZ7zrc9BM7+1P7ii5c7XdYzuy8sBfLTc0LEYP7HyW+9KrPsW0k9kV0+vihcv0D5sogv6QAAqOmFcHtQ36ecAEAXboTJE+A+kfrbK3N6jjGoeDp1Hsdm2NapUG0Yovsy+fvDHJeVGMj9M+e5dVJ6rqPjil9d6J3fjKfC0our9O/4eVj6qmea+0fp28y6cW6DhxYkb1bicFoAABT4OKcBFHu26GUEALTtUuYZ5L7U3+KkruOJXt+e0/O7Nyz1JB+f3zMzbm97Jr+2lljn79TysSfz2jnNy3tCtYD+py6vubMr53f8rOI2Yhvmh3D7Fxv3L0D+/JO5llcrMgAAK9PTYflnqul0OmlMAwC0JfbET/fWfyQs9XzeOUpXwlJA+tk5PbcY0E9P8PvehGVjL+9LSV4cnLDcmszz2vESx3E2s87uOc3P1eH2LzuK0jdBB5V5Eycz/ivzO8brp87wSQ/mlInv5zx/Hsicz2VFBgBgZYmfIX+caWROSr+EpR4y54LeIABA82JAO44XH4fJiEHb66P0dVgaO/uuOT2n2Bv+clg+BEhRD/nYieKP1LI/Tdl21cDekcw6b81xWTk65bk1dlY5Hub3a4SV7J2c3/NowbIxaB9f9sWhelYVLHM+Z3t75jh/DmTO5YQiAwCwspxKGsx10hrZBwAw1btheQBu0tcGx8PtQ4VMkl72eolj2RwWq8dynPz3q+Tc4/NpnDg3TkAc5xi4T9GbS6vC7RMgxxc0eS/1Yo/1m6nlLhRsc3+YfSifITmdOZenFRsAAAAAaEb88iAdfIvzAhT1Jl4XlgcoJwUpQ7Kd9LI3Sh7Tb5n1DLHIkOwItwfgLxUs+2rOsttylsubg+HmhGtx6NJfWccXHusVGwAAAABoRhzmMB1IPDZh2X3h9sDjBxOWvyuz7LWSx/R+KP/lAHTtfznXwUcFy57JWXZvwbJ5czBsm8P82RZunzMCAAAAAGjAxrDUizYdgLtnwvInw+1Bx6cmLL8rs+xXJY/ribA4w5CwePKug/cLlj2Xs2zR5NJXcpadx4miX8mcw8uKDAAAAAA0Izsp7XdTlv883D6czqQ5jA5lln+3wrEZvoOhyo4XH9PhgmU/DuV76n9eYdkh+y5zDlsUGQAAAABoxtmwPPj21pTl/w7leiePncosv73Csb2TWfd5PxcDkTekzqGCZd/LWfbxgmU/y1l235zlzf2Z47+suAAAAABAc34J5YfSia6H5b3n75+yfHo4kZ8rHtvmzLF97+diID4MtwffXypYdm9muXjdrC5YNi+ov2fO8ubVkvkCAAAAANSQnZhz85Tlr6WWfWfKstmg/OEax3cxs42H/WQMwOvh9uD78YJl47BR6XkrJs0r8UXOdrfPWd78Gpa/wLhbcQEAAACA5mQnyV01ZfkfkuWujtK6Kcu+GZb30l9V4/iyvZw/8pMxANlyGdOHE5a/UbIM/xXK9+ofoiczx39WUQEAAACAZqV73v83ZdkNo3QzWe61KcveEZYHKHfOcIw/heVBzk1+NnqW7X0f07mCZR8I5caYX52zza/mLF/Oh/n+ygAAAAAABi8bhJvUm/791HJHp2w3Pa728RmP8VDmGN/1szEA2fHv/yxY7mi4vVf/fTnLPZ6z3DxNDm0ODAAAAADoQBznvsyY+nuSv/+R/Pf0hG3Gce/HPY7jGOGzDh8SXzSke+vHrwX01qdvW8PtPes355TdK6lyO17uRM723s1s66dQb8iqvpwO1SbdBgAAAABqiEHD8Tj5RT3w4zjZ10fp97DUw/i75P9vyFn2wXAr8P/5KK1t6DifCssDhqf8dAzAc2HynA/vpf72UrgV4I9pT2q5R8Lycffj0FXb5igftmTy4TtFAwAAAADac0+41RM+jrH/ZPLv94eloXPGQ2mMe8fHMcJj4D4G7rYk/xb/9kpYCkzG9HILx/llWB44fNhPxwA8E5ZecqUnh40B/K/D7UNQPRRuzTVxLblO4guqdC/+H8PSVwDz5PNgLH0AAAAA6NSaUXohLAUiY4AyBuZjz/wYoNyfs3x8ERB7IV9Jlo3rfBuWxtLf2NIxbg7LezNfCvM1PAmLK37BEgP3v4WlIXliOY0vyuIwO4/mXDtxqJ2fw1IwP6Y/k2vtwByW6SdDuQmDAQAAAIAV6FhYHkB8RZZAb+LwWukhheLXB/fIFgAAAAAg7WK4FUSMvaINwwP9eCcsf8n2nCwBAAAAALJiT+DxZLwxxZ7C62ULdOrxsDyg/7ksAQAAAACKPBGWBxQ/kyXQmQ1hac6N8fV3Nfk3AAAAAIBCh8LywP47sgRaFyfyTQ+BFScFNgQWAAAAAFDKa2F5YP8FWQKtOpm55vbJEgAAAACgirfC8iDj87IEWuElGgAAAADQiFfD0jAg4/SiLIFGHctcYy/LEgAAAAAAAAAAAAAAAAAAAAAAAAAAAAAAAAAAAAAAAAAAAAAAAAAAAAAAAAAAAAAAAAAAAAAAAAAAAAAAAAAAAAAAAAAAAAAAAAAAAAAAAAAAAAAAAAAAAAAAAAAAAAAAAAAAAAAAAAAAAAAAAAAAAAAAAAAAAAAAAAAAAAAAAAAAAAAAAAAAAAAAAAAAAAAAAAAAAAAAAAAAAAAAAAAAAAAAAAAAAAAAAAAAAAAAAAAAAAAAAAAAAAAAAAAAAAAAAAAAAAAAAAAAAAAAAACASf4bcAIAAAAAAFIE9QEAAAAAYE4I6gMAAAAAwJwQ1AcAAAAAAAAAAAAAAAAAAAAAAAAAAAAAAAAAAAAAAAAAAAAAAAAAAAAAAAAAAAAAAAAAAAAAAAAAAAAAAAAAAAAAAAAAYEjuGaVDo7R6AMdy3yi9NkrnR+nvUbqZpPi/z47Sc6O0xk/WSb5uGKUzo3RjlK6N0luyEVgQ81q/xfv186O01TMDAAAArCyrRunRUXp9lL4fpf+SdGePx7RulE6M0r9hKdD8ySh9lzq2dLoySlv8jK3n6zc5ywjsA4tgnuq3h8PSS9lLqWN9aoU/MwAAAFR2LeQHxKqmHbKSDm0bpcNhqVf29YIy2VcDPfaY/DE5hvOZ44iBi5s5x3o16LHfZr5uLSgjf8tWYM4NvX5bndTRJ0fp94JjbTuoP+RnhnmzNyx9EVKljfBvcj9eO2G78QXLPyW3956fAQAAQjg9Sp+GpV5eVR7S4wN67An72SidSxpM0IWfS5bRPhrosQfgt8n+Y5B5Y84yzxUc7x4/bWv5ui0I6gOLaej124US9+s2g/pDfmaYZ5tH6f0peRq/Fqn6JWJ8CXSwoE3y2yg9IesBACDf46G4J9U4xU+W18kqehLH312falR+P6AG+rHU/j+dsNxXOce7y0/bar5eCobfARbTkOu38Vj1G5Jj6jqoP+RnhkVwuiA/L8643U/C7V/ebZTdAAAwvQFUFNC/IHsYmN0DaaDH/aWHs5oUUIkTvf6RWvZyWOqNTnv5ujEJEsTef3+N0pvyHFgQ81K/rQr5PbC7HFN/KM8Mi6LoS5EvZtxu+guLOGTSg7IaAACmuz8UB/Wflz0MzNqBNNCPZvb/zJTl7x2lN5L11vsZ5SvACpD3VUGXQf2hPDMskis5+Xl9hu3tyGzrgCwGAIByVoXioP7uOT2nx0Zpu592YQ2hgZ79pP+gn0W+qgOdH7DMZ6HfoP5QnhkWyQcFefpQzTbID8GkuAAA0GiDJ6adc3gucRzXOE/APj/riiqvXTbQ787Zv+CzfFUHOj9gOUH9xfNUQZ6+UGNb6Tl0LspaAACo7kbBA/qOOTyXC8mxC/gsrr4b6HkNWsFn+aoOdH7AcoL6iydOhvxvTp5+WnE7W0fpZrLub2HphS0AAFDRogT1X0kdu4DP4uq7gf5cEHyWr+pA5wdMI6i/mL4I+ePql52w+Y5R+ilZL7ZBHpKlAABQzyIE9Xdljl3AZ3H13UDPG09W8Fm+qgOdH7CcoP5iOjpju+GU+zwAADRj3oP6D47S30HAZ6Xou4F+Kgg+y1d1oPMDphHUX9x7Tl6+vlli3UOp5Y/LSgAAmM08B/XjmJx/5By7gM/i6ruBfiYIPs9bvt4Vug8kqQOdH3RhyPWboP7i+j0nX7+fss7D4dY4+ibGBQCABrQR1H90lJ6c8Pc4fmYM2B0ZpWdHaXdYmnyrinh8fxUce1MBn9XJfg6Epd5FLybHvbvBRuG9o/REwd8eS/LnhVHaPiflKY6p+kjyG8RjfznJu32hmXFT+26gnwvtB/VXJ2VinIdHk//uSxrFTRtCGWw6X2Me7g9LQaU4qd+1AeXPPWEpsDW+PuJ/9yb7GVodWMe8nF/bdVVRWXo62d+x1HUdz3VNi79JF/eyedZVWWiqLmmyfmvz/MsG9eP+dyZl8sXkGOJyTUye2sYzQ9vX051J3h8e8LPfhwV5e1fB8vG3HL8IMDEuAAA0pImg/qqkMXMi9dB+IWeZGMT/pWB/MXhztOT+3i/YxrR0ouT246fFp8OtHkV56d+kwfpozQZ0DHKdT20nbdsoXcrZ54fJ369WOOebUxqZe5NjmHSeZYJNsUftybA0Wdqk44nlI054eceAGuhFztUsZ+l0tUKZOJBcNzenbDMGcOIY9JtnDOLMUgaHmq9PFJTDawPInz2j9N2U8/osOYf7k2ulrzqwjnk5v67qqrQY8Pt+yv5iObucnEMM2MYX4w8lQbJ0qlLftX0vq2Kl3rearEuaqt+6Ov9pQf11YWnIlmsT9v1lmC2w3eQzQxfX06awFPROb/PkANsO+wrOf3/OsvElyFfBxLgAANC4ukH9LWGpR9lnBQ2cC5mG4w8lG/PTgoYbw1JQcJzyAgXfZpYZp8NTtn1nuNX76M9Rej0sTdC4IwmwHC5ofJ8sGUCIPeHeC7f3Pk038h+b0sB9LJX/FyYs90UoH/SNDa5DOfs9EqZ/QXFnEoRKN2hPJg33HUn+Hcv5nX4O1XvuNt1An+alnDKUV96+Kyhv50o2xp9I8mO8vUvJtTUue3uSwEfeMCQx79dXOKcmy+BQ8nVLkj+TgobXesyfGNRLzxnwWxIg25W6RuLvfTlnW13XgXXMy/l1XVdF8auFr1Pb+ioJhu1M7ikvhWrB7pjOlNhv2/eyulbSfaupuqTJ+q3ra2FSUP+RcHvwetoLu9U1ylwTzwxdXk/nC475wMDaDutC/ou1UznLfhQMVwgAAK2oG9SPwYk3kobOpKB+DEj+kwponEgaRKcmNGYPVTj+vF6/dYZmiIGk8YuH2KiaFCjN60Uae5OtzVl2a5JPv4TJvVfHAY+/pjRsD2aCGkUvS+qMW3sytf47JZbfkGnI3gjFAd+4bLYX7y+hWkC6qQb6LJoeJubNzLb+N2HZtQVl79ek7BRpswwOIV/jZHtnkrqoKCByrcf8Sf9mX08pr8cy21rdYR1Y1zycXx911QNheVD0g4Ll1oflgf9Zg/pt3cuassj3rTbqklnrtz6vhaKg/sOp58Iq6UKNsjnrM0OX11N8QfpvqP8yr2t59dafmWWOBhPjAgBAa5oYfuflgsbXgeR/xwZR3ue2cSiBb0L+0BqrSu67iYBPbKT9FG71Dp7Ws2pVQVDio5xlDyeNmnhMb09o5MdjuJKk2NPwWEGjd29m+08UbPP5GmXhRKqRf1eJ5bM9LqcNfbE5zD4cyCIF9T/IbOeZkusdzTmGP0JxYL/tMji0fP0oVAt6tZk/D2b+trXE8b+TWv6OjurAuubl/Lquq2JZ+TUsf/E26QVGDJ7+GfK/VhnKvaxJi3rf6qKurVq/9Xkt5AX143Ph+KXHeKiacWePE2H6EF6nO3xm6Pp6mreg/msFx/pg8vddqX+7WOG5HgAAKKmJoP7OkB9k/C8JyEwK3MReUHk9/XeX3HcTAZ9PUutuKbnOcwX59niFfaUb+WfDUo+udGMzvghJ9/T8raAx+lXONj+vURbGjekyvam25+zz1RLrfRluH3+2SlB+UYL62cD8JxXXP5FzHLF83FWxvDdVBoeSr9HTYbagV5P5czz1t39K7j/26hzPTbK+ozqwrnk4vz7qquz1+XqJdf5XUL9trll2276XzWol3LfaqGtnqd+6Pv+8oP64I8eHyfNfntiT/8dQHNivMhTNLM8MfVxPn4bZv2DtyvaCY43PN1vDra9xY7k2MS4AALSgiaD+xjDbpIxnctZ9u+S6swZ89of8eQCmWR/ye1R9OWW95wsa5HGs2nU5y9+ZNGCfHaW7C7a5K+RP1lZl7NutoVoQKa+H1tkS6+UFo3d11EBvQhPB5y05ZWdLxW3EF2V54xGX6c3XRhkcQr6O7QyzBfWbzJ8vax7DeJia7R3UgbOYh/Pruq7aFOoNKxN7Af+ds+6Rgd7LZrUS7ltt1LWz1G9dn/9nBffsl0qWy6Je+1dD+bHq6z4z9HU9bQzL59iJ6eOBth9iz/u8L0zisDzjL5VMjAsAAC1qIqh/Z8E2yjqUs+65kuvOEvBZFZYPkfBcxby7VHDekwKf+0I7vSJ/ytnmaxXWHw+J8VXJ5fPGjv2hZlChynAuixDU/yKz/vc1j+VwQX5Ma0C3VQb7ztexHWG2oH6T+ZMdUuWBkuttrFAP9xnUn4fz67quyhseq+yLy7zgaZmhO/q4lzVh0e9bbdS1s9RvXZ9/XlC/ysuie0Px3Etly3idZ4a+r6c1SdmJL4V2DrwNcSZ0PwcPAACQGEJQf0/Out+WXHeWgE/2M/bNFfPuVMF5763YyL/SwO+YF+D9reS6sQH7Z8UG2JM5+zte8zirNPrmPai/LWf992sey+qCgMepKeu1VQb7zNe0NoL6dfPn+1B/mKUYqNzVch04q3k4v67rqo9D/aB+3tAqnw70XtaERb9vtVHXzlK/dX3+nzVQr79YUDYvtvjMMK/XUx+eDcUBfRPjAgBAy4YQ1M/7DP/3kuvOEvDJBl/OVUxXCs77rYqN/M8a+B3jcCx5n0GXmZtgfEx/hmoTmb0Sbs2H8HEoF1zPCw48W2Gf8x7UfzPMNj5w1umc7cXfZHUPZbDPfE1rI6hfN3/yesa+00HedRXUn5fz67Kuygtklg3m3V2z7PVxL2vCot+32qhrZ63f+r4Wnqp4vmtC/svrsuP613lmmNfrqQ9bC871jynPIQAAQAOGGtT/s4OAz/Uw+bPhuul0x438sXdDvYkHL8zQ4FxVseGWFxyoMgHcvAf1vw31J4UuW56mbVNQv3qe1s2fooBHHCv6wRbzrqug/jydX1d1VV4g86UK+82Ox11mPO0+7mVNWeT71hCD+n1fC0/VOOeTBeWzzBcwdZ4Z5vl66tr+gnP9UPMKAADat1KD+psz61zvKL/bDKg+EPJ7s22asM69ofp42HU8OkrvhaXeWys1qL8q5E+gt6vh3zymF3sqg33ka9aQgvrRO6E4yBPHUN/QQt7t6/C3W7Tzm7Wuyhtj+lyF/WcDim8O9F7WlEW+bw01qN/V+TcV1H861B+vveozw7xfT10rGlP/KVkDAADtW6lB/admON5ZtB1Q/SJUm3jwlVB98rqy4lASx8KtyRDj+Nvnw8oN6m8M9XsbFil6UXCyxzLYdb5mDS2oH3+jz0Nx4Dse20uh2hAiTdSBTVmE82uyrjoS8ofEKltP3ax4L+7rXtakRb1vzWNQv8nzbyqoX3TvLPOVRtVnhkW4nrqs+4uGRlorewAAoH0rNah/IGe99R3kd9sB1d05278aigNqv4bmg2SPj9LZpGEXx0uOk6VtSf62koff2VFw/HtmPKa/w3CGgOojX8vk87Wer9HVIX/+g3T6MSxNZNlE3u3r+Peb1/Nro67aUHBffbHEutnUYnrsAAAuBElEQVQx9X8e8L2sSYt635qnoH4b599UUD+6GepNxFr1mWERrqeuPFaQv1/KGgAA6MZKDeofmvGc6+oioJo3SVte4PiJUG+iwSJxMshLyTZjUOC1nMazoP7taf+Mx/RjzjbP9FwGu8zXMvl8bSDX6JEJde44fTJK98yYd/t6+h3n5fzarquO5qz7V1gK2ldZr8xXPH3dy5q2iPeteQjqt3n+TQb1/8rZ1nstPDMsyvXUhdcK8veorAEAgG4I6ncbCOsioJoXUDqfs9y4Z+0bM+7v4VRQYHw+GwuWXclB/aJeba/MeEwXQrVJ6gT1+71G7wv5wa5sAHhPy3VgW4Z8fl3WVW/nrB+HMimaY2BTWB64LBsYOzSw3999q926pKmgfhfn32RQ/1LOtp5t4ZlhUa6nLnxbkL9bZA0AAHRjpQb1D+as934H+d1FQHVdyP9UPT3x4PrUMvfNsK/XM/t4Z8ryKzmof0fB8Z+a8Zi+ytnmGz2XwS7zNWvoQf30cV4Ok4Pfh1usA9s2tPPruq4a32eyPYyvJtu+K1VfPxduTUYal99fcR993Muatoj3raEG9bs6/yaD+hdqbqvqM8OiXE9tW1+Qt7/KGgAA6I6Jcm+lyx3kd1cBw/dz9vN66u//S/7twgz7+Ciz/bMl1lnJQf3oegvlLm9Ygr0DKINd5mvavAT1x+J5XgnFge/tLdWBXRnC+fVRV43F4P2JMPnlxngy3ThG+N0Vt9/XvawNi3bfGmJQv8vzbzKo/2vOtsoM49XERLnzej11/Swb00lZAwAA3VmpQf2tBcf8UAN5GseVfrvDRn6ebWHyxIPjT9n31tz+S5ltx8n1NrUYHKjbQG/arMHnT3LWj3m3ruFr+N6KjXFB/XbyJwYfnyixXLwujyVlIbvviy3VgU2Yh/Prq65K3x8vJve0eCxxyJAY5I/DyMSA6kfJ+dSdjLOve1kbFu2+NbSgftfn32RQ/5/Mdq609MywSNdTm84U5NNTAQAA6MxKDepH11tocG9Jtnukw0Z+kbxhWZ5OGqfZYEkVG3LKzVcl113pQf3nC87hQM3j2ZCzrUtT1hHU7y5/YtD71QrLPxnyA99rWqoDZzX08+uzropioP7rUfopFI9X3oQ+7mVtWaT71pCC+n2cf1NB/TWh2hBzsz4zLNL11Ja8LwRj3b5WswoAALqziEH9suMRny047t018zIGcH4epb8nNBq7DKgeyNlXDMIdD7cPa1DFi6H+uPBHwsoO6q8ruOY+r3k8T+ds64Up6wjqd5c/8Xr7vuI6r+Xs//GW6sBZDf38+qyrYhD/x7A0Vv7dLf8OfdzL2rJI960hBfX7OP+mgvrZZ8SyXxjUfWZYpOupDQ8X5M/FAAAAdKpofN+dFbYxtKD+MyXXfbrguGMQ5p6K+bg2adDE9V/uuJFfJPZm/K0gAPBfhUZx1pkZggPvh5Ud1I/eKTiP+2scz8nMNn4P03vKCep3lz/jyR0fqLDO/aHaS9ZZ6sBZDf38+qqrYq/on5N1nu3gd+jjXtaWRbpvDSmo38f5NxXUfzezjfdafmbo+3q6Myk78QuJ7WF4Xi3In1cDAADQmdWhOKi/p8J2Zg3q7w71g/qnc9b9oELw4OeCY4+Tst1XcjtxIsQvkvXiMAtrOm7k12l8nZ9hm5/mbO/rkutezFn3pZYb6E3KGxO/avB5fRIcyG7no4rbuSPcPs5wmWF8hhjUbyJfx/KCXv9UWL+NoP67FdbJG2pibUt14KyGfn591VXnU+vc3cHv0Me9rE2Lct/qKqj/z0DPv4mg/h3J8+B4/fjCp8ocNHWeGfq8njaF219qDW3y2W8K8maXZhUAAHTnoVAc1K8SaN0SZgvq5zV8ywb1X89Z97uCZWMw9enMv+2ZkAex99vRUBxwig2/Z1INsPhJ+CNTjnd/zn6+bPE3vjvkj2G9Z4ZtFk2QtmXKegcL1isbzF4T+g/qn8/Z/7GGAjMxPVZhG9nAV9lel12XwS7zNcp7SfhvhfWbzJ9x0PtmKB8IytanF1uuA2cx9PPro67aGW4PnD6V1MWrWryGur6XtWlR7ltt1LV167c+zr+JoP6bqXWvVyyXszwz9HU9nQ/NzrvTtHsn5MuaAAAAdOaVCQ/nlypsp6jxs7rk+nlBmxsz7jvbcNyUnNO5nG2cmJAP42OJY6zGT9CPJ//9OCyNj1p1SIi8cW3/afl3zvZ0/W3G7R0tyKefkgZf1p2phvkPOev9lmkcFw3F8ViYff6HWf0T6g9hkPVszrbiJJBlJtSMY9reTK33RYUGdR9lsMt8PVRQTjb1kD8XUtv4JpSbRDA7PNP2DurAsKDn10dd9faU+0mZdD05xthDt0oQs8t7WdsW4b7VRl1bt37r4/zzgvpVhmjZnbkmnqyYV7M+M3R9PcWXAf8W7OvMQNoNb0/ICwAAoAOx4RADitemNFhiQKHM+KHHQ/2eRfFYfixY/9ES68cXB3+G/J5rHyfHFoMDN5P9rCs4hk9mDMKUbbR9G7r/bPnRzL5em3F7d4f8IOy4x+6ZTAN3PDFsnMD1iYL1vknWuTChcfhR6Hcc16IAwV+h/tcCB8LtE+f+MkrbJqyzI1Pmz4ZywdQ+y2CX+fp5wfZe6CF/LmS28UWYPBxL9kXPsY7qwLqGfn591FUHw+xB/bwXXGWu8S7vZW1bhPtWG3Vt3fptKNfCzVBunokj4VaA+/eSz4NNPzN0fT0NPaj/6ITj+zcsxiTAAAAwSKeTxsmlsLyHb5kUG1Sxx1XsAZkONt4Tise+HQfl4kRfGwqOaduEBuq41/LBEsGMwyXO4bsJxzH2Ro0GWwwiTetJuTk5xstT8uposmwbQzRcSjW87m1ge/sr5NGVUXo81Wj9dcryR1L7ib997Kn76YTlY3mOw0VtbSnvNiZBiKtTytfeUG/87G2p3ycbsIzb3JmkfWF5z8dYZp4ruY8hlME28zV+pbA95E/omC4n8Rp/OOf82sqfCyG/p26c6DH2NN+R/Laxnvsi8/sfrpCXTdWBVc3D+XVVV6V9HJoP7F+okF9t3cu6No/3rTbqklnrtz6vhfgC46eC7b+Z1BM7k7oi9sx/JbP8RxXrrTaeGbq8noqO+2CP1+F9ybP+jSnnHJ9PHtLcAgCA5k3rlV82jT9b/r3ietcyja4bFdc/PuX8Xgr5PYj+TBqJZYNwcXzZD8P0Fx+xB95zJbZ7umY+/9nw7z/+9L7J3l5PFDTWx+ly0tDPDsP0eEF5jAGc9JjyZ2rmXVPn+Eko7pU2Ld0I1ceXjb32L5bY5/fJ71m2V9xQymBb+VpnO/8mAa628+dCjeM6G6aPc91mHVjFvJxf23VVnr1T9lknVXkR0vS9rA/zdt9qoy6ZtX4bwrUQ7UzK458ljv+P5Jlvc8Xfts1nhq6up/iyOztJ7+kerr0Hk+O4UbP8xSGI4leH2wMAAEAJsTdv7M0cx5yNnzzvmKFhtSppxB5IthdT7CkVe52tm8O8uSNprN/fwrYfTvIm5lHseR173k0btumuJOgwztdtiu//WZuUs3TZO5D823rZM7dWJdfFrqTsP5P6fcfXzay/b5N14CKeX5d1VVwuBk/PJXkS9xfH6I4vNeIXajFwGQNfcazwG0ma9rLr8gq7l7lvtafP849fXezOlMlnkmN4YA7q8bavpzWpek5QHAAAAAA6EAOUMUgfJxitM8507CUdeynHIGecWDg98eYq2QsAAAAAAM0Yj78dg/qbG9rmpnBr6BOTUQIAAAAAQAPeDrd61L/W8LbjuNpxeB499QEAAAAAYEZxjO30+PcbG97+R2FpkmwAAAAAAGBGv4VbAf1/W9j+z6N0RDYDAAAAAMBsHg3Le+nHtLnB7cdg/uVg6B0AAAAAAJjZrnB7UP/z0EwQ/n+j9Mco3SebAQAAAABgdneO0o1we2D/q1HaUmN78WXA7lH6dpSuhmZ7/QMAAAAAwIoXh8j5ryDF4P7RsNSj/66wvAf/6lHakPztmVE6FZZ65sf1Pkv+BgAAAAAANOxwyO+xXzX9Okr7ZCcAAAAAALQrjn3/wSjdDNWD+bFH/8FgQlwAAAAAAOjUulHaP0ofjtLFUfo7LPXij+n6KP0VlobXiX+PvfI3yjIAAAAAAAAAAAAAAAAAAAAAAAAAAAAAAAAAAAAAAAAAAAAAAAAAAAAAAAAAAAAAAAAAAAAAAAAAAAAAAAAAAAAAAAAAAAAAAAAAAAAAAAAAAAAAAAAAAAAAAAAAAAAAAAAAAAAAAAAAAAAAAAAAAAAAAAAAAAAAAAAAAAAAAAAAAAAAAAAAAAAAAAAAAAAAAAAAAAAAAAAAAAAAAAAAAAAAAAAAAAAAAAAAAAAAAAAAAAAAAAAAAAAAAAAAAAAAAAAAAACAle2/ASYAAAAAACCHoD4AAAAAAMwJQX0AAAAAAJgTgvoAAAAAAAAAAAAAAAAAAAAAAAAAAAAAAAAAAAAAAAAAAAAAAAAAAAAAAAAAAAAAAAAAAAAAAAAAAAAAAAAAAAAAAAAAAAAAAAAAACP3jNKhUVo9gGO5b5ReG6Xzo/T3KN1MUvzfZ0fpuVFa4yeDQXl4lF6SDbBQNozSmVG6MUrXRumtOXqmeX6UtnquAgAAYJGsGqVHR+n1Ufp+lP5L0p09HtO6UToxSv+GpQD+J6P0XerY0unKKG3xM0KvdcjOUXp3lH5Nrss/ZQsslG9y7r9DDezHF4uxQ8Cl1LE+tcKfqwAAgIxrIT/QWDXtkJV0aNsoHQ5Lvd2vF5TJvhqfsTfgj8kxnM8cR2yU38w51qtBj33o0uaw1Pv1XEEdIqgPi2NrwXPC3wM5vtXJ88HJUfq94FjbDuoP+blqnuyYoW0VvyJ5d8K2X624bfcxAIAFd3qUPg1LPZhuVHhQjD2QYw/jz8JSUGSbrKQjP5cso300PmPvtm+T/cfg/cacZZ4rON49flroxIEgGAIrybYw7KD+hRJ1UptB/SE/V82rmFfPhltffxWl+ALllVF6oMK2N4Wlly9F2/wpuc+t8jMAAKwsj4fiXkLjFD/HXSer6EnsXbs++d+xt+33A2p8Hkvt/9MJy32Vc7y7/LTQiVWp/8ZhLq4EQX1YdJfCcIffGY9VvyE5pq6D+kN+rpp38Ted9NKk7vwt8evOfwvaaIL5AAAr2PMTHj4vyB4GZvdAGp9xf9dKBgviBLp/pJa9rBEGvTkcBPVh0cUv5+L8NvGr1L9G6c2B3ndXhfwvZ7scU38oz1WL4vEJ7aqna27zjrA8qH+j4zICAMBA3T/h4fN52cPArB1I4/NoZv/PTFn+3lF6I1lvvZ8RepMXwBLUB/qS91VBlwHboTxXLZKvQvHXz3W8FJYH9HfKYgAAolWhOKi/e07P6bFR2u6nXVhDaHxmP1c/6GeBubArrIygvvsgzIfPQr9B/aE8Vy2SZwry9HKNbT0aln/NoYc+AABTH+ZjmseeIHE8yzhPwD4/64oqr102Pu/O2b+gPsyHlRDUdx+E+SGov3jivAl/FeTrQxW2EyfJTQ/f+D9ZCwBA1o2CB88dc3guF5JjF8xYXH03Pp8Kgvowr1ZCUN99EOaHoP5iercgX4+XXD8O1fhDjfUAAFhhFiWo/0rq2AUzFlffjc/ngqA+zKtFD+q7D8J8EdRfTJsL8vWfUVozZd04NOoXqXU+l50AABRZhKB+NlAjmLG4+m58fhAE9WFeLXJQ330Q5o+g/uL6uiBvD01Z70Rq2Ut+CwAAJpn3oP6Do/R3EMxYKfpufJ4KgvowrxY1qO8+CPNJUH9xPVuQt99MWOdoarmrYWkeJwAAKDTPQf2tYfkkUoIZi6/vxueZIKgP82oRg/rugzDZXaH7QHlZgvqLK06Ye60gf7fkLL8n9fe43kOyEACAadoI6j86Sk9O+Ht8UI2B0CNhqSfL7uTht4p4fH8VHHtTwYzVyX4OhKXPZV9Mjnt3gw2ee0fpiYK/PZbkzwujtH1OylMcC/SR5DeIx/5yknf7Gmqg9N34PBfaD+qvTsrEOA+PJv+N///hFs5pSGXwniSgMS478b97k2NsOo/bvraz+9uV7ONoss+475016r6hlZ8u6vsyNo3S08k+Xkryd3NmmaEE9Zsq523fB9uuz4vqo/HveCxVduO5rmnxN+m6Tpg3XZWFpu5H8ffcH5aC5v+GpSDpEM+/bFB/VXK/OJiUzWeT5TYM9Lmq7evpziTvDw/8+bhowtx3c+6T11N/f1KVAwBAGU0E9VclD+pxHMjfk/Uv5CwTgzq/FOwvBiaOltzf+wXbmJZOlNx+HMrg9CjdnLCtf5PG2KM1G4cxgHM+tZ20bWFpHM3sPj9M/n61wjnfnNKA2pscw6TzLBNIib1FT2YaJXkplo84meMdA2p8FjlXs5yl09UKZeJAct3cnLLNGJyIY/tvnjFAMUsZbFrsofbdlPP+LAn23J+UozravrazYrDhkyn7i387O+P+uiw/Xdf30zxTUFbH6fuwFAyL+g7qN1nO27wPdlWfpx1Mfqv/plybl5Nz2J8EvmIw7K5MunPAdcIkK/Xe3uT96ImC460b1G/7/KcF9deN0puhuMd3TF+G2QLbTT5XdXE9xRe4v2W2eXKgbaxtE+6B45fbG1P30v+SeycAAJRSN6gfPx19IXkwz3t4v5BpFP1QsqE6LWgYH37PpVJeI/jbzDLjdHjKtu9M9j8O9LyeBIF2JMGDwwUNy5MlG8exl9d74faelekG7GNTGm+PpfL/woTlvgjlg3axYXEoZ79HwvQetXeG5ZN6/Zvkx1NJvsX8O5bzO/0c6vW+7jKo/1JOGcorb98VlLdzJRuaTyT5kZ4Y7YVU2duTNOr/KAjQra9wTk2WwSbEYE56noLfksDIrlT5iXlxOec4qmj72s4LOpxPbefr5HpKn9fbOfs7U/H37Kr89FXfT/JA5jf7JafsvJ4KlsRy9nToJ6jfdDlv6z7YdX0e3ROWTyj5VVjqgbszuTZfCtWC3ePraGh1Qlkr6d7e1P1oS1LHTSon12rcM7q4FiYF9R8Jtwevp72wq/MVVBPPVV1eT+cLjvnAQNtZ3xQc78Ek39L3y/c0SwEAqKJuUD82vN9IHuInBXliQOmfVGP9RPKwf2pCQ+1QhePP601dZ9iBjakH6/NTAl15PSRjT6m1OctuTfLplzC5Z+a4Mf/XlEbbwUyDvSh4VmdM1pOp9d8psfyGTCPtRigO+MZlsz1UfwnVA5iLNvzOm5lt/W/CsmsLyt6vIX981i7K4KzS5/P1lN/yWOY4Vvd8bReJdd540tLfp9Slb+bs71KF66KL8jOk+n5sZ2Z7704oD7FMnUkFm/oI6rddzpu4D/ZRn8cXM+mg6AcFy60PywP/swb1u64Tqlrke3sb96PjyW/+YSgO+F4b6LVQFNR/OFWXVkkXapTNWZ+rurye4gvSf0P9l3l9eC4Uf2Hxeer/f6pJCgBAVU0Mv/NyQcPiQPK/48N+3pij8TP5vB4sV5MH9zKaCGbEBshP4Vav62m9hlYVNLg/ylk29k46mhzT2xMasPEYriTpSBLYyWvQ7c1s/4mCbT5foyycSDVg7yqxfLY34bRhHTaH+kMiNdX4nFWTQf0PMtt5puR6R3OO4Y9QHJhtuwzW9WBmu1tLrPNOavk7er628zyTqcem9djcUBCgODOg8jOk+j56PCwfCuONkut9VFD22w7qd1HOm7gPdl2fx2vz17D85dLqKddK3kuZ7wZ0v2/Sot7bu7gf5V3r1wZ6LeQF9WNdOn7pMR6qZvyC9ESYPoTX6Q6fq7q+nuYxqL8mTH9BcymYuwMAgBqaCOrvLAgS/ZcEGyYFJWIPn7yen7tL7ruJYMYnqXXLBraKet48XmFf6QZsHFP7y8xDfQyMpXsx/lbw0P9VzjY/r1EWxg3F4yWW3Z6zz1dLrPdluH1s1SoNmUUJ6mcDq5/UDNL8lykfd1Us702VwTqOp7b7T8l1Ym++8XAq6wd2be/KlOtHSu7vy4L9bRxo+emzvo8vSdI9d7+vcM53hPzhOdoO6ndRzme9D/ZRn2fL4Osl1vlfwbVSZX6ILuuEWa2Ee3sb96O8YbauDfRayAvqj19+fjjhPhB78v8YioPEVYaimeW5qo/r6dPQ3FdfXZk0B0os03drjgIAUEcTQf2NYbaJac/krPt2yXVnDWbsD/njQk+zPuT3FvpyynrPFzQ24zis63KWvzNpnD074aE/b/LHeGxVxnXdWjFA8lrOPs/WCOT8lxx/F43PJjQR1N+SU3a2VNzGHSF/rN0yPdXaKIN1fBnq9aIcD0+yfUDXdqwD08Hm4zXOp+x10Xf56bO+zwY5q87vkFdvtR3Ub7ucN3Ef7Lo+3xTqDSsTe7z+nbNu2Yklu77fz2ol3NvbuB/tDPWD+l2f/2cF9elLJctlUa/9q6H8WPV1n6v6up42huXzyMT08cDbWg+G4qD+Q5qiAADU1URQ/86CbZR1KGfdcyXXnSWYET/jTX/+/1zFvLtUcN6TAp/7Qjs9/n7K2eZrFdYfD/fwVcnl83od/VCzwVxlOJdFCOp/kVn/+5rHcrhmA7GtMlhVdiiNByo06KfVUV1f29nhHjZV2Nc9OfXwv8m/D7H89FXfHwy3D1dQ1VOh+6B+m+W8iftgH/V53hBQZV/u5gVPywzd0cf9vgmLfm9v4360I9QP6nd9/nlB/Sovi+4NxfOVlC3jdZ6r+r6e1iRlJ74U2jkn7a2iFzBPBQAAqGkIQf09Oet+W3LdWYIZ2U+0N1fMu1MF5723YgP2SgO/Y16A7reS68bG2TjwVDZA/WTO/o7XPM4qQfF5D+pvy1n//ZrHsrqgMX+qRhDlSg91z/eh/hAyMUC1ayDX9gOZZb6qkRd7U3XxtQl12BDKT1/1fbZn5rEa55zX8/nPOS7nTdwH+6jPPw71g/p5Q6t8WmO9Lu73TVj0e3sb96NZgvpdn/9nYfaOAi8WlM2LLT5Xzev11KeiYYc+DwAAUNMQgvp5gZbfS647SzAjG1g4VzFdKTjvtyo2YD9r4HeMw2nkTcRVZqzq8TH9GapNWPlKuDU+9sehXHA9r+H7bIV9zntQ/80w29i3Wadzthd/k9U9lMGq8npEvtPQtru8tt+qcP1PEnsePjbltxtC+emjvs8L0tXpndlHUL/Nct7EfbCP+jwvkFk2mHd3zfqrj/t9Exb93t7G/WiWoP4QroWqPbfXhPwXtGXH9a/zXDWv11Nf4m/0dcE5Vx1SCwAA/s9Qg/plAy2zBDOuh+IxLmdJpztuwI69G+r1ALowQ2MqBgpWV1g+r+FbZXKzeQ/qfxvqTxJatjxN2+ZQgvpbC449fqL+4Izb7vLa/inMFkwNc1Z++qjvT+ass6bG+fYR1G+znDdxH+yjPs8LZL5UYb/Z8bg/Hlid0LRFvrcPMajf97VQZziWk6Ha3CyzPlfN8/XUhzNTzvsVzVEAAOpYqUH9zZl1rneU320GVB8I+T2AJo3vfW+oPtZzHY+O0nuj9EdYuUH9VSF/crhdDf/mMb3YUxms6p0Jjdw4dvaGGtvs8tpel3PcT7a0r6GUnz7q+6uZ5W/UPN8+gvptlfMm7oN91ed5Aa5zFfafDSi+OdD7fVMW+d4+1KB+V+ffVFD/6YL6pczzSdXnqnm/nrr2Siqvfi7I719kEwAAdazUoP5TMxzvLNoOqH4Rqk2qN25sfNnCucZhEuK41+OezHFs6fNh5Qb1N4b6PemKFAV6T/ZYBqse/+ehOOAZAzEvhWpDR3R5be+ase6sYijlp+v6fm3O8n83+Hv9OaflvIn7YF/1+ZGQP+xT2br8ZsVrrq/7fZMW9d4+j0H9Js+/qaB+0f2hzFcaVZ+rFuF66sreVB5dTcrO9w20uwAA4P9bqUH9Aznrre8gv9sOqO7O2X5sSBQFi34NzQeAHh+ls2EpWBjHAo6TzG1J/raSh9/ZUXD8e2Y8pr/DcIaAqmN1yB/bPZ1+DOV7wHd5be8PzYz1Pk/lp+v6/snQXCC+r6B+G+W8iftgX/X5hoJnjxdLrJsdU//nAd/vm7So9/Z5Cuq3cf5NBfWjm6HeJL9Vn6sW4XrqwsPh1ldFsfxtS/69aMLcj2UZAABVrdSg/qHQTy+ZLgKqeROQ5QX+ngj1JtErEnskXUq2GRu8r+U0DAX1b0/7ZzymH3O2eabnMljHkQn10Th9Mkr3DOjafjY0H2Qfevnpur7P6xVaN0DXZ1C/6XLexH2wz/r8aM66f4WloH2V9cp8qdLX/b5pi3hvn4egfpvn32RQ/6+cbb3XwnPVolxPbYpfTvwe8ofli5Nf581JEF/KbJB1AABUIajfzRjEbTZgywRLzucsN+41+saM+3s41eAdn8/GgmVXclD/sdDOBGkXcrb5Yc9lsK77CoIc2cDfnoFc23n7eq6lfQ2l/HRd3+8rCH7UMYSgflPlvIn7YN/1+ds568ehKYoCW5vC8sDl0Rmu031h/izivX3IQf0uzr/JoP6lnG0928Jz1aJcT225IywfYifvmeD9UH0+GwAAuM1KDeofzFnv/Q7yu4uAapy8M+8z7PSkeutTy9w3w75ez+zjnSnLr+Sg/h0Fx39qxmP6Kmebb/RcBmcV65/LYXLQ8/AAru1ncvb1UYuBgiGUn67r+6IJIOsM9zCUoH4T5byJ+2Df9fn4es32ML6abPuu1D0tBsbGk5HG5fdX3Ecf9/umLeK9fahB/a7Ov8mg/oWa26r6XLUo11Nb0r9p0STeDxXk+2XZBwBAFSbK7fZhuquAal4voNdTf/9f8m8XZtjHR5ntny2xzkoO6kfXWyh3eZ/c7x1AGWxCzNsroTjgub3naztvX7+2mB9DKD9d1/e7Q3MTBA8tqD9LOW/iPth3fT4Wg/cnwuSXG+MvNOIY4Xc3cJ3Oa/Bs0e7tQwzqd3n+TQb1f83ZVplhvJqYKFcwekn666NpY+QXTZj7iGwEAKCslRrU31pwzA81kKdHkgf7rhqwebaFyZPqjT/T3ltz+y9lth0njtvUYsO3buOzabMG9T/JWT/m3bqGr+F7Ow6i1BGDTk+UWC6W2WNJPmWP+2LP13bRvh5vKc+GUH66ru83Fezv1Rrn2kdQv61y3sR9sO/6PF2mLia/RTyWOGRIDPLHYWRiQPWj5HzqTsbZ1/2+DYt2bx9aUL/r828yqP9PZjtXWnquWqTrqUnpYYm+HqW1U5YvmjD3hKYpAACzBHRWQlA/ut5CY3JLst0jHTZgi+QNq/F0uPXZbzoQUMWGnHLzVcl1V3pQ//mCczhQ83g25GzrUg9BlDpisLNKYPbJkB/wXNPztf1Pzr6+mHFfMWjyc871OYTy00d9/0+N42z6XjPEct7EfbDP+jyKgfoYAPspFI9X3oQ+7vdtWaR7+5CC+n2cf1NB/TWh2jBqsz5XLdL11IR0mfsllJvwtmjC3OvJ3wAAYKpFDOqXHWv3bMFx766ZlzE4EQNxf09oEHUZUD2Qs68YYDoebv9kv4oXQ/1xvY+ElR3UX1dwzX1e83jyxht/oYcgSh2xLH5fcZ3XQrle8V1e26cK9vX0jPt6daDlp4/6/kxopmdoX0H9tsp5E/fBPuvzGMT/MSyNlX93y79DH/f7tizSvX1IQf0+zr+poH62biv7hUHd56pFup5mtSU57vH9pMpcFkUT5j6neQoAQN2H+Zh2VtjG0IL6z5Rct2gCxhhguKdiPsbPbC8m67/ccQO2SOyp91tB4/a/Cg2+rDMzNHzfDys7qB+9U3Ae99c4npOZbfwepn/yPaSgftz3AxXWuT+UewHZ5bX9eMG+/grVJ6qM+4q9/H+Z8Dv2XX76qO+fKtjnxYrn21dQv61y3sR9sK/6PPZk/TlZ59kO6ps+7vdtWaR7+5CC+n2cf1NB/Xcz23iv5eeqvq+nO5OyE7+Q2B76E19MXk2O/UaNY3mwIB+/0TwFAGCa1aE4qL+nwnZmDfLsniHQcjpn3Q8qNIx/Ljj2OOFY2YBcnOTvi2S9OITAmo4bsJO8WnB+52fY5qc52/u65LoXc9Z9qeXGZ5PyxjSvGtRfnzR8s9v5qOJ24ufZ2WFJygzDMrSg/rsV1skbYmDtAK7tbwr2FRv720rua11qX08MuPz0Ud9P+j2rvBTMGyLj2hyX8ybug33V5+dT69zdQX3Tx/2+TYtyb+8qqP/PQM+/iaD+HUkdOl7/t1BtnpU6z1V9Xk+bwu0vtU72cA3Ge/EPMzwLjl0qyMetmqkAAEzyUCgO6lcJtG6ZMcizL9QP6r+es+53Ex7As0Ni7JmQBzHYc3RCMCU2ap5JNS7i586PTDne/Tn7+bLF3/jukD8+854Ztlk0FMaWKesdLFivbDByTeg/qH8+Z//HGgo6xPTYDEGdsj0Kuy6DRcbBzpsVAgDZumZST+0ur+0tyXnk7etG8ltNCrLESS1/CeWDv32Wn77q+90F+435vqvE+pvD0tcTedvYPMflfNb7YB/1+c5we+D0qeR+tarF36Lr+32bFuXe3sb9KK+u+Heg599EUP/NsHw89irlcpbnqr6up/Oh2bll6oj382/D7EPg5d2Lx+l9zVQAACZ5ZcIDeZVJCIse7FeXXD8vIHFjxn1nG0WbknM6l7ONExPyYXwsZ5MH7OPJfz8Ot8bQrDLcQd6Yrf+0/Dtne3H+NuP2jhbkU+xldW/O8nemGp0/5Kz3W6bhVzTMxGNh9vkfZpU3Yeepmtt6NuT37C4zWeTDYXkQ+YtQvsdoH2Uwz4Ww/FPztSXWyQ49M+1T9y6v7eem7OtmEow4kdpXDCKle92fn4Py02d9//6E/H1jQiBqd5LPRUH9WAfFcewPthAY6qKcz3If7KM+f3vKtVImXU+OMfbQrRLE7LJOaNsi3NvbuB8dKjiPTQM8/7ygfpWJtXdnroknK+bVrM9VXV9P8WXAvwX7OtPRdTee3Lupl2mTXljfEwAAIOehOAaErk15GD9Z8oHyeKjfayYey48F6z9aYv0YSPoz5PfK+jg5ttPJw3Hcz7qCY/hkxgBD2QbJtwXr72rx9340s6/XZtze3SE/uD1uhJzJNN7GE3vGCTifCMXjhx5PAmBFAb6PCtZ9taPrpqjx+1eo/7XAgXD7xKexx/akIVt2ZMr82VAuUNhnGcxzIbP/L8LkYTiyQexjJeuXrq7t6OUZ9hMD+nfMQfnps76PzoXJL07SAaR4DxsH235KfstJv0G8J344h+V8lvtgH/X5wTB7UD/v5eraAdYJbVqEe3sb96PPC7b5wgDP/2DBvsrMM3Ek3Apw/16hDm3yuarr66nvoP4Dyb1klnnIsp6ekDdVXrgDALDATicP3pdC8TARRSk2Fj5LginpYNE9ofiz0XGwM45hvKHgmLZNaHyNe50eLNFQP1ziHL6bcBxjb9RojMQAybRegpuTY7w8Ja+OJsu2MfzApVSQ594Gtre/Qh5dCUuTiY4bZL9OWf5Iaj/xt489oD6dEsiLw0VtbSnvNiYN7KtTytfeUG9s6G3h9jFVx8G4vUljMaZ9YXmvvlhmniu5jyGUwawLIb+HZpzgL/Yw3pGc98Fwa8zdcd4crrivtq7tomvjrwr7iefzygz52EX5GVJ9H702IbCTl75OjitvotzYu/VUUs+snuNyPst9sKv6PO3j0Hxg/8JA64Q2zeO9vY37UQx8xi9a3p/yrBB/94cnbLOPayHWSz8VbP/NpJ7YmdQVu5P7RXr5j0o834aWn6u6vJ6Kjvtgi9fZhuT+d31C3VPn+ns8+Z0n5VO8xuNL8/WasgAAK9e0Xvll0/iT3N8rrnct06C4UXH941PO76WCIM+fSQOobJAyjp36YZj+4uPbJCA2bbuna+bznw3//uPPypvsyfREQUN0nC4njdjVOY2YawUNl/SY4Gdq5l1T5/hJxcBh9pPzqr2rYqPtYol9fp/8nmW/DhhKGcy6UPF4Yr6cDdPHN+7q2p4kTv73VsjvPZ0O7MYA1P0N5Wdb5WeI9f349/xoyu/5c1j+4mJXKmB1OgmWrV6gcj7LfbDt+jzP3in7rJMOD7ROaMu83dvbuB/V2V68TvYP6FqIdibl8c8Sx/9HUk9WnQ+kzeeqrq6njeH2SXpPt3iNfVghn+KwQnFOiAcnbO9cck+9UeN3iOXrZU1aAAAWUewlHXujxvFU4+e8O2ZoNKxKGmgHku3FdDAJCq2bw7y5I2mI3t/Cth9O8ibmUezRHgNl04ZtuitpUI/zdZvi+3/WJuUsXfYOJP+2qD21ViVlZldSLp5Jnfu4TK1vcF9dXtsPp+ql8W/5eGgvQLjSyk8MrO3MnG/M77ygeCxjT4f2A/l9lvNZ74Nd1udxuRg8PZfkSdxfHKM7vtSIX3XEwGUMksXesTeSNO2l1eUVdr93b29Pn+cfe33vzpTJZ5JjeGAO7udtX09rUvXc9gAAAAAAtC4GKGOQPs55UGdOkvhiJvZSjkHOOLFweuLNVbIXAAAAAACaMR5/Owb1Nze0zU3h1tAnd8piAAAAAACY3dvhVo/61xredhxXOw7Po6c+AAAAAADMKI6xnR7/fmPD248TJ38vmwEAAAAAYHa/hVsB/X9b2P7Po3RENgMAAAAAwGweDct76ce0ucHtx2D+5WDoHYCq7hmlg6N0YpQ+HqVzo7S2YNkdyd/jcu+P0t5gHhMAAACAhbQr3B7U/zw0E4T/3yj9MUr3yWaA0h4fpS+S+ji+FH0+LE06Pk2st7eO0slk3X9G6QXZCQAAALBYYk/OG+H2wP5Xo7SlxvZiUGn3KH07SldDs73+ARbZ+rA0sfi4Hj42w7ZOhfYmPwcAAACgZ3GInP8KUgzuHw1LPfrvCst78K8epQ3J354JS0GkP5L1Pkv+BsB094al+UfGde8zM25ve6Yu3yqLAQAAABbL4ZDfY79q+nWU9slOgNJiQP/3VD363oRl4xdUl5L6+uCE5dZk6ubjshkAAABg8cSx7z8YpZuhejA/9uiPASYT4gKUFye+vZyqS38LxZPhxq+f/kgt+9OUbafr6MuyGgAAAGBxrRul/aP04ShdHKW/w1Kv0Jiuj9JfYWl4nfj32Ct/oywDqOXdsDz4/uyEZY9nlv1ryrbTy16X1QAAAAAAUF8cSic7fFnR107xZWv2K6oLE7a9KrPsDdkNAAAAAAD1fRyWB96PTVh2X7h92LMPJix/V2bZa7IbAAAAAADqicOW/RuWB97vmbD8yXB7UP+pCcvvCrfPewIAAAAAANRwJCwPun83ZfnPw+3D6ayZsPyhzPLvynIAAAAAAKjnbFgedH9ryvJ/Z5Z/f8rypzLLb5flAAAAAABQzy+h/FA60fXUsnHYnvunLH8ltfzPshsAAAAAAOqLw+ekg/qbpyx/LbXsO1OW3ZzZ9mHZDQAAAAAA9WUnyV01ZfkfkuWujtK6Kcu+GZb30l8luwEAAAAAoL50z/v/piy7YZRuJsu9NmXZO0bpr9R2d8pqAAAAAACYzflQvqf++6nljk7Z7qupZY/LZgAAAAAAmF0c577MmPp7kr//kfz39IRtPhxuDevzxSitls0AAAAAADC72DN/PE5+UQ/8J0fp+ij9Pkr3jdJ3yf/fkLPsg+FW4P/zUVoriwEAAAAAoDn3jNJPYSkQH8fYfzL59/vD0tA58d+/H6VNyb8/EJYC9zG4vyX5t/i3V0bpRpJelq0AAAAAANCONaP0wih9HZZ64cfAfOyZf3aU9ucsH18EvDdKV5Jl4zrfhqWx9DfKTgCAbvw/Zqd1CTg17u8AAAbudEVYdE1hdGhNTAA8bWF0aCB4bWxucz0iaHR0cDovL3d3dy53My5vcmcvMTk5OC9NYXRoL01hdGhNTCI+PG1zdHlsZSBtYXRoc2l6ZT0iMTZweCI+PG1pPkZpcnN0PC9taT48bW8+JiN4QTA7PC9tbz48bWk+c3RhZ2U8L21pPjxtbz4mI3hBMDs8L21vPjxtaT52YXJpYWJsZTwvbWk+PG1vPjo8L21vPjxtbz4mI3hBMDs8L21vPjxtaSBtYXRodmFyaWFudD0iYm9sZCI+eTwvbWk+PG1vPiw8L21vPjxtaT5zZWNvbmQ8L21pPjxtbz4mI3hBMDs8L21vPjxtaT5zdGFnZTwvbWk+PG1vPiYjeEEwOzwvbW8+PG1pPnZhcmlhYmxlPC9taT48bW8+JiN4QTA7PC9tbz48bWk+YXQ8L21pPjxtbz4mI3hBMDs8L21vPjxtaT5zY2VuYXJpbzwvbWk+PG1vPiYjeEEwOzwvbW8+PG1pIG1hdGh2YXJpYW50PSJub3JtYWwiPiYjeDNDOTs8L21pPjxtbz46PC9tbz48bW8gbWF0aHZhcmlhbnQ9ImJvbGQiPiYjeEEwOzwvbW8+PG1zdWI+PG1pIG1hdGh2YXJpYW50PSJib2xkIj54PC9taT48bWkgbWF0aHZhcmlhbnQ9ImJvbGQiPiYjeDNDOTs8L21pPjwvbXN1Yj48bXNwYWNlIGxpbmVicmVhaz0ibmV3bGluZSIvPjxtaT5EaXNjcmV0ZTwvbWk+PG1vPiYjeEEwOzwvbW8+PG1pPnNldDwvbWk+PG1vPiYjeEEwOzwvbW8+PG1pPm9mPC9taT48bW8+JiN4QTA7PC9tbz48bWk+c2NlbmFyaW9zPC9taT48bW8+OjwvbW8+PG1vPiYjeDIwMDk7PC9tbz48bWk+JiN4M0E5OzwvbWk+PG1vPj08L21vPjxtbz57PC9tbz48bW4+MTwvbW4+PG1vPiw8L21vPjxtbj4yPC9tbj48bW8+LDwvbW8+PG1vPi48L21vPjxtbz4uPC9tbz48bW8+LjwvbW8+PG1vPiw8L21vPjxtaT5TPC9taT48bW8+fTwvbW8+PG1zcGFjZSBsaW5lYnJlYWs9Im5ld2xpbmUiLz48bWk+RXhwZWN0ZWQ8L21pPjxtbz4mI3hBMDs8L21vPjxtaT5Db3N0PC9taT48bW8+JiN4QTA7PC9tbz48bWk+RnVuY3Rpb248L21pPjxtbz46PC9tbz48bW8+JiN4QTA7PC9tbz48bXN1Yj48bWk+ZjwvbWk+PG1pPiYjeDNDOTs8L21pPjwvbXN1Yj48bWZlbmNlZD48bXJvdz48bW8+JiN4QTA7PC9tbz48bWkgbWF0aHZhcmlhbnQ9ImJvbGQiPnk8L21pPjxtbyBtYXRodmFyaWFudD0iYm9sZCI+LDwvbW8+PG1vIG1hdGh2YXJpYW50PSJib2xkIj4mI3hBMDs8L21vPjxtc3ViPjxtaSBtYXRodmFyaWFudD0iYm9sZCI+eDwvbWk+PG1pIG1hdGh2YXJpYW50PSJib2xkIj4mI3gzQzk7PC9taT48L21zdWI+PG1vPiYjeEEwOzwvbW8+PG1vPiYjeEEwOzwvbW8+PC9tcm93PjwvbWZlbmNlZD48bXNwYWNlIGxpbmVicmVhaz0ibmV3bGluZSIvPjxtaT5JbnRlcnZhbDwvbWk+PG1vPiYjeEEwOzwvbW8+PG1pPmZvcjwvbWk+PG1vPiYjeEEwOzwvbW8+PG1pPmZpcnN0PC9taT48bW8+JiN4QTA7PC9tbz48bWk+c3RhZ2U8L21pPjxtbz4mI3hBMDs8L21vPjxtaT52YXJpYWJsZTwvbWk+PG1vPjo8L21vPjxtbz4mI3hBMDs8L21vPjxtZW5jbG9zZSBub3RhdGlvbj0idG9wIj48bWk+WTwvbWk+PC9tZW5jbG9zZT48bXNwYWNlIGxpbmVicmVhaz0ibmV3bGluZSIvPjxtaT5JbnRlcnZhbDwvbWk+PG1vPiYjeEEwOzwvbW8+PG1pPmZvcjwvbWk+PG1vPiYjeEEwOzwvbW8+PG1pPnNlY29uZDwvbWk+PG1vPiYjeEEwOzwvbW8+PG1pPnN0YWdlPC9taT48bW8+JiN4QTA7PC9tbz48bWk+dmFyaWFibGU8L21pPjxtbz46PC9tbz48bW8+JiN4QTA7PC9tbz48bXN1Yj48bW92ZXI+PG1pPlg8L21pPjxtbz4mI3hBRjs8L21vPjwvbW92ZXI+PG1pPiYjeDNDOTs8L21pPjwvbXN1Yj48bXNwYWNlIGxpbmVicmVhaz0ibmV3bGluZSIvPjwvbXN0eWxlPjwvbWF0aD7mpMXJAAAAAElFTkSuQmCC\&quot;,\&quot;slideId\&quot;:2766,\&quot;accessibleText\&quot;:\&quot;First space stage space variable colon space bold y comma second space stage space variable space at space scenario space straight omega colon bold space bold x subscript bold omega\\nDiscrete space set space of space scenarios colon thin space capital omega equals left curly bracket 1 comma 2 comma... comma S right curly bracket\\nExpected space Cost space Function colon space f subscript omega open parentheses space bold y bold comma bold space bold x subscript bold omega space space close parentheses\\nInterval space for space first space stage space variable colon space top enclose Y\\nInterval space for space second space stage space variable colon space X with bar on top subscript omega\\n\&quot;,\&quot;imageHeight\&quot;:137.37133333333333},{\&quot;mathml\&quot;:\&quot;&lt;math style=\\\&quot;font-family:stix;font-size:16px;\\\&quot; xmlns=\\\&quot;http://www.w3.org/1998/Math/MathML\\\&quot;&gt;&lt;mstyle mathsize=\\\&quot;16px\\\&quot;&gt;&lt;mi&gt;First&lt;/mi&gt;&lt;mo&gt;&amp;#xA0;&lt;/mo&gt;&lt;mi&gt;stage&lt;/mi&gt;&lt;mo&gt;&amp;#xA0;&lt;/mo&gt;&lt;mi&gt;variable&lt;/mi&gt;&lt;mo&gt;:&lt;/mo&gt;&lt;mo&gt;&amp;#xA0;&lt;/mo&gt;&lt;mi mathvariant=\\\&quot;bold\\\&quot;&gt;y&lt;/mi&gt;&lt;mo&gt;,&lt;/mo&gt;&lt;mi&gt;second&lt;/mi&gt;&lt;mo&gt;&amp;#xA0;&lt;/mo&gt;&lt;mi&gt;stage&lt;/mi&gt;&lt;mo&gt;&amp;#xA0;&lt;/mo&gt;&lt;mi&gt;variable&lt;/mi&gt;&lt;mo&gt;&amp;#xA0;&lt;/mo&gt;&lt;mi&gt;at&lt;/mi&gt;&lt;mo&gt;&amp;#xA0;&lt;/mo&gt;&lt;mi&gt;scenario&lt;/mi&gt;&lt;mo&gt;&amp;#xA0;&lt;/mo&gt;&lt;mi mathvariant=\\\&quot;normal\\\&quot;&gt;&amp;#x3C9;&lt;/mi&gt;&lt;mo&gt;:&lt;/mo&gt;&lt;mo mathvariant=\\\&quot;bold\\\&quot;&gt;&amp;#xA0;&lt;/mo&gt;&lt;msub&gt;&lt;mi mathvariant=\\\&quot;bold\\\&quot;&gt;x&lt;/mi&gt;&lt;mi mathvariant=\\\&quot;bold\\\&quot;&gt;&amp;#x3C9;&lt;/mi&gt;&lt;/msub&gt;&lt;mspace linebreak=\\\&quot;newline\\\&quot;/&gt;&lt;mi&gt;Discrete&lt;/mi&gt;&lt;mo&gt;&amp;#xA0;&lt;/mo&gt;&lt;mi&gt;set&lt;/mi&gt;&lt;mo&gt;&amp;#xA0;&lt;/mo&gt;&lt;mi&gt;of&lt;/mi&gt;&lt;mo&gt;&amp;#xA0;&lt;/mo&gt;&lt;mi&gt;scenarios&lt;/mi&gt;&lt;mo&gt;:&lt;/mo&gt;&lt;mo&gt;&amp;#x2009;&lt;/mo&gt;&lt;mi&gt;&amp;#x3A9;&lt;/mi&gt;&lt;mo&gt;=&lt;/mo&gt;&lt;mo&gt;{&lt;/mo&gt;&lt;mn&gt;1&lt;/mn&gt;&lt;mo&gt;,&lt;/mo&gt;&lt;mn&gt;2&lt;/mn&gt;&lt;mo&gt;,&lt;/mo&gt;&lt;mo&gt;.&lt;/mo&gt;&lt;mo&gt;.&lt;/mo&gt;&lt;mo&gt;.&lt;/mo&gt;&lt;mo&gt;,&lt;/mo&gt;&lt;mi&gt;S&lt;/mi&gt;&lt;mo&gt;}&lt;/mo&gt;&lt;mspace linebreak=\\\&quot;newline\\\&quot;/&gt;&lt;mi&gt;Expected&lt;/mi&gt;&lt;mo&gt;&amp;#xA0;&lt;/mo&gt;&lt;mi&gt;Cost&lt;/mi&gt;&lt;mo&gt;&amp;#xA0;&lt;/mo&gt;&lt;mi&gt;Function&lt;/mi&gt;&lt;mo&gt;:&lt;/mo&gt;&lt;mo&gt;&amp;#xA0;&lt;/mo&gt;&lt;mo&gt;&amp;#xA0;&lt;/mo&gt;&lt;msub&gt;&lt;mi&gt;f&lt;/mi&gt;&lt;mi&gt;&amp;#x3C9;&lt;/mi&gt;&lt;/msub&gt;&lt;mo&gt;&amp;#xA0;&lt;/mo&gt;&lt;mfenced&gt;&lt;mrow&gt;&lt;mo&gt;&amp;#xA0;&lt;/mo&gt;&lt;mi mathvariant=\\\&quot;bold\\\&quot;&gt;y&lt;/mi&gt;&lt;mo mathvariant=\\\&quot;bold\\\&quot;&gt;,&lt;/mo&gt;&lt;mo mathvariant=\\\&quot;bold\\\&quot;&gt;&amp;#xA0;&lt;/mo&gt;&lt;msub&gt;&lt;mi mathvariant=\\\&quot;bold\\\&quot;&gt;x&lt;/mi&gt;&lt;mi mathvariant=\\\&quot;bold\\\&quot;&gt;&amp;#x3C9;&lt;/mi&gt;&lt;/msub&gt;&lt;mo&gt;&amp;#xA0;&lt;/mo&gt;&lt;mo&gt;&amp;#xA0;&lt;/mo&gt;&lt;/mrow&gt;&lt;/mfenced&gt;&lt;mspace linebreak=\\\&quot;newline\\\&quot;/&gt;&lt;mi&gt;Interval&lt;/mi&gt;&lt;mo&gt;&amp;#xA0;&lt;/mo&gt;&lt;mi&gt;for&lt;/mi&gt;&lt;mo&gt;&amp;#xA0;&lt;/mo&gt;&lt;mi&gt;first&lt;/mi&gt;&lt;mo&gt;&amp;#xA0;&lt;/mo&gt;&lt;mi&gt;stage&lt;/mi&gt;&lt;mo&gt;&amp;#xA0;&lt;/mo&gt;&lt;mi&gt;variable&lt;/mi&gt;&lt;mo&gt;:&lt;/mo&gt;&lt;mo&gt;&amp;#xA0;&lt;/mo&gt;&lt;menclose notation=\\\&quot;top\\\&quot;&gt;&lt;mi&gt;Y&lt;/mi&gt;&lt;/menclose&gt;&lt;mspace linebreak=\\\&quot;newline\\\&quot;/&gt;&lt;mi&gt;Interval&lt;/mi&gt;&lt;mo&gt;&amp;#xA0;&lt;/mo&gt;&lt;mi&gt;for&lt;/mi&gt;&lt;mo&gt;&amp;#xA0;&lt;/mo&gt;&lt;mi&gt;second&lt;/mi&gt;&lt;mo&gt;&amp;#xA0;&lt;/mo&gt;&lt;mi&gt;stage&lt;/mi&gt;&lt;mo&gt;&amp;#xA0;&lt;/mo&gt;&lt;mi&gt;variable&lt;/mi&gt;&lt;mo&gt;:&lt;/mo&gt;&lt;mo&gt;&amp;#xA0;&lt;/mo&gt;&lt;msub&gt;&lt;mover&gt;&lt;mi&gt;X&lt;/mi&gt;&lt;mo&gt;&amp;#xAF;&lt;/mo&gt;&lt;/mover&gt;&lt;mi&gt;&amp;#x3C9;&lt;/mi&gt;&lt;/msub&gt;&lt;mspace linebreak=\\\&quot;newline\\\&quot;/&gt;&lt;/mstyle&gt;&lt;/math&gt;\&quot;,\&quot;base64Image\&quot;:\&quot;iVBORw0KGgoAAAANSUhEUgAABfUAAAIPCAYAAADacDRxAAAACXBIWXMAAA7EAAAOxAGVKw4bAAAABGJhU0UAAAE2FoU2RgAAgABJREFUeNrs3Q+kVsn/wPGPK0kSSZKsSJIkS5IkiSRJEklyJZEk62tFkmRlyUrWSqwkSSJJksSVJGvFSrKyIitJEkmSJPb3fH7PPO65c2fO/zPnz/N+cez3233Ovzkzc2Y+Z84ckWab01uu9pYvveVjb/lFAKAb2lq/ze8tB3rLspqPYV9vmUI2AtAgK3vLEZIBoL1Ge432GoChqnMBOPzZW/6zFgo1AOq3sDRQ9VNveRI51m0B9z/SW1b3lpO95XHkGGaQjQDUSOumjb3l197y0tRL70gWgPYa7TXaawA6X+cCjbDZUWhCLy7LPL/9wCUD0HJNr9+mmE7ghd7yxnOsVXcSl/eWg73lem/57DkGOokAQlsi/dGvNzx1E0F9gPYa7TXaawC6V+cCjbTCdEzu9pZPUk9Qf8TTQKBAA+iiptdvYynq7So7ic9T3jvoJAIIaXeKeomgPkB7jfYa7TUA3atzgVZYJ/4n/YPlofQfBCQtt83yTPxP7nWZ6jmWJ8KrNwC6qcn122Du0znmmEJ3EnUU7Czzv3VU7GM6iQAaYCTyX53m4oUQ1Ador9Feo70GYBjqXKA1Dog/AH+swHb1pr/LccP33ejn9Zab0v9Ixvveckrco/oBoG3aUr+NmGMM/Tp31BY6iQAa6KAQ1Ador9Feo70GYNjqXKDRFoo/qL+lpEbH/cg2F5HkANBYT2ruJE6jkwiggVwBLIL6AGiv0V4DAKA2I+IP6m8uaR+LI9tcR5I7rektazk/ADW7XXMnUegkAmigzTIcQX3aawDtNdpr1McAgBb5ItUG9dVgtP4GknsSnRtRv22wk/MDQCeRTiKAxhmGoD7tNYD2Gu016mMAQMuECOofrmCbXTFm0mYn5weATiKdRACNMwxBfdprAO012mvUxwCAlgkR1F9lGh8rSe4JjkfSeyfnB4BOIp1EAI3T9aA+7TWA9hrtNepjAEALhQjqI7mDuJPzA0AnkU4igMa3aboU1Ke9BtBeo71GfQwAaCmC+uF931s+dPim3fXzA+gk0kkEMDy6GtSnvQbQXqO9Rn0MAGixJgb1Z9fQMAllWW9560jvnZwfMBSaXL/RSQSAyboY1Ke9BtBeo71GfQxQ5wItV0VQf9D52ZBhnSm9ZZdppHzrLR8L7P+73rLe87c1vWVvb/lfb1mbcnvzTQWj6x0z/91h9pOFpsd7T3rXedNuy/mNSP/7DDsjx7rP/P8VFaWNpsF2s7+j5r87zblOrfCaTDH72G3O8cfeMtpbttBgDpoXyqpLyqzfqjz/tJ1E3f9Gkyd/NMegv5vT0E5i1eVphkn7gxnuK2jmfaxpdfMU06bSfRw2+9xtyt+UCva1PlKvHI7c86r4JtLq3rIp5u8rzHkfMsexpYJzVgsi9/kjJn2XeNq1dQf1aa/RXqO9RnuN9lq38nTX4wNNauuEyF91t22Gvc6tq01bpsWm7O0xfUufg+Y3+tvvSz4G+rYtU0VQf7+kD+prYbvQWz5b+89aoEfMjeauqRBuW39f3lueOM7zYsw2t/aWvzzpM1hum3NY1FvexGzrXMJ2fMv5Cq99W85vmSeP2Isen35caHoJaaM328cJ+9N89tScwy5zA9eb5WxrydJI0Ar5Sm/5mrDf26bRUKXXGa7j14Tz3GGOO+6cpjYkL5RZl5RVv4U6/6RO4szecsocv2/f9wve/MvsJIYoTxoQfGVt80Kg+/eMmHt4XFndEbO9rwnrf25YG6bM+1iT6mYtQzcT9qd/u15wfyOmczuW4tpruf9dJge8s+xri7lnvjHbHHP8Rju6/3qO4b3pmJVhj6cuHyyPTUBBpP6gPu012mu012iv0V4LU55CXtOuxwea0tapMn81pW0z7HVu6DZt2VaY+mDwxs5bk2d/i1nndG+51Fv+ifTRrkq2gdVN69u6zjFrX/ezaaesS2jPRMv+LoL6k11NCOovNQ2N1wkFLY1VJrO/d9xsBtYkNGrWOCqEy5G/vzKV32ZzTvrf/5kOgr0tl3m95UZkcZ33I+s3g+VgBde8Lec3w9wgowXugmm0Do7zqGN/zyX/KAIdlfBHZFsPpf+UcqPpBB7J2Hn6z5SHNMG5i5FAwcnI9dhk0sl1k7wg1Y5AW2pujL5zu5fhZqhPzPc5yuIhSR6hECIvlFWXlFm/hS4LcZ3EVY4bfFKHI8/IkzI6iSHL013PMe8OdA8fMQ2RtwnX44cM57bAc17HpJqR0k24jzWlbrbT/g9TR0bP67TnPjMr477WmzpisI0nJs0G+9pq6rK3nvI9K+U95H+mbnF1sMasDunfKeuXiwXyzmLrmv3ryDsnI51zzWfbawrq016jvUZ7jfYa7bXw5SnENe16fKAJbZ2q8leT2jbDXueGbNNWYYFVn2sa7zflMYu1Vj57aq5bHnX3bV30gdGfCeXnD1Ov2tZ58uZlqe7t0dYH9WdHtukL6p81lfLFmEwTV6C1cvxZ/E87o5XMUvG/0jZYRq3tn7MyR1wD5ai1rTSNohtS7+t1bTi/OdZN9ovj4Uv0t/aIgn9zVM6LrZvM757fzbI6kkU7ifMilfDdhON2jejQkTbTKswvU2IaI3nmvbsQWf9MzXmhirqkaP1WZ1nwdRL1NcVPkn0k0ViOvFm0kxiyPI2IfwTAVQlrecyxfMixvR3WNs41rO1S9X2sjrp5q4x/JO+NxI+0OeXY35MMZd1e/4eY307znN9LUy/GeWjq2IsJHd+tkTrmoelgnTQNbl8ncV+OfLPR2t6vMflhhowPUnlXU1Cf9hrtNdprtNdor9VTnkJf067HB0K3darMX01p2wx7nRu6TVu2nVY+0AdpiwpsT8/tjnVexzNuo0l9W9f5PYzJYydi1rUfRrZ+ZL6tzKD+FOuGlPbVj0sZC7Q+VT1sCsLpmEpGK6kXZjlkbkCuhk50KoLvrb8tS3H8ZyK/T/MqU5037bacnz3aKOk1wyVS7NXEWaYyj1bsUxJuoq5O/l8Zz1P3+09k3aRRJyOeDtulivPNek85O5BjW+cjDY/ZNeeFKuuSvPVbnWXB1UncHWnQDV61HDRKz0vyK7pXAnYSQ5enpjV8Loj/tcLZGbd1xlr/O2mOEPex0HlpT2Sd1ynSe44n76XJd79b6+xJeYyHHft7m6ETdMzT8d1t/remn2vEjOZd1+ic15JtJJOO1Im+5v1zgTZqiKA+7TXaa7TXaK/RXqu3PIW8pl2PD4Rs64TMX3W2bYa9zq2zTVvUQWvfn6ScqYCmOfJyloFZTQ7qq7nifzv9qWcd+23b49JBvqD+Tpk816S9LDONx22mwfDc2kbaoP72ggX6pqeS0fnX7lsNjBUycXTPK+vvZ63ClbbwDF7TTvPkuM6bdhvOb61ke/I2cN8RyErbuDxvrXsyxTo/eMrOkpx5N+1NZL9nv+sqzjuuJ6N3cmxn0Kk428C8UGZdUkb9Fvr8XZ3EQYNTR1XM86ynI8OexXQUs7yuV6STWEd5uiXljSIuaknMNfhfxgbdW3G/XtsEIe5jIfPSZquspn1d9r5nf/MydGJu5gzy/WfVfWkCfhs9Haj/TLshLiig5+QaDbcl5XFr4CA6iuxxhnOeLu5Xxd91IJ/TXqO9RnuN9tqwtNeyCn1Nux4fCNnWCZm/6mrbDHudW3ebtogtjv0eKnH7qxzb/zHD+k3q27rsiLmHbbd+O8vKi4+ko7J+eCDLkjaov7FggT7gWV8fMsx0/H6GabToF7DnxlR0WY5h8Bpamg8O1XnTbsP5/eRY/3rOijnNGycLJN9ryvrU/0OBSnmXuOfeSzJL3E9Q71ecd1wfCsw6gndZxs506LxQZl1SRv0W+vxve+ryIynzpW8U2GtJP/dp3k5iXeVpnkx+oH2txnv6TU8aPs+wjQ1S3+vfTbiPhcxLmn+iweazOc4nbVlf6ji+rCOSpot7ruarKctKkQ/+XXWsezpnkHNNxvN21cXvWp7Paa/RXqO9RnttmNprWYW+pl2OD4Rs64TOX3W1bYa9zq27TZvXLJn89uDzCvZz19EGSJs+Tevbulz3lLsX1j3sokycnmqxdFQTgvobpFhQf6eU9+TeLmSLM2T+tOdc5027Defnmufs75w3tx0p1jss+aefct0Y07yqpyNho6+P7894HZ948vzcivPPP459/pRh/cGrmg8bmhfKrEvKqN9Cn//tgp2l78Q/R2TaPJ6nk1h3eZpq8s4B00Ct04qYe/LWlNuIvg77XrJ/rKnN97HQecl+9XhBhn3Nd7Thvpl/d7ln/fZxzvQ/6DnHpI9NzfCsl9Y+x7o3Uqw3KpPn481qm4QP6tNeo71Ge432Gu21+spT6Gva5fhAqLZOHfmrrrbNsNe5dbdp83JNZZRmFP1C6T9suBzTzo9yjWa/leE4m9S3dZkr/u84DN7gtN9g/0E6rOic+lNMJtNXHewRgnUG9V/kTI/Hkv81nofS/CfxbTi/TY710zzRd1XKoynWu1Yg/2/PWWHa62WdQ+2yp9zuqDj/uNL4Vcp1RyKNxtGG5oUy65Iy6rfQ538753pRP3ry5oMKO4ltLU9Vuec5nz9S3tOj847/1sDzq/I+FjIvLbZ+8zBHWuyItOM+xtxrlzuOKe/Hj6d4gkGXE9Yr2vHd6lg3zWu09mijoznO2TXy+V2L8zntNdprtNdor9Fea9Y17Wp8IGRbp478VVfbZpjr3Ca0afPQKatc3xtICtLrPTn6weJnKc/LNbXTQumOUfF/S06/E/Jzjvtaa5X5oVx1QpoR1M87B7DrqeeZktO8zpt2W87veKQiuibpXud03aT25mwYp20czs2Z9+yO6Y2MywtPuf2l4vwz3XMz2pKhnL6TbCN/Q+aFMuuSsuq3usvCtoznO9XTOEo7Z2OeTmJby1NV1op/tP7KhHV3SZiRKk29j4XMS7+UlN+0zK2R+I+FnpJicyfbrji29zXhGIp2fF2B9Tc56t88I47qCOrTXqO9RnuN9hrttXrLU8hr2tX4QMi2Th35q462zbDXuU1o0+axS/K9XbE1573c9T2KI9ItvqnodEDPv5E8tUA6ruyg/oiMfzSljUH9ZZ700LkHv29QJ0qG4PxGMlamrpvUvpyVQZYKz57PLc2cY5+lmimvrgTIQ79Kvg+wjRVozIXKC03sJNZdFrblOOcLBe4reTqJbS5PVfnTc07XMuSBvxt6blXex0LmpX8CtgMe5ewQZKkrk7ZZRcf3XY66aGqO860jqE97jfYa7TXaa7TX6i9Poa5pV+MDIds6deSvOto2w17nNqFNm4fr4UGaNwJ+lnxvJrimHbwr3TJf/FPJNe0Dv5UqO6gfzUBtDOqrMzGZQs9tTkM6UZxf32rpTxHxNmchdn2g5kaG/dsNiFMJv7fn9/rcsjpjsbhH9cQ9Af1Oss/TWEdeaGonMdT5l9VJ3O6pX9K83pm1k9j28lSVzeJ/JdFXVu2PhB1u8PlVcR8LmZdmOo57U4UBiW8lt/MWe9L+x4Z1fF9bv/9SYnl619J8TnuN9hrtNdprtNead027GB8I2dapK3/VHdQftjq3KW3aPFxvgqTpa7keBqT5KLJrepov0j37Y+quuzIkqgjqD14taWtQXyuLOzGZQ4/tiOT/eGDdN+0unJ++Rq3z4g6e/j+WyV/5TnuTOiTuV65mpDwWe76ypHy/rcCNvylcc3bHfYDtuGT/iFcdeaGNncQyz7+sTuI8yf96dNZOYhfKU1WeetLT90r1AUn3wdUmqOI+FjIvuTpxGyra17wK2nm+TtWFBnV8pzl+/6HE6/Wupfmc9hrtNdprtNdorzXvmnYxPhCyrVNX/mpyUL+LdW5T2rR59vFfzjJ+I2fab/Psc3oH+7y+78mNDUunv4qg/iZpd1Bf6WtMVyT+VY5nku9pc9037Tafn35h/bqpeHWuUP0gzFLzt7yvk83xlIM0T2ftOVqfp1hnt2Nfs1pWb2xxnMPrmIbeywryeRV5oU2dxCrOv6xOoit4kvYDTlk7iV0oT1XZ7UlPHb000/H7hy1rBJV9HwuZl1zzam6saF8bPGmzteB2P0izX1HfVGJHua6gPu012mu012iv0V5rniquaRfjAyHbOnXlryYG9btc5zalTZvVHMk/xU/eoP4mzz7Xd7DPu1Dc3xHS5cAwdPqrCOqHbkRVUckMHIpJo+gX4rOMaGzCTbtt56cfQntitqUF9idHwzHvTUoddqz73nQCs6yXptzsk3CjFqr0IuUNdb3k++BaHXmhDZ3EKs+/zE7ie8e2fqugk9iV8lSV5540teeh/s76+64WnWNZ97GQeWlvBR2SrB2gotf4mWObVxvU8d1WYt1bZ1Cf9hrtNdprtNdorzVDlde0i/GBkG2duvJXk4L6w1DnNqVNm9V6yR9zzTv9zgapP84bkm+0vpaFhV3v8BPUT7ZQ/F9WjnYo0t6kmnTTbvr5rYzcnAbXdZ7nt0U6ieq0Y319Tc03h+ACqyGcdv7pfQ27/nm5OtZ3Y25EPxfcX4i80OROYojzL7OT+MSxrb2BOoltLE9VOeBJU3uk5jErf05p2XmWcR8LmZdc+9pf0b7WeNLjeMHtjjm2ebFBHV9Xff4157k2IahPe432Gu012mu01+oR4pp2MT4Qsq1TV/5qQlB/mOrcprRpyzjXtDFXV5vnfIr11snwBPX3JNRVD7re4Seon+04nyZkmIMtvGk39fxOSrp5oMvqJKpRmTxi5bXZ9mzzm5mmQfI20qDZlXEfeb5g3jQzxf3KbvQDbLMivynyhDRUXmhqJzHU+ZfZSRzLua2sncSulKeqaOD+lSddo532px1JvyL3sZB5ydX4vFTRvqZ70uFywe0+dGzz5wZ1fH0fgMzzOn5Tgvq012iv0V6jvUZ7LaxQ17SL8YGQbZ268lfdQf1hq3Ob0qYt41zTxlxd01jtTrHesAT1F5l881/C8kOXO/wE9fPdNF7EZJi1Lb1pN+n8Lkn2V4zK6CSK6QyeT1ExaOdH56ibm3H7rikBnra0/jjnOJeTkb//IMXn5w6ZF5rYSQx5/mV2El86tpVmWogyPrzW1vJUlR896TpIp+XWv6/uwDnnuY+FzEuufb2sMD0+V3BurikbdjSo47ulxPZt04L6tNdor9Feo71Ge616Ia9pF+MDIds6deWvOoP6w1rnNqFNm9VSTz5JU28vdqy3PGf6Vvldizro4LVHMnFasDHxf1NucVc7+wT1J9JMsD5lBtKvibu+lJ30ekedN+02nN8Ra109hgUBO4kzzDm+M8ey13Qar5ib5SVzPnk/vrPMU+ZWlHB9dQ7E0wHL7nKJn9bjScGbYui80LROYujzL7OTaH+s5kXK9bJ2ErtUnqoyVcZHqtqLjuI4Ffn//7TgfKq6j4XMS8tirkcVbjr2pekys+T243cN6vgu8OzvRI5zrSOoT3uN9hrtNdprtNfqK0+hr2kX4wMh2zp15a+6gvrDXOc2oU2bpy9W5FsAb3Lcl3wfyp0r3RF9U2XwfaX54n5Io8sj6SiC+pNvalk6fJs8N7apDb5pN/n85jjy5MOU65bRSdSO3x8msDWvwuvwuYIb41Kz3UOB6xDX62rbTSPKNXe3NDgvNKnBUsf5l9VJdDVc0r7CmLWT2LXyVJXjnrTVjwpFp+c51oJzqfI+FjIvffJcj6Kd2ueOOtf3bYXdOfczx7GtJwnr1NHx/ZTjOMvsdNNeo71Ge432Gu219pWnOq5pV+MDIds6deSvOto2w17nNqFNW1Z74n8p170aWedGynW2Ovb3RbpjXcz1j5tj/4h0EEH9yTe1xxnX+UmyPYF23bR3BUrrpp+fa5qItHOkHSrYSdROoX75XEe0Vv0E87qn3G3Jub1ZpnHzIUWDumy7Heeh+eysTH69O4s68kKTGix1nH9ZnUS7gZp29EjeTmKXylNVZno6VnFzLDdVlfexkHnpsmdf2wvu64Tn+rvae3dy7mt7jo5JHR3fq1LOyL26gvq012iv0V6jvUZ7LXx5quOadjU+ELKtU0f+qqNtM+x1bhPatHm46u0LKdd9EFnnr5TruL4z8UdH+rVaNqNTx91Mmd6DBxtLpGO+CUF9+6am62eZb2mRY/8bMt609wS8aTf5/K4WuEmdK9BJnGNu2vbHI6vi+4CfdlDnZ9zWtEhFX8coW9+HOD8WDBLWkRea1GCp4/zL6iT+am3jtwzr5ukk1l2eZpi8o6Nf1kpznZT4gP49aYcq72Mh85LvA1b6yujCHPvS6/ev+d8uZzz7W5TjGlywtvEmZr91dny3efb5IOP51hXUp71Ge432Gu012mvhy1Md17Sr8YGQbZ068ldTBiwMU53bhDZtHkdy9r303h392P1XSfdWXdK3dNrct70mk6fdsc0V/zQ8TyTfm4mNNDWmc7894HG4CvSnDOtXEdT/tWA6xlUEVxy//z3wTbup53dL8j9RfCD5X6+5K2HnGRuJdEpdHxBK28iZbW4Gg7mwp9ZUl5zwnMvdAtusIy+EarB8auj5l9FJnG4ao4P1NYCQZY7DPJ3EOsvTAkeQ5II0k+t13So6j6tNOuq+Ppv8uLUl97HQeelPz750GozlKfc1M7KvuDlxZ4n72wqXcpRx+62PNK88F+34bsnR8Y27nllGhh+UYoNPaK/RXqO9RnuN9lp7ylMd17TL8YFQbZ068lcdbZthr3Ob0KbNw/Wtpy+SHFxe71hvU4r93Xest7QDfdu9Ga7XaEy/97h0xIqYkzwc8Dhcldm3DOvvcqx/v+BN7WuGit/+mnXSCDDXaMm/YiqsMh+wNP38fK/KJ1VAvgKbpmLf6LgpbjOdxSqf4G2NKX8fTRmcFtNo2ROpcLW8rKqxLpkr7rd+igTy6sgLZdYlReu3Os6/jE5i9KOrnzPmy6k5O4l1lqe7Uu68jlX7zXO8n0vqFC8T95yRZTaeqr6PhcxLS2Xi6Bu7oX8iIciiH7X8N0NnfINnX2sKBAUv57wGWTu+OyXfaPktnv1quqd5K1Vf0fWN9Kny9V3aa7TXaK/RXqO9Vk95quOadjk+ELKtEzp/1dG2GfY6twlt2rxcb+QkBejPy/hHXgcPZa4lrDPFUebGOtC3XSTjbxfqcitnmg/y2jLpgCMxld7DgMexT4rN7euaV+xTzmMZi2zjT0n36o39+k/SKyq+m43dGNPzfyLpP4bRhfM77FlXn5K7vkA+I9Io/dux3ivrHF2vBZ6W5Hmmk5bP5hgvZGxcnk/YrjZ0dH5AfX3qrPmvVuIfpJ7XM+NccaR9EXXkhTLrkqL1Wx3n7+okZvlw1harTGzKmFZrPOe8oaHlaUT8U9hdbeh9f6HneMsagfFbwjVY3ZL7WMi8tD9hX19NA/t8ZF+av6IjlLKMst0r7tFyaT42utLqJNyT9A+DfG2DKSnXPyn5P/h1LiZ9f44JRG0x6ewL6mu9+pPpKJfd2aG9RnuN9hrtNdpr9ZSnOq5p1+MDIds6IfNXHW2bYa9zm9CmLdIPswc/xb3xMC9yjOtNXT1Yb1mG8qb91TSj9Jvct9Uy9di6d6WZVmtOTDte3+yZ1eaA/vaYkxssvwQ6yTue/af9QMUjKe+7AGMyeZ6ruRkqkqMpM+Q7cT8tumZuLldMAdYPgc0sMa2bfn5zxf8xx6+mMonefL9E8sp6z3p/mnXGPDfJ0RI6ia557aalrDhvFtzXnobUKaut4/qp4PbqyAtl1iVF67emlIWvkm7e4kORRsCbnMHbS57jTttRDV2e2hjU9+XJsuZLvJiQvldach8LnZeOFdiPdnKnZ0zD3TJ5KiYdBRf3GvwG695+XbLNOXpW8o/8GTHthSIPim4kBBOiHfwLkY7vP+Zaxl2DjybvVxXUp71Ge432Gu012mvhylMd17Tr8YGQbZ2Q+auOts2w17lNaNMWsTtDOo45+k+Df3vmidXOMQ82ots/2IG+rf3R7V8LrGsPZp8pLbHKdGjui//VeN9rCc9MxXiixOOZaoII5xI6WTqCaqVMfq12icmcT2PW14cWh81v076WOybup5A6+nCbqQA2msbUPSudDmY4/4Mp0v4vUyir7CQ28fx2ZcifL6T/AZ5BJfQy4feHPMd7rYKO4liG9Po5x/afSb2vcLs8ieSX70rYXoi8UEVdUrR+q7MsbDZBLNf2T5l6YqOpK3Sk13Hr95cy1lvagNJRLrcS0krfLFuWMv1DliffcY82uD2w29HwLcuOhHT+p0X3sdB5aZckD7aw22dFpjRaHqmz7eDBDpOGuuir4bet+nB/hv3MF/883oPtHYypN5bHdPwGI7JGU3bGforprLiWP8xxuT5k99l0ErZK+hF5tNdor9Feo71Ge60d5amOa9r1+EDotk6V+avuts2w17l1tWnLYj8Y+2iOY3C+yyJlTUenz/AE7XUAyorItd0m41NVZX3o1tS+7TJxD8y5mrLtv0jcb6jYI/a3SQs+nrstcKM3Tp59fzOVl7qScxtp5l4dy3Fc+mRvaY50OOLpXL4zN68qMlVbzm+9p6E6WJ6aG47dkV4nE+fZin7hOml+tR0J+8yzZGnoaBpfFP+cg4PlkVXpN8lhKf9JbpV5oYq6pGj91oSyIKbhc1Hco4bsRV+NPSvZ55e+mjO9rjaoPM2TyR/luiLNZncEyv5Q0EHTKfqW8z7cpPtY6LpZP872S0K5+2Q6Q4tKfMjzIEWw+7Gp42dk2PabjNfqoxVA+pJx/bMpr+elhOv53OrkbY50NK+YNvWUissp7TXaa7TXaK/RXqu3PNVxTbseHwjd1qkifzWlbTPsdW7oNm3Z1jkC8N+svKpvqLhG48+XiVPRfHWc8zvJ/q2VpvVtP6bIHy9j1s9a1r7I+AMwdMSIKTCbTWWir2HtM8teU0iKTk+kr0/tNNvU7W8I2Fhpw/npE9pR65iS5s6abc5nn1l3ecp9LTc3xhsmTXR/502j5Y5pCOtce59Ngf+S4obxNOd1WWduSvsi56HH1PRXg6abc15UwbZD5oUmqvP8dRTfFitP7jHHsLgF9XjV5WlqpJ5b24K8ZE+RsyDAPk9L9rnfm3Ifq6tuXhnJV/vMftdV2EaYZs5lt7XPzdLy+SY9pphgWPR8d3qCFJrHtkv1gXzaa7TXaK/RXqO91rzyFPqadj0+UEdbp831NXVud9u02oc8IP0Hax9Ne0XbMPpAdH2K9UdNW2iw7kezLZ3CaEbB42pT3xYA/r/BohXh3zkrQO3oLzE30TMy8UM7IyQvgAZ1mqMjo+4H2u/gNduTXAIAtNcAAAAAAEUN5tv7ItlfR/XRka+D14VmkMQAGmKT1DM/4uD14MVcAgC01wAAAAAARQymhNDlp5K3rXOP6evejPwC0BR3ZeJciyGmEzkg4x/lAwDaawAAAACA3HbLxBGr80revgawHpPMABpiuVXn/RRgn6ukP6/1K+nP3wkAtNcAAAAAALm9kolfzi6bfjX8EMkMoAF0BOrjSJ2n01fMrXif+kGy92ZZwSUAQHsNAAAAAFDEapk46kuXJSVuXzuHT4VXuQGEodPobJD+aPypjr+fteq7UxUfj9aBGnx7IwT0AdBeAwAAQHfNl/60s1dN2/JTb/lq9c13Sn9wnX7P6WFvudxbdgnfdQIy2+zoJN4pqVP3Q29521sWkswAAtVnH636TEeeHustM6UfwI/+TUfOVzkVzi6zH23QzOHyAKC9BgAAgA5aaPq93yJtVQ3mXzP98RHrt79I/zt39u/P9JZZJCeQjj4J++LoKOrTsqU5tqcFdUtvedRbXku5o8gAIK7ueeeoy+KW/QGOaTWXBgDtNQAAAHTUNumPyLcHn6T5/tMi0x6NrqtTTvKWO5DSIfEHvbSzeFj6I8Rmy8SnazrNxRzztz3Sf2XmrVnvtjAyFUA48yVbQP8WSQaA9hrtNQAAAOTmepv0dsZt6OCVv2XyW/WLSF4gnYPiHgGWdXkp/fmxACCkKRnqsD+F+foA0F6jvQYAAIC85ko/+B5tY+q35PJMcfu9o736mCQG0tN5rX6X/jxWWTuHOkJsVPjAGoD6HE6op3S+Pv1Q7jSSCgDtNQAAACC3M4625mHPbzVov1f6U/X42qF3HdvbSjID2egHJfUDjxd7y4Pe8kH6o8J0+Sz9J3G3zd91lNc8kgxAQ+yQftDqs6mz9MO593rLT8JHIAHQXgMAAACKGjF9bXsQnWuU/mKZOBhlzLPNXVJ8Kh8AAAAAAAAAAGDZIJMD8E88vz3h+O1yx+9c38nThwG8YQoAAAAAAAAAQAE/yOQA/CXPb686frvD81vXt6OWk9wAAAAAAAAAAOR3QSYH3895fnvD8dtRz29fOH67heQGAAAAAAAAACC/KzI5+H7Q89trkn6k/p0MvwUAAAAAAAAAACm4ptTZ5/ntb47frvP89rbjtztJbgAAAAAAAAAA8rsok4PvRzy/3WH97ltvmeL5rSuov5XkBgAAAAAAAAAgv5MyOfh+1vPbWdIP5A9+9zBmu/cc211LcgMAAAAAAAAAkJ89+l6XizG//xL53aWY372X9KP6AQAAAAAAAABACvboe11ueH672PrdU8/vpji2+ZCkBgAAAAAAAACgOHv++3ee3x2WyaP6Fzp+t87xuwMkMwAAAAAAAAAAxS2TySPrl1i/GektL8zfvkZ+d96xvV+tbf1j1gcAAAAAAAAAACXYLxMD8fZ8+b9F/nZExgP8umyN/G6VTJx3X+fWX07yAgAAAAAAAABQrj295bOMB+SvSz+A/0fk386a366Q8Y/hfuwtx3rLZZk4iv+Z9N8CAAAAAAAAAAAAFdA58jVw/0r6U/LoqHudPken2Vlt/Xa+9KfaeS79YL4uOh+/PgzYLUy5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KAr5vSWq73lS2/52Ft+IUkANMDC3vJTb7nbWz70lq9m0f99vbfs7y1TSSZw7wUAAAAAAMPmz97yn7UQXABQl5m95Xxv+Sb9AP7N3vKXo57S5UVvWUqSgXsvgJTW9pafe8uN3vJvb/nUWz6bf6+SPoh+HWA/VZvbWw5K/+H6S5N2X81/X5l/P2R+B7TNlN7yxuTn973ljmmTbjN/AwAAHfNfwUUDV19M40EDWI9MR0MbEHt7y/reMlLRsS/zHNMHLiuAGujo5WemHtIR+jMif9tmAgd2faVBEkbso0249w6n5b1lt2nfaTvvufTf0vhi6jb9rwaY/5Z+YPRob1lFspWa/o+tMqf3mz1SbbBuc+S+psuGlqbf7N5y1nMfdi1fze9nkfVQgPaBt/aWC6b8forUl3rPfNBbLvaWnb1lmrXuSvObCzn2qw/fblt5+m1vGeWSAADQLdoxuyX90T7/VbRo42Wst/yvt8wvuYNDYAFAUzpujyJ13jzHb/Z76qytJB9ahHvv8NDAkAbx3xZoA+obSYekugEew0AfpH2y0vVCxWmq5fy+43q2MaivwdFXOfOvrreCLIgc9I2QNxn7y/d6y2XTN/9m/n1XgWMYdeznAJcGAIBummcaEUkj8zVAf0368+kOHgo8lf6ogzQj+3XkwOqSjvmJMAUAgPodjdRBt2J+99BRZ20m+dAy3Hu7SwPFGvT5R9xBJ2337TPtuOjIUn3jSAO+J8UdyNLR3t+TvLk8stLyrwr3taC3XIlpx7ctqK957oMUG5ykb6QQ2EdaM0xf2e7/ar9Z39qcbdWbG3vL7zIexLeX5QWP54S1PX1AOIfLBABAN82JaVToSK2kkfY6n7SOOj0j/dFZcY1knedvccHj1QcROme1PlDQuQNPCaPBAITvwH2UdMHNhTJx1OtT6iy0EPfebtok/Wl17PaaXuNjMjEYlVQnXnRs57PZB9L73pGO2yvYz0xz70qanqZNQX3t02QZKR236FR5TMWDJDoVlj14Q7/dsCzFuitk8ltRX0pqo9rl+kcuFQAA3fXE06C9lGNbOvrgkcS/akjDAkCbHbbqtT0Jv/9O+h86PEyQAEADaED3sqeddr5APXXBsT0NUq0hyVM7JJNH/JY5h/4Ucy96Ytrj+oFYHT18Vdof1L9ipZv2Y7ZZ+VnPVb//paOZX0p8YP8M2REJTsrkaem+y7D+Bmv9+yUd1z1ruze4VAAAdNfNmI5dXvrR3I8xDWVtXEwj6WFoh38tycB1awn744V8iAxAW+gbk67R+dpm21Zw2xowdb21qfOUzyDpU7lkpd27krevU3vo3N/2mzaLpN1B/VUy8bsOy1Lm15MSPxCJaUvgM08mj4g/nmM70W9ZnKuoHnnL5QIAoLt8o3POF9yudhCexTSWH9LJg4y/Lr2TpOC6tcBcR11GUB9AG+hD2Pfinm6xrPnv93nafD+R/Klct9LtQcB9tzmofzeSl+dlXHd/TF9lD1kSHkcd+WVJwTqzrDb1WSl/Wh8AANBQVQX1lb7y+mdMY/kuyT/0xkpuyILrVqVtQlAfQPvolCOfHPWXjgRfVuJ+dPSza552fZgwhcuQ6IaVbrcD7rutQf0FkeNdX3Jf6BJZEh63HPkljyWR9ZeWdGx2UP8blwsAgO6qMqivNLD/j/gD+8e4BEPruJQ/OgVctyq5RvQR1AfQZDoK3zUlYlXz3d/1tPe2cykSEdTPbvCdmyIB+MWe879FloSHq07NQ6fC0qD75xKP7WxJxwYAAFqg6qC+WiT+Ofa1IbOUyzB0Nlv5gKA+160NfheC+gDaQ6dKe+1pf+2vaJ/nPPu7wOVIRFA/O/0oqL4dsqDgdv5ynP9tsiQ8XG8k5f1enH5gd6zEYyOoDwDAEAkR1FcHxD9af4zLMFS+Nw1Ygvpct7a5LAT1AbTHbU+762aF+9zj2edjLkcigvrZ6ChnDa7+XsK2Lggj9ZGeK6ift02s34L4tcRjI6gPAMAQCRXUV3+LP7CfZ07X2dKf4xrtscw0XstqCIPrVnd9SVAfw4Z7bzvs8rS3dG79eRXud6dnv3ysMRlB/Wz0Ow0/S74PlNp+EObUR3ofpLwHl/qQtczpyQjqAwAwREIG9feKP6h/NkMDfpfp6OjUPR8LHM98E5jQ4zpm/rujt3xXUcdDpy7RAKDO/7mvt+zuLRulnI/H6TH7PhC2xpzb/3rL2hzHvcEcqx7zj+YctvSWGRm3pdt577n+O0tM57KOtwqh8lzbrlsZ57veHM9eU8b2mv+/ssKASxOC+l2qx0KW49W9ZVPM31eYfR4yabql5HPUEaarInn2mDnXnWbfZSnr3lDmvbeOshuivMwwx30wx722bPrBWt+0O8cr3ve2mLbeCM3uTPcYgvrhuPooB8mS8LjuKTM/NeDYCOoDADBEQgb1p4h/bv23Cetqp19fjf1srZcnsLBV3HNn2h0p3ad+D+BNgXPWjr2OwPgas6+vpnG4OuO2R0wwQj9K983R+VveW5449ncxxbZ1qpUrCcc92Gea4z6XkN7/FcyHZR9v2ULlubZdtyI0/2vQdyzhfAf1hL6en2U0342c5x5dXncgT1Vdj4Uqx5pftpi8+UbcU7/pbzSI/69n3/pw63DB67bMcy+zFz1GDb5Oz1k2yro3lHnvDVV26ygvOp/3K2nOHPL/E/8o/aofcG+PSeOpNLsz3XcI6odzyHH+S8iS8NgfU8/trvnYCOoDADBEQgb14/aniz06UT+ge0r8o82yBhY0kBCdE/uVCZpsNh2XzaYj/LSExtACE1AZrP+H6TBE93XasR9Nn1kJ29bRnb/J5NHT0c7fGvE/QPnP/N1lhgns6G/e9ZaTkWPWUa06askVDLoQ01mfZzqqg8V1PR9ZvxksSaOkqjjeMoXKc227bkVp4O155DiemHQcnPNWU3e89dRts1Ls44jjvFxp8JcnDW5INUG9rtRjIcrxUpMWWje6gsfRoL4G2+OmiMv6YNR1judl4sMJPf5tkbQ86shjms/TjiIv695Q9r03dNmto7zcbVhw57nneH4LsO/RmHwzRRCHoH59zjvu7YDPdM99arDUOUUdQX0AAIZI6KD+bkk/suGsOb6LMR3mLIGF6KjjPyR+tNrRAh1RDUoM5lp8k9ApOuU4pyeOwIUGnHTe0H8lfpShmIDMe4kPSrmmDNEg7iCodTcheOIawX2/t0zL0WnNO41LqOMtIkSea9t1K8ouMz/E/Haa55xfmnJSNOBSx/Q7ba7HQuffh6be1HtIXFBfz/WT+beH5v6nDxYuiz8Avi9DWs6RiQ8ldG7xNTG/tUeU/xuTLlXcG8q+99ZZdkOUF31w8M2TTldrqCNXxlzfEG+qnRXm1M+LoH59blnnfoDsiAR7E+6ndQX2CeoDADBEQgf1l8U0fn5PWPdSgcDC95L9w7xnIr9POwXCHpk49UbSCMs5nmCAHQjQkao67YMGUU/HBG408PPCLIdMkOKT47c7rO3rev/I+OikpFHsGsRwjWpN81GxMoLDIY83rxB5rm3Xrajfrf3vSbneYXFP+ZU1sF93UL/t9Vid+feYuIP6gwfNul3XXPb6Udg/xT21Utr5wccy3l+XZLgnV31vKHrvrbPshiovTQvqH/Mcy+dA+7/j2f9jQdZ7DEH9MEZk4hRjr4TvPyCdmxIf2K/jbS2C+gAADJHQQf2RmIZPUud3e4HAQrSB8ynlOjpScDD3cpoRp5tl4tQKq1Lu574nPeZlbERq5++62V50NKIGql5bnZUZMdtLG+j0zSe5LmOnNU9wOOTxltGorirPte26FWEH925mXP+84/i1LMwuEHAJHdTvcj1Wdf7dKO7g8H/musYFcPUcXCP9t6Q43rWO9U7kSM9vkm4u9LLvDUXvvXWW3RDlZeCWFH+joyy+DzjeCLDvKeL/TkKR6cimSvFvnJS5vKso/Qjq12Od1PsGHtpL7xPPE+qL/YGPiaA+AABDJHRQX8Q9OvA/0ynOGpRJG1i4nzMYMXgdf23C7zToE53W4GyOfdjL5ph1DnjSQhuWMx2/10CNjhbRV0XnWn/bJe45ptM0ZF2jE+9n7LRmDQ6HPt68qs5zbbtuRSx1HHPWUfYatH0lxUbS1h3U71I9Fjr/zit4r3PdK0+nWO8nx3rXU6x3PuM9oYp7Qxn33jrLbtXlxc5fdmDnWk3tuqdS3wfMt0o1U1EQ1K/eMAf1o28SPaBriIwWSvz8+lneTivDD0JQHwCAoVFHUP+dxM/767OhQGDB3ufiDB31NB0be3qCBRnSY77055q1R2XOj1lnp5Qz6lzfnHgp+UeTPPEcx9wMndYsweE6jresfF5mnmvbdSvqnpQzjcNBSfeR7ixpEDKo35V6rI78O8OzTlr7JN/IZ9e88H+nWM/1MGBHivXKujeUde+ts+xWXV5sU03664OVjTW26z540upsgH3f8Oz7vRSbzmRYgvq3pb4HQ8Ma1J8TuXfpoKOFdA2Rw0qJ/wh92rf7yuD6WDnTSQEA0FHDEtR/LPlf/9cPJ8aNkFxsbfthjjTZEelUfJTkYKkrcPMix37taRWWZFz/suda7sjY6d/Z4OPNq8o817brVsRyx37P5dzWFE+n63LK9esO6nelHqsj/xYN6rtGID9Ksd4myRdcPZgzr5V1byjj3lt32a2yvDSZr41VdVBfHwL6vi1wquC2hyWob3/w+nTAfDOsQf3ot0h2C5DfGokP7Ot3G1YEOA5Xu4OHVQAAdFQdQf33km++1yJBfddoyTMlnc8v1nZ/KdBpXWOCF3kCN3le077muAZZlheeaxmXBkWCw3Ucb15V5rm2XbciTkm5Hx674tje15Tlru6gflfqsTryb9Gg/mbHum9SrntcxucZvybp5sZ3BfX3Brw3lHHvrbvsVllemsz3fYvfK97vBc9+dfTzXEGSOVJvUH0Yg/r6QHnwIOosWRAlWC8TP7rsajfMqfgYXN824YEVAAAd1aQ59S9VFFhQyzz7/Ku3fF/wfP6R8IHOsgI3cQ3PIsuVmH0WCQ7Xcbx5VZnn2nbdingk5b7C7JueJM026w7qd6UeqyP/VhHUzzJad0TSPTgacAX19+XM33UF9esuu1WWlza2665WuM8VMeXyR5raqRy30u1J4P0PY1B/UEeNkf1Qog0J7ZwQ+e2Mtc8/uSwAAAxX56+qoP5ITCMn6fXsIkF9VwPHPt88IydmOra1KcB1KyNws0QmvxYaQt7gcF3HW2ajuow817brVrS+cE3nUGRajMWSP/BUd1C/C/VYXfm37qB+Wqt7y2/i/uhem4L6TSm7VZSXpjvkOd+/K9qffsj4mWef9wVp6JRk0ZG1+pD1u8DHMGxB/RMy/p2PGWRBlEzbUF9i7j97K96/vjV53drnb1wWAAC6J3RQf3FMA2d7BYEFO8hwJ2b/uq0jku1jQptr6gSVEbjZJvkDXEXkDQ7XdbxFVJHn2nbdipjnSbfNBa+JK9h4IWcajHYgT4Wsx+rKv00O6uvUJEdl/G0JDTLdlXYH9ZtSdqsoL023KOZ8q3iIcc2zr9fCtDtJ9A2HaODtpcmPU2s4lmEK6g/mHH8m3Xywh2blM9fyKtB9R4/hXuTe+dS0w/hwLgAAHRE6qL8jpoEzv4LAgk2nP7gi8VM4PJP0o1R3OdbfGOC6lRG42e3YxqwAx543OFzX8RZVdp5r23UrYoMnvbYW3O4HyTcFUxOC+m2vx+rKv00M6q+TfkBPO9s6LZ3O6bzU/K3t0+80qeyWXV7aYMxznj+UvB/fmxD6pslimtiJ5T86RZU+yFtR4/EMS1B/qalH9KPEPHRC1fbE3Hd2BToGrYtPy3hgXx8eHuLSAADQDaGD+r959ve8osCCjzZmviR08m9K8oOGvRUELdIoI3Czr6YOXN7gcF3HW5ay8lzbrlsRGyrqCLmmiriaMw1GO5CnQtZjdeXfJgX19eH2Exn/iOhPMnn6h64G9esqu2WWlzb43nN++pHpskZonvfsQwNGi2heZypfzyPpp2/qrKnhOIYhqK9vEL02y3yyHgLx1ZVXK97vAnNPi053+D9hlD4AAJ0SOqj/wrO/nysKLMRZaIIdcR389xIf3HIFqPYHuG5VBfVDfPi0zKD+zpaVt6ryXJOvWxFrPGl0vOB2XaNYL+ZMg9GO5qmq6rG68m8TgvorZTyYP6iz53l+2/agftPKbpnlpS1+knzfL0qic73f92xbR5sznUl2+raS/bHy3YGPoetBfc2X+vBE3yLhoROy0EB4kYdA2v54I+4peKqyxLRRBvvSb3as4lICANA9IYP6qz37+mY62lUEFtIGLJ4mdPIPetZ1vVZ5KcB1KyNwM+rYxrkAx543OFzX8VahSJ5r23UrYronbS4X3O5DyfdgsYlB/bbVY3Xl37qD+ietdc8k/L7tQf2mld0yy0ubXPKc2+Ec29IPautDmU+e/HCAJnUhW6w01XQOOcVgl4P6s0151wd2y8hqyGDwLZeiUxIec5SvLxUet32v5CO5AAB0VMig/o2CnfyqgvoDGmx6EdPBX+tYx/XRx5cBrltVH8p9GuDYy/xQ7tOWl7+y8lyTr1tRnys43/eObe7ImQajHc1TVdVjdeXfOoP6dmD1eop12h7Ub1rZLbO8NI0e/7yYv2sg3vWBYQ36rEpZZrWd5pq6SP9N52qeHbO+zues050UmfJhqsQ/gAm9vKvgOmr6fK3x/tLVoL4+jHpk6qyVdPuQ0XIp5ztDyxzl62tFx+z6UP1mLiUAAN0UKqi/0rMfHYm0oOLAgtJX9ten7FQd9XSAH6RspOmyruLrVkbgxnfsZXyo7ZDp6LvkDQ7Xdbx5hc5zTb1uRd0U99s9Mwts0xWc+i7FenUH9btQj9WVf+sK6h9x5N0097wuBPXrLrtVlZcmWWiOMylgroEp15Q5SW85+N640IczOtp/dopjvFJCOg5DUF/9Kfmnliqqi0F9rff14ZU+YFwrQHbbpZzvDI04ytfnio7ZNXhiKpcSAIBuChHU107hM89+sryuXTSofyLDvjZ5OviuRpHrVfR7BdNMA1/PYzrqZQVuPkv5AaClZruHPH8vEhyu43jzqjLPte26FXHAU3fknW94jmNbT1Ku24SgfhfqsTrybx1Bfc1rdhD6Ycr9dSGoX3fZrbK8NIV+eDjLaE99ePa7jI8IT6rDt8r4iPxrpnwtzhFcKnp/HZagvv0g7EbAvNS1oP406T9M0rxedJS1lpsLdBmH0nFTFv5XQRl7UtEx7y3Q1gEAAC0TIqh/07OPK4ECC4PO/eOM+3N9ZM41cvWy5/y250wvnUP1eUIwoqzAzXXPsW8peOwfpB9Ec3EFRnc1+HjzqjLPte26FaGjel2jc+/k3N52x7bSdtaaENTvQj1WR/6tI6j/o+Sfbu6QtD+oX3fZrbK8NMVgaqelGdYZzBGdJmj7i/ndzRzHtjty/b8reJ7DEtS/UXLZzaJLQf0p0v9ocxkjrHVgkn7E+LhgmPvJNwtux1WHVfUmzgkhqA8AwNA1VqoI6k8Tf0D/jml0hwgsDDr3+vssI8wWpezgrPOco879uzBHmuno2H/N/646cLPdc+xve8v8HMf+wKx/LEOnVZc9DT7evKrMc227bkWd8ZzvohzbumBt401CWUtKg9BB/S7UY3Xk3zqC+q77a9qg/jlpf1C/7rJbZXnx5TFNf33LItRUH4O3IPW/GyXdWwWLJf1bCIOylWZ6urmmnOi0PI8j+3gsSIugfnEjkb5H0bcJp5hr8C3HvSmktabe2Snlv1nU1m2XZTAllr7xUWTqOFcbYmtFx3xWCOoDADA0fCMmiwb1ddTYU/F/GHdKjm26AgufUq476Nz/mmF/rlEV0xIaffaiH4dbnnJ/2li8Z9ZLmge4rMCNdn6ee45dP5SZNpg3O3Ls/yQ0zq849vV7g483ryrzXNuuW1E6EvutY/+XMm5nukyeZibLVCCuh5R1BPXbXo/VkX+LBvW3SPag/i3HOn+k3N8Dx7pHUqwXKqj/qQVlt+ryEqXfSXhlrVf1dB2+PJ12SbqG2k77JsVHtR+lqZ1aV4P6q01drW9ufDb1W1UBzWuS/iFoXNnSD3A/Mdu627BzjLpoXbO/pT9V2TBtu8q0j75tdrzE830lxT4eHoegPgAAQ+S+pyGftzOqQZbTno5g0XnLXUGVbynXHXTuv2YIGC2V9B/MWyrjc9TaizYI9VXIuBEe2nn4N0MAYpdjP/dzpuvWmM64jsY8HBPU0AbpnkgwQ6/HqoT9nXTs56+YgND2mo83r6rzXNuuW1EbPOe6JsM27FeSL2c8hrtSb8CqS/VY6Py7VIoF9V3B8jwj9dNMlTLqWS9NILzMe0MZ9946y27V5SWpbijy/YA0tkuxYHvS9x3WSzlT1SwVpFVXUN83vdHGEra9TNzfUSkaJHW5LNVMt7SzQeeY5l5xZYi2XWXaz3G0gxblPEa7X1zlgBCC+gAADIkRcc93m+VjfoPtaOfvfEzD6pZkn8LBts+z7QUZOve6/CnpRt7Z0wYkvU6/P6FT8NV0/M+bBtc5E/SJjmK8mzItXHM1fyqQtucTjl3zyXVzzINj19FQHyT7dCy+YN4263d6XZ+I+0NxIY83rxB5rm3XrSjXx790FPm8FOuulIkB63uS/Q0N18dkLwess7tWjzUh/6Z9a+yk5/jiHPbsU98qcM0xrqNDT8n4qEV7vVfWNd8Q4N5Q9N5bZ9kNUV4GbSDfiParFdYHp6VYoDLp2I5J8WDoc5ramdQV1Pc9ICrjodRvCXlkdUnncF6qCei/l+QR1aHO0XYt5j49LNuuMu03e+7fWd4o0GnJXjj6xFUiqA8AwJA4lNAQ0gbyNtOoGSz6/3UkoE4DcFHGX3f0beNOiY3ZO559pPnI5Zi1zj3T0EobgEg7GrdIJ1gDYdNT7ueRZxubc6ZtdA7SvEvaALkG0d6Je+TnNdMYvWIa9zpP8MyajzevEHmubdetDLsddY6ODo+bHmaDdewaKJ6Wcb9rYjr8MwLV2V2rx0Lm37MFglYjMj53eZaAgV6bTzHBi6sy8WHFl8g9zTdK+k+zzpi4HyqUfW8oeu+ts+yGKi91BfUfFCw7Pyds/7YUD4j+LMiijqC+lqfHnuv3WPJNlxl1MSGPlDHy+4xUE9BP+/ZsiHN08U2h+m2Itl1l2u/1bFPvWytSrK/3cXtatocB2owE9QEA6Cjt1G83HfE7FTV+v5mgg45Q/K6EY9bReGvF/dHAaHBEO44rxT+aZkzcoxd1hMc2EzjQ14xHZXyO5sH5HMx4zLtMoC9LmqV5RXSJOZanEj+i6LD5bZ65Gn/Occ012JV1CpuDKbarU7vMacjx5hEyz7XtuhWlQcAn4n64sMOkqy47rcCUlo/9Gfc1z3TsXiecs+53bofyVFX1WOj8qx83PJFQZx6MybPLE+6Xr016T4tJx7TnpKP51pn1tP5+mfD7QxXeG8q699ZZdkOWl1ueNKpqioUR8U+VVcaUInFvcmZZQtxruyRUUH/E1AV6b/s74RpqYH9PgXbljoTt/1PwXE5KdQH9/yTd92SqPkefA+J/O3pYtl1l2l9I2PY1cy+ZZpUrLS+u6W0vSvYBJXkQ1AcAoKPKauB+NR3jf00DTOf51Vf+t0i5HxzN+1BhV8rOfdJ2dCRJ3rlg9dsCv4h7ZHM0uKABkzTzM17JmR7vchz7UtPwTAoYPDJBlrwfejoi7tGN70xwcKRhx5tV6DzXtutWBh35+0CSP+aoQQkNaGYZHXVT8n8k8otU+/HlttZjofPvm4zp9TGy7jTJHtQ86zmO9Saw4FtPg/EaoLdHxK4zx2T/XoPiayq8N5R5762j7NZRXvThn/3x5ysV1n1rS2jLxX0EdUUJ239NszuzEEH9Mt7AyEofkj2LaTvktUaqDej/1YBzTNNWsR8Ozx+ybVeV9rdMPbbWtDm0XbfNtFU+ZsxHGwLWIwT1AQBAp42YhuNmE4TQERX7zLLXNNhmlbg/HcW4M7KP3SZYM9KCdFpnjndw7KMm3cqaWmVuJG32mEbvSIOPtw15rm3XrQzTzPnttsrZ5pLLMvVY9fVYk8txGWk4al2jpCDGbHN9B+mwvGP5OFTZDVFepkbKyFoBsqtrTv06DL4JcZdzLGy9qXd2SvkDCtq67TLS/pn4p67Te4q+6aVvfumofA3y60AA/bbca1OW9S3B72vIdwT1AQAAAAAAgECGKag/mNrrJOcI0r5UBPUBAAAAAACAQIYpqD+Ykmwx5wjSvlQE9QEAAAAAAIBAhiWoP/hQ6qUOX8thOEfSvpnsoP5XsgQAAAAAAABQDfvD13938BxXSX/e8VfS/2aIcI4g7Uv1u1WPfCJbAAAAAAAAANX4WSYG4z527Pz0I+jvzbKio9dwGM6RtG+2q1Y98oSsAQAAAAAAAFRju0yeC3tBR87tUG/51lveSHcDrsNwjqR98/1j1SEXyR4AAAAAAABANaZIf3R+NCB3pAPntcuci44gntPRazcM50jaN9/3MvnB4AayCAAAAAAAAFCdozIxIKdTicxv+TmN9JbVHb9uw3COpH3z0+GBVX/8SbIAAAAAAAAA1dPpMqKBOf3o51qSBYCHPvi7Z9UbT3vLPJIGAAAAAAAACGNjb7nVW77KeJDufm/Z01tmkzwAerb2lguRekK/K/CX9L8xMELyAAAAAAAAAOFpYG5Vb9nWW3b3ln3SnY/nAihWN2h9MNpbdkh/7vypJAs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HX5qbf8F1n+R5IApTpmlbFjJAkAAAAAAACAPM7IxGDjfpIEqMQJq6z9SJIAAAAAAAAAyIIR+kBY560yt4skAQAAAAAAAJCGjsiPBhdPkyRA5UZ6y71IufvSW1aTLAAAAAAAAADirJeJAf3bJAkQzJze8jpS/t6YfwMAAAAAAACASeb3lncyHlB80VtmkixAUOtk4oO1OyQJAAAAAAAAAJeHMh5I/NZbVpAkQC1+kYmB/YMkCQAAAAAAAICoozIxiHicJAFqM1X6b8oMyuMn6b9JAwAAAAAAAACyRPof5RwEEJ9I/6OdAOqzSSY+aLtBkgAAAAAAAABQ92Vi8HAlSQI0wm2rbK4jSQAAAAAAAIDhtk0mBg0vkyRAYyy1yudfJAkAAAAAAAAwvHSKnX9kPGD4tbcsIFmARrkiEwP720gSAAAAAAAAYDjtl4nBwl9JEqBxlljl9DFJAgAAAAAAAAyn6Cj9b8IofaCp7srEwP5akgQAAAAAAAAYLjtkYpDwEkkCNNYmq7xeJ0kAAACA7lvZW46QDAAaZk5vudpbvvSWj73lF5IECOaBTAwSriRJgEZ7KRPfrJlLkgAAAADdoh++2yj9uXEHHYB3DTvGadL/0NeZ3nKjt/zbWz5J/yN92lHRIN+H3vKX9EcjabBPRxXO92xvMN/oZi4/0Bp/ysSg4n9CYB/JZvSWA+be8MHcN3R53lvO9paFJFEi5ugG2ueEVW4ZsAMAAILb7OjEh16mchnQwQ66Bjk0QP7ZkeebEtRfZ47xa4Hyqw8ALveWPdJ/eDEq4w8vtpIVhqouR3st81zTDyQNYuwx9zPNKxfNvc/OT/qAeD1JFeuMVe4OkCRA4y2yyu1TkgQAAIS2QvpBvTFxBx9DLNO5DOiQ3SnyfN1BfX2t/5Hn2N7KeJB+s/mtTsuhQZntJvjwImXZ3kF2CF6X68fbPtVUl49wGVpruRDURza/RfLJCetvq6189ITkivVGJk7jMYskAVrhL6uuW0qSAACAOukUHO8lPnCjrwXfTrncM9v7FrO9GSQ7OmQk8l8NiLsC4HUF9adIfxogVzn8u7fskvSB2S3SD9TE1RW7yA610bcw3iRcn4fSfxCQtAzq82cS//CXt67azVWemX4HLqcieeSu4+8XrXz0lSSLraujaXWHJAFa47hVfo+RJAAAoG4/ij9o82OB7epr2YekP11HdJtLSHJ02EFpRlBfP+DlGp2vD9yKzAN6LKa+2MPlr9WBmGtTpOOpo0j1gc1j4QFtl8zrLTel/w0NfRivgVvevoBts3X/WOT4zRGrbnhAsnmdtdJqH0kCtMb3Vvn9gyQBAAB1882tW9aHL2dKf1TwYJvrSHJ02BapP6ivwbp/HcfxsbdsKGH7G8y27O0TnKjXwpi6fEsJ29eA7/3INheR5ECn6YO715EyfyXmd/fMb/QNnwUknddLq26eS5IArcL0WQAAoFFGpNqgvloZ2eYGknyorektazt8fq4PmIYM6mvn4rm4R+iX+fHCVTI5sH+W7F1rPg9Rly8WHtCS1zAsTlr1SFI+m0aSxVoik6e3BNAuV6xyvJ0kAQAAdfsq1QaC1B9mm5tI7qGlH2DVES47O3yOdQf173nK8oEK9mW/lXCOLF57Pv8SoC4fjNbnAS11KrpLR99HH9y+JEkKOyR8wwJou1GrHP9OkgAAgLqFCAQdq2CbaJcxkwcI6lfDN9/9WIX7PB/ZzwWyeO35PERdfpi6nLyGzjts1SG/kiSFXZfyp0UDENZiqxw/JUkAAEDdQgSCdLqO29KfigfD53gkXxHUL5++1v9N3NPuVPlxap2/f/CmzyWyee35nLqcvAaUwZ7Gjbcsi/tg3ZuZrghop49WWZ5KkgAAgDqFCARheNmBboL65bvtKcPXAux7MFr/Kvm89nxOXU5eA4paY+UvfXA7hWQpxP6Q+d8kCdBaN2hjAQCAJiEQhKp8LxNHpxHUL98K8X8gdU2Ac15n9nWDfE5QH9SpaL2zVv56QJIUtsNK08skCdBav1jl+RBJAgAA6kQgCFVY1lveOvIVQf1yXfKU338DnfOI9F9FvkU+J6iP1ua12b1lG0kM6X98OZq/TpMkhREEBLpjp1WemX4SAADUqqpAkI7cvd3ytJnl+XcNZG7sLaO95X+9ZY/0P3pW9ivqur0NvWV3b9nXW340+9R9zajgfKeY6677OGz2uduca5Zz02N+78lXO1uaNgt6y/besre3HDH7teerDx3Uny7jc9rby7mA5eR6wbKu13K9yRt7Td7ba/5/FXO3z5d+AFP3ccz8V0dSfpdxOyHyed11+SBPb2hZ3b1a4ucBX2Hqi0Pm+ldRfze9TtX97zJlV+cF/ljiOYcsz3Vd6xnmnA72lrUdaQ+uceSv7TSTC2O6DqA7VgpvMwEAgAapKqj/QdIF+k7HHINr+SzjHyVaJ+4PhNofC92V4bg14KdB2+cyeUoRHc2oI64+evalAVYNps4rmHY6xcIV8QdsB+d12wQ0itKAxM2E/enfrqfY37kM1zK6nG9o2ugDmycx+3os/QCdSPig/s6Y42p6IEYfjGlwcyzhWv5nytvvUvyjv1t7y18J+9J8owHJRdIfsVpXPm9KXb5f/EH9PSmu3T7PdrXu/pSi/h7NkJ+2mPQdjDQec/xGA7v/evalQfPDJV2LJtepmr8vmHupXc7aUJ6bcK31Ie8ra5sXOtAePO1Iq+8ERb200nROS89jRsb2+qCe2xGzvaT64nMH88PpHOk46Puk6ffk6fsgvSlDkEcBAECLVBEIWiLjAbK0lveWP2MaqH+IP1i+TiYH2nXO0hUZOiqjJjAQbSxHg/oauH2bsvH9XsYDvVk7TBdlPBh80lwHDajpSEQdEegKMF+Q8QcdWQMTd600PhTZ52ZPJ18/iup6i2GeSbPB8tqx7iPrN4PlYMPSZrG1PQ0OHbfS5mQkqKT5bbuEDepfjMmDixpc52hQ8XnkWDWd/xdJWw2+n/KUt/Pif4PGZ8Rcn8E2Xjmupe7/qWN/EjifN60uvyrJI/WXiP9jzftS7GOp9B/UZQ3qLzXX7bYnMBQN9OrUNX+nrL8vFkivptapS02Zei3xwfamluemXeu7nu3tbkm774Lke1DUtYcYIYxY7covHTifXSnawz9kaHst8JQpfZOuyx9pTur3xPV9XP2erH0f5Gen/VSSBAAA1KWKQNAZyR7UV9N6y0PP8ZxIWDcakEszOkUDCTrSNG405SCovy9Hh/drxjScFwlE3E0IdLhGbt436ZeWBloGH1x8I/FBu1OO/T1JEYy5IeVMFRE6bTZaDfZfYzqW+rBhEPh8J2GD+k/FP0KrqU45Ov5x9YHreuqox6UZ9nnO6iDHTc901NpXmoBCWfm8aXX57Mg2k6bf8Y243JdyX5rOnyRbUF/vFT9LPzAbF+jdGtm2rqOB5JMm+OF762pfjvRqcp161tRTF8UfkP7Y4PLcpGttB2nthzNt8ESKB/VHBWkscZTzLlgeUw4+5Nie/THhc0OSP+L6PUl9H7sNyMj8cOyBDOtJEgAAUJeyA0FrI53uPPNszxX3CKCnMetER0gfT7kfDehrwPV9TMfkhkyc4kQDNTqiVKfg0UDvNZk8hYEdJFmc4lg0kPOPWUenB0ka8aFBBddIxEsZzn2wjo7cTHq9fo4njZICGGUEO0OnzTrrmv6ccj3fB2urCurHBZbeN7Su+d06zj0p1zvsOEetI9IE9r+31luWYp0zkd9PT/H7Lgb1p1jnlWZO/TtSLGB6S/IHDo+JO9C72/xvrRNcoxf1wYVrpORrU8akg3Wqr7762ILy3IRr3YWgvssuyT6YAsm2WGl6vUPn5nvj45spb1mcsdYfpmmffP2euL6P/WbocYpaUFet9OdD8wAAoDa+QNBO0yiPWzQwoUH8TaZDfd3q7Ob9eOYOST9P+CwZn1LgUc796UjwF479PZN+gPeVOT9Xx19HqP4m/sD+wxT7vxn5fdrAxn7P/tYlrLfZ6jitSrm/+579xX0/oIwAVMi00U5k9GOUjzMc53RxT21RVVB/Tkyea+JIQDuQdzPj+ucd5/kqReDgbOT3n1LuS0fODaZVSjM1SNOD+mnqcn3Ysd50THVk83NrG2mC+tekWFDftX7aoP5GcQeKBw9npyfU/67R31tS7rttdaorIJQ1qF9Xea77Wg/ckvLe8GgKV4CWD7oWNyrhvqsS2pKYdsj/MmxnRCYGtW8PYT7ZIem/kTTLam8+opgFl/ehNgAAQOmyfqwpy1KkYX7dsT0NvNsjtQfziut5LC6wv9Oec0ia7mXgx5h0iOsYR0fHjWU4Xj0m12jB+wkBjWjQ+myG/R3NcW5FA1Ah00bZr0CvyZiHfpJwQf2NFZW7Kix1XI+lGbehgbpXkn1kbDRw+jFHfl+b4rdND+qXsaQJ6l+VYkFO1/ppg/rzpNiHiV37Pp1yv22qU+Pqj48tKM91Xmv7GOwHX9da3ha0PyKu17jL85mHcsJK1yMdO7+bnvL4PMM2NjTg/tkE1z1pafd9ot9TKtr3QT72tKxnSRIAAFCXpgb151rBksFyMvKb9ZJuLt809oj7tfwZGbZxzZMOvoC0jk56Gfnd/ozH7JsXd67n9/aUCwsy7Gu+I698M//uUyQAFTpt7NF0eUa7b5NwQf3N0p6g/j3r+B7n3M5Bz/nGfRTO/s5B2s7vIHCYJphNUL+vzqD+DM9x5+2g2x9Klw7UqVEbJH9Qv87yXOe1tk01aX9A+g9J2myKTH5Qw+jfctgftO/avOcrYu4bW1NuI1qPvpds02F1ia/fE+372G9H/EARq8VOyTfFJwAAQOnKmIdZp6tYLf0RSNFXQosGF0fFPVenzpOtI/0GU+Y8KCEdRkvo6Pte7f8m7ocD9hQISzLu77Ln2u1w/HaxZJ8WyLYjkl8+SnIwqUgAKmTaKHvU5dEc6eMKtNcR1L/ToPplueP48n4Ab4q4P3Z5OWadx5J/mpCHKevBrsypr+m70JQ9e/Rl14P6Wx3rJgU121anRuUN6tddnuu61l23vsTrionswR5bO3iO9zxl8o+U9UD0O0a/DXl+GRX/dwq07/Nz5N8eULxq0+VvZQAAgJYp+0O5Otf3YG7MMkYM3xb3a70XI4GIBSXsp4ygvvJ9OGxris7ejYzLC8++fnHs65cUv0lDRyeukXSv5RcJQIVMG1eAK8/Iy6YE9V80qH455Ti+3QW2d8Wxva8x+fGc4/dnSj7HLn4oV0Wnjeh6UN9Vnt4krNO2OjWpzvvYgvJc17Xuuv9Jum8YIbtbJbQtmm5tTHtkZcK69geaV5BlnP2eQd/n35L7PsjHnsLuNkkCAADqUnYgSB0usZEzX9yj+cr+MF1ZQf1NnuM87PjtZ6lmqowrjn39I+GDjkUCUCHTxvUgZmqO8w0Z1F8fc44fG1S/PJLiH6WM2uk5Z982l3l+r/NHf9+AfN7kulynQBh8MHgYg/pJZbdtdWpU3qB+3eW5rmvdda6pA+fSPC7FA8kW5G6rPz3lMulbE9EA9t9kl1T9nrZ/lLsL7LYl05UBAIDaVBHUny/ljlzYL/6P2JalrKC+a25aXS5Yv7Pnxfxc4TWe6TieTQHyVt4AVMi0Ua+t/X3JuZ2QwaIZMZ09zX9NmJN2xFMWitQtiz3n/GPMOmdi0ko/rjmnpnzehrr8vBDU70KdassT1G9KeSaoX/098CVN49LY33WZ0dHz3BzTHvGNKJ9l1SmHyS6J/Z6y+z4opw3+jiQBAAB1qSIQpF5Jua8juubsHCtx+2UF9dVjSR4hvq1AUKKMztaGAHkrbwAqZNpMc+zrQ4npXGVD/1tMp29JA+qWeRXULb7A4oWEde5I/JsNRyT/g5AuB/V3CUH9LtSptjxB/aaUZ4L65Zor2b9rgPTsEddTO3yuTz1l0zfl3QFJ/5HwYeT7VsEYSVO7qdLcN2QBAMCQqSqor8GHMoP6+gHHT47jPFDS9ssM6rsCL1et3+x2/GZWRdd4l5QzZ3wZ6ZAmABUybVzTJeUN8IQOFj0Sf6B6WwPqlg2S/vsSWXyQdNMqRU0R9/zd0eWZ5Btt3eWg/qB8ENRvd52apmx+bEl5Jqhfru3C1B5VsqcSHOnwue72lE1Ng5mO3z8UAtV5+j1l9n2QzxTrenwiSQAAQF2qCupXwTVq5ZNp+BZVZlD/smNbl6zf7JNwIz33SvmBmDTyBqBCpo3rrYC8I25CB4vOij9AfboB5dUXBNxVcLvPJPmhmc+hmDpvsNyUbCMGuxzUz2KYgvptq1PTlM2PLSnPBPXLddqRHstpGldWL3fdc0/5PGL97ruS65Gu8o3WL6vvg/zKmLYTAACg9A5HU4P6e8QfhHtQwvbLDOq7Prz6q/UbV+C6qkCga1/7A1yzMoP6VaWN60ONX3NuK3SwaGtMmfirAWV2jefYjhfc7phjmxczrK8d4dsSH9h/L+mDtAT1+4YpqN+2OtWWJ6jflPJMUL9cdvp/FpQp1FSCTXHAUz71uw3RtxSOWXXPFLJKpn5PWX0flFO2CeoDAIDatCGov0jG5yW95jneHwruo8yg/kXHtnan2N+5gB2DSwGuW94AVMi02e7JT3mm+wkdLBqRyfP1Rpfvai630z3HVXS+5oeObf6cYzsa2Hya0Gk+WGE+71pdPkxB/bbVqa68nzWo35TyTFC/3HuIXW9cp1lcqmEL6mueeuUpo3sjv3saoH3XZosS2ndl9X1QTtn+SnIAAIC6hA4ETTGd8rSjcrSDMJg7/Kb5t7vinrNzcYHjKjOo75q7e5X1G9e0L08rSnPXvl4GyFtlfii3qrTZUmL+ryNY9GtMZ+9EA+qXzxVcy/eObe4oWPZfxKTj2oryedvrctswBfXbVqfa8gT1m1KeCeqX53tHWhylWVyqYQvqqx89ZXRQVyy3/n012cTb7xn0fcbE/72CxSRZ7WWboD4AAKhN6EDQL2b761L+/qSMT4cx1/zbPE8g4FGB4yozqH/L2s4Hx2+WedJ9RQlprPOGn06xr3UV5628AaiQabNAyguI1xEs0uP/5jmHN71lWs31y03Hcenxziy5zvK9laAd4fUpO9FHPWn5oKJ83va63DZMQf221am2vEH9ustzHde6y1xvnGwQlGkYg/pTe8vbmDryVOT//0MW8fZ7on2f+Z5+T9G+D8op20y/AwAAahMyEKSdcQ1w68iSkRS/XyfZpq9xfYwrrTKD+nZn5rznd65Rj7cLpvFSs91D1r9/cuzrXsF9aWDrecy1LBKAqjttnuTYfl3Bot+kuaP1ffPr7s65vTkZr9VYxjTYJO7A/tSYdQjq9xUN6l+X9gT121inRuUN6tddnuu61l11WSY/oBkRVFkvD4vjnnKqdWR0ep5jZBFvv8euW+Pm2D9C0gVHUB8AADSyw1FlIOiE2fbVFL/VOc1fysRpd2yuj13q+SzJcWxlBfUXSfoR5tc9ab8lZ/pqmmlA6IMJfMR13gfL9oL7iguYugJQu1JuP2TaXJVy3gyoK1ik5/bacw55y0MWOoJMv3Ux2/G3mZ465k7Ofbm+gfC/mN9rUP9xxn38JNlGYBfJ522ty12uFgw03JF2BfXbVqdG5Q3q112e67rWXfXMSoc/aBKXzh6gMCwPTbSu+CTJc8IvIIs4+z2+vs/tGtt6GDfFSv9PJAkAAKhLqEDQwkjnZn+K3w8+iBuddsc2V9yvoz7J0XEqK6h/OEOww/eRVh3pPz/jfnWalQfiH/m0zrOv9+baZN2Xjrb6V+Knd3EFoPak3EfItNnm2deDjPupM1i0LqbT/Fzyffg3jdUy/maKbx7sM57jWpRjfxck2xRDg3los8w563owt6GifF6mb1JvUP9KgTpUp1v5WiAd6wj0tq1Ojcob1K+7PNd1rX3HoW9J6Me010r7THWkwxmaxKWzP3Y6dYjO/aTEB/TvkT2c/Z64vo+v35O374N8pknyNKsAAABBfJXqA0HayPxT0s2Xq/ZK+tf6d3uO/3jGYywjqK/n+VwmjpxZlOH39kcX0waGZpvO0WB+Ul+n8U/PvnSU9/KU+5oZ2VfSXOWuIN/vOdOyyrSJ21eW6UMOSv5AWRl+iOk8a2dvTsn72y/jDwXPxvxOHyi45te9lHF/02XyyL+k+mEQ1P81w35cwa5pFeXzskyNufbbAx3DKXHPt740Yb05Jn+6HjCfTrnvooFe1wez0wR621SnRrmC+mlHGtZZnuu81lE6uviVtY0LLWv7bamxrhgm76w0njFE5z5H/AOHyn74vdrUo19Mv0brYH17bE1L0mpvhrpwNCZNj1PkgpghvO0FAAAaYCSmYVhmUD86LcPzhN9qEHwwsulWyu27pmrRYNKyDMfoaiRnnVfdDuoeSLHO1phroOmgI/+nxVy/PZHggp7zqph9LRX/QxztCOm0D3EfPNSR2P9K+iCpa5TWX57fznIEFEKmzRbPfr6mLAv62rNv9FTIV6KPxaTZK9PxLUpHikVHDF9Psc4GzzFl6XCfsNa9nGKdsch1TPsgaKlke2OjaD4vw4qY6344UN7zldeXnjIwKKNvzeJ6KPWPpPvY81IpFujdKfkCvW2rU+Pqu28Z0quu8lzntY66K+V+W6AOrnvFLEHZHlhpvHLIzt/3zR99c7estxaWifs7TG2Ztz/a70nb97nhOdesfR/kz3N8rBgAANRuaUwj+FBJDVW7QxMXuNA5Ch9HGvxpp1nR0UCugGqWaUd8I19+Srn+91aj/FyGdDov8a8oa3DoutnmWfNffU33g2Qf9bQ/YV9fTcDifGRf+lAmOjLzbsrz8gX5tlm/01GPT8T9ZkTItDkXs5+fxT/CbotJH19Q/5XJR6OBgj77xT8Vy2BEaZ55bPX8j1ppmyWf7xX3iOZ5KdZdKRODp/dSBgTGIuvoqOo0AWJ7epG1AfJ5UUdirvfDQPcTDdK/iQk0XLPqlHeROkenstkp/ocCF826SzNegykpj/2kp26RDtapap8Un9+6jvJc97Ue5HNf/XpV2sMOCv5Nk7gSt6x03jhk578wph1Slt8kee7+1Q1Nn2i/J0vfZ05Mm7PKKRfRt9FK89skCQAAqMOPMQ3gtzk7H8tMwOCWp+Mb96HT6IcHf824X99HCzWgNTPF+nGvs95ICHasswI05zIeuwYJbqbolMQtWV5jPlZgPxp8mp6hs/JO4gN8V0xw55nnOoVOmxsSH5yLPkC4YAIhgxHFexKOQx/6XAxUtleJf0qhwTXQ7z3sN2XWNw+rTpWlo30vycSRcHoue3Mclz7UsF/H15HKcVOVbLDykV6DaSn3NyaT5/CdG/N7O1B5NFA+L2J7TOd+sPwSqJM/mrFsappsNevujPmdBot/jwl2nJX8I6dHZPIHQ7MGgtpUp4q4P0qc5iO1dZfnJlzrrgT17Qffv9EkrsQ1K523DmEauOqbMr9DcTFFPXuloWlj911+LbBunr4P8rHfdrtOkgAAgJBGTMfiXYqGsHbYdRSJBulvOJabJijxTuJHBw8COK7RdMtkcjD1aoaOvr4R8LfEfyh0m8R/QGrU0yi+Fzl2PaZd0n/YoctOmTgKK2+gc+DnHAEhDVCsyrEvPY/3Gfaj1zbPXJ0HU2xbp4+Y06C0+SlFXo4uf5jjd32A8bPpeG2V9CNJyzLVXLNPKa+v5oc3Znkv/mlFtAM9r8BxacDvibiDkjus8nVbJn44bn/GfY2Je+7w30ydsMHsazRS1gfHc7CGfJ7GKlNf3pf4KQdc1/iZqbNPVJjvTqU8Hn0QGp1D3g7q6z1FA7hxU7rMl8nTuNgfrT0Yk+7LxR/gHjxMGE15L2p6nTrVBNLOJdyjta5dKek/uBiqPDfpWt/ybGO0JW3ABVLfB7WHjR1w3jWEaWB/++rfkre/I0Wd+E/D0sTV78nS90nq96Tt+yAfu71yiSQBAABVW2E6ojrv3xcpNvI573LHcVwfE4IeLxPOK8u56G/XebYT96FcnRv/VUJw6pSUE7BbajqBXxPO5ZEJiBRprOtHZHUEb9zDnU8mCLSowH6OiDtIrvs9nuEcQqbNUtNI/5rQYYoGpQZBfV3niulMTfm/9u4H8q/qfxz4MTOTjMlkkpFkZiaSJEnMZGYSMzOTjGTmIxlJkiSSJJnITDIzMpMkY5JJEslMkkgyk0QymZno9zq/9319d9/3fe/rde993X+v1/vx4Ojz2fv+Pa9zz73nec89ZwDXfuytFcdVvzzDtXslKStbGjyu2NC/GKa/QPk+Of46EwxeqHie8VjOhumTu7ZZzqd5soG6+EIHDd7fJtTD7yb1T14j+WLyv6fl1+8Vzzk9afX6GvfB43Ncp9YpI3H7BwZyPQ/tt94cVn4JNdSewHn25VyTAn/tyL6IenEV5sGB0P5krvGF3o8T6p8hTWR6rUTd+1tD7Z5pbR/qOVzj+QAAgBZNCuqPPZIELg4nKQaeHmjpeNYkD+Hp/cVjjIHjNj6pfTA5n/G+Dib7b6qhf2dq+3GYmp0zbLvLvIlB+V05v3te0Df2JH0qDCOQX2RLci7x5UjsNRtfSP2TNPpuJP/79+Rv8aVGfKG1o+VjWp/8dgcz5S/+28aGr6m7ku0eSMrheH/xC5snG9hfk+V8ETyY+l1jHu+ZcH3EoZ62Lti5z0udOo/Xc9/WpfL/0Tk79uzXGmcCXT1bnliFeZD9WmFLR/t9O1SftwTK+CDUH+YTAIAOGl55QX0AgHn2TTD0TldW+9jb8UVj+sulLzvcd/rl1euKIg06EyZPVg8AQMcE9QGARRa/lEkPURLnEjD0Tnu2Zp4rL62y838i9DfvxE+p/d6nKNKgzzLl+nFZAgDQL0F9AGCRZXuOvypLWhVfmKRfotxYZed/Piwf176r4QmfCyYxpT3ZeRHWyRIAgH4J6gMAi+y9sHzS5jtkSeuyk4ZvWiXnvSNz3q91tN+HRul6ss8ryjgNW5sp19dlCQBA/wT1AYBF9nvoPsi62p0Lq28Og/iFwvdh+RcKd3aw3zgZ+V/h1pcBOxQ/GvZg5nq+KEsAAPonqA8AzKPNo3QhLAUy3ylYZmfq+Sb2Hr99zs/5ruTZ7cQofZw8s62fcO7nkuXiBKr7Ojz/tzLPlkcXoLytTfI0Bs3zhh45njnnNzs4ppiv46GOfh6lbaqFxq6zOJxRnBz2clj6wudm5nffH5Ze3MRhab4apVOjdGAB6pg8+zNl2/BOAAADIKgPAMyjC5nnl8M5y6THN985x+cae2N/kZxHDDLGgOOWEuvF3uPbR+lkuDX80PMdHO++zG9zas7LWvzSIDumeAyivzxKG8JSAD/9t9hzvu0hcA6k9hdf2tyuSpjZPWEpkJ+eEyIG8z9Ofus1mWXfSuqY7PLxJePGBcqXRXxJBwAw954PK4P6PqkEAIbuRpg8Ae7jqb+9MqfnGAODp1Pn8dIM2zoVuhuG6J7Mb/PDHJezGMj9M+d5eVJ6tqPjil9s6J3fjCfD0kuv9O/4eVj6Imiae0fp28y6cW6DBxYkb1bjcFoAAIP3cU5DJPYw0dsHABiyS5nnl3tSf4sTs44na317Ts/v7rDUG3x8fk/PuL1HM/m1veXj/zu1r9iTef2c/g53hWoB/U9dmnNnd87v+FnFbcS20w9h5Rcb9y5A/vyTuZbXKjIAAP16Kiz/XDSdTicNYgCAIYo98dO99R8KS72Xd43SL2EpqPzMnJ5bDOinJ/h9b8Kysaf2pSQvDk1Ybl3mWe94y+dwNrO/PXP6W6wNK78KKUrfBB1j5k2czPivzO8Yr706wyfdn1Mmvp/z/Lkvcz6XFRkAgH7Ez4E/zjQUJ6Vfw1JPlXNBrwwAYFhiQDuOFx+HuoiB1+uj9HVYGv/6jjk9p9ij/XJYPoxHUS/32AHjj9SyP03ZdpfBuaOZ/b01x+Xs2JTn5dhJ5niY368RVrN3cn7PYwXLxqB9fFEYh+pZU7DM+Zzt7Z3j/DmYOZcTigwAQD9OJY3eOmmd7AMAaNW7YXkQbdLXBsfDyuE+Jkkve73l89gaFqvHcpz896sk3+JzcZw4N05eHOcnuEexnUtrwsoJkOMLmrwXgrHH+s3UchcKtnkgzD6Uz5CczpzLU4oNAAAAANwSvzxIB9DivABFPYI3hOVBxkmBxpBsJ73sjQ7O50pmn4Z2ZEh2hpUB+EsFy76as+yOnOXy5mC4OeE6Hrr0193xhcdGxQYAAAAAbolDJKaDgS9NWHZ/WBk8/GDC8ndklr3Wwfm8H8p/dQBd+1/ONfRRwbJncpbdV7Bs3hwMO+Ywf3aElXNGAAAAAACJzWGpJ2w6iHbXhOVPhpWBwycnLL87s+xXHZzT42FxhiFh8eRdQ+8XLHsuZ9miial/yVl2HieKfiVzDi8rMgAAAABwS3Zi2e+mLP95WDmczqT5jw5nln+3o/MyfAdDlR0vPqYjBct+HMr31P+8wrJD9l3mHLYpMgAAAABwy9mwPID21pTl/w7lehiPncos/2hH5/VOZr/P+akZiLwhdQ4XLPtezrKPFSz7Wc6y++csb+7NHP9lxQUAAAAAlvs1lB9KJ7oelveAv3fK8ukhQX7u8Ly2Zs7rez81A/FhWBl8f7Fg2X2Z5eI1t7Zg2byg/t45y5tXS+YLAAAAAKxa2ck1t05Z/lpq2XemLJsNrB/p+NwuZvb/oJ+bAXg9rAy+Hy9YNg4blZ7zYtKcFF/kbPfROcub38LyFxh3Ki4AAAAAsFx2ktw1U5b/IVnu6ihtmLLsm2F5L/01HZ9btpfzR35uBiBbLmP6cMLyN0qW4b9C+V79Q/RE5vjPKioAAAAAsFK65/1/U5bdNEo3k+Vem7LsbWF5kHFXT+f3U1ge5NziJ6dn2d73MZ0rWPa+UG6M+bU52/xqzvLlfJjvrwwAAAAAoBPZQNqk3vTvp5Y7NmW76bGxj/d4focz5/eun5wByI5//2fBcsfCyl799+Qs91jOcvM0ObQ5MAAAAACgpDjOfZkx9fcmf/8j+e/pCduMY9ePew3Hcb77HAIkvqRI99aPXxrorU/ftoeVPeu35pTdX1LldrzciZztvZvZ1k+h++GuZnE6VJuwGwAAAABWrRj4G4+TX9QDP451fX2Ufg9LvYS/S/7/ppxl7w+3Av+fj9L6AZzjk2F5wPCUn50BeDZMnvPhvdTfXgy3Avwx7U0t91BYPu5+HPZqxxzlw7ZMPnynaAAAAADAZHeFW73Z4xj7TyT/fm9YGjpnPBzGuId7HOc7Bu5j8G1b8m/xb6+EpeBiTC8P7By/DMsDhw/62RmAp8PSC7L05LAxgP91WDl81QPh1jwV15JrLL6gSvfi/zEsfQUwTz4PxtIHAAAAgMrWjdLzYSmYGIOMMTAfe+bHIOOBnOXji4DYk/iXZNm4zrdhaSz9zQM8v61heW/mS2G+hidhccWvX2Lg/kpYGpInltP4ki0Os/NwznUXh9r5OSwF82P6M7lOD85hmX4ilJswGAAAAABYhV4KywOIr8gS6E0cmis9pFD8+uAu2QIAAAAApF0Mt4KIsVe0YXigH++E5S/ZnpUlAAAAAEBW7Ak8nsg3pthTeKNsgU49FpYH9D+XJQAAAABAkcfD8oDiZ7IEOrMpLM3XMb7+rib/BgAAAABQ6HBYHth/R5ZA6+JEvukhsOKkwIbAAgAAAABKeS0sD+w/L0ugVScz19x+WQIAAAAAVPFWWB5kfE6WQCu8RAMAAAAAGvFqWBoGZJxekCXQqJcy19jLsgQAAAAAAAAAAAAAAAAAAAAAAAAAAAAAAAAAAAAAAAAAAAAAAAAAAAAAAAAAAAAAAAAAAAAAAAAAAAAAAAAAAAAAAAAAAAAAAAAAAAAAAAAAAAAAAAAAAAAAAAAAAAAAAAAAAAAAAAAAAAAAAAAAAAAAAAAAAAAAAAAAAAAAAAAAAAAAAAAAAAAAAAAAAAAAAAAAAAAAAAAAAAAAAAAAAAAAAAAAAAAAAAAAAAAAAAAAAAAAAAAAAAAAAAAAAAAAAAAAAAAAAAAAAAAAAAAAmA//DTgBAAAAAAApgvoAAAAAADAnBPUBAAAAAGBOCOoDAAAAAAAAAAAAAAAAAAAAAAAAAAAAAAAAAAAAAAAAAAAAAAAAAAAAAAAAAAAAAAAAAAAAAAAAAAAAAAAAAAAAAAAAADAkd43S4VFaO4BjuWeUXhul86P09yjdTFL832dH6dlRWucn6yRfN43SmVG6MUrXRukt2QgsiHmt3+L9+rlR2u6ZAQAAAFaXNaP08Ci9Pkrfj9J/Sbq9x2PaMEonRunfsBRo/mSUvksdWzr9Mkrb/Iyt5+s3OcsI7AOLYJ7qtwfD0kvZS6ljfXKVPzMAAABUdi3kB8Sqpp2ykg7tGKUjYalX9vWCMtlXAz32mPwxOYbzmeOIgYubOcd6Neix32a+bi8oI3/LVmDODb1+W5vU0SdH6feCY207qD/kZ4Z5sy8sfRFSpY3wb3I/Xj9hu/EFyz8lt/eenwEAAEI4PUqfhqVeXlUe0uMDeuwJ+9konUsaTNCFn0uW0T4a6LEH4LfJ/mOQeXPOMs8WHO9eP21r+bojCOoDi2no9duFEvfrNoP6Q35mmGdbR+n9KXkavxap+iVifAl0qKBNcmWUHpf1AACQ77FQ3JNqnOInyxtkFT2J4+9uTDUqvx9QA/2l1P4/nbDcVznHu9tP22q+XgqG3wEW05Drt/FY9ZuSY+o6qD/kZ4ZFcLogPy/OuN1Pwsov7zbLbgAAmN4AKgroX5A9DMyegTTQ4/7Sw1lNCqjEiV7/SC17OSz1Rqe9fN2cBAli77+/RulNeQ4siHmp39aE/B7YXY6pP5RnhkVR9KXIFzNuN/2FRRwy6X5ZDQAA090bioP6z8keBmb9QBroxzL7f3rK8neP0hvJehv9jPIVYBXI+6qgy6D+UJ4ZFskvOfl5fYbt7cxs66AsBgCActaE4qD+njk9p0dG6VE/7cIaQgM9+0n/IT+LfFUHOj9gmc9Cv0H9oTwzLJIPCvL0gZptkB+CSXEBAKDRBk9Mu+bwXOI4rnGegP1+1lVVXrtsoN+Zs3/BZ/mqDnR+wHKC+ovnyYI8fb7GttJz6FyUtQAAUN2Nggf0nXN4LheSYxfwWVx9N9DzGrSCz/JVHej8gOUE9RdPnAz535w8/bTidraP0s1k3Sth6YUtAABQ0aIE9V9JHbuAz+Lqu4H+bBB8lq/qQOcHTCOov5i+CPnj6pedsPm2UfopWS+2QR6QpQAAUM8iBPV3Z45dwGdx9d1AzxtPVvBZvqoDnR+wnKD+Yjo2Y7vhlPs8AAA0Y96D+veP0t9BwGe16LuBfioIPstXdaDzA6YR1F/ce05evr5ZYt3DqeWPy0oAAJjNPAf145icf+Qcu4DP4uq7gX4mCD7PW77eEboPJKkDnR90Ycj1m6D+4vo9J1+/n7LOg+HWOPomxgUAgAa0EdR/eJSemPD3OH5mDNgdHaVnRmlPWJp8q4p4fH8VHHtTAZ+1yX4OhqXeRS8kx72nwUbh3aP0eMHfHkny5/lRenROylMcU/Wh5DeIx/5yknf7QzPjpvbdQD8X2g/qr03KxDgPjyX/3Z80ips2hDLYdL7GPDwQloJKcVK/awPKn7vCUmBrfH3E/+5L9jO0OrCOeTm/tuuqorL0VLK/l1LXdTzXdS3+Jl3cy+ZZV2WhqbqkyfqtzfMvG9SP+9+VlMkXkmOIyzUxeWobzwxtX0+3J3l/ZMDPfh8W5O0dBcvH33L8IsDEuAAA0JAmgvprksbMidRD+4WcZWIQ/9eC/cXgzbGS+3u/YBvT0omS24+fFp8Ot3oU5aV/kwbrwzUb0DHIdT61nbQdo3QpZ58fJn+/WuGcb05pZO5LjmHSeZYJNsUetSfD0mRpk44nlo844eVtA2qgFzlXs5yl09UKZeJgct3cnLLNGMCJY9BvnTGIM0sZHGq+Pl5QDq8NIH/2jtJ3U87rs+Qc7k2ulb7qwDrm5fy6qqvSYsDv+yn7i+XscnIOMWAbX4w/kATJ0qlKfdf2vayK1XrfarIuaap+6+r8pwX1N4SlIVuuTdj3l2G2wHaTzwxdXE9bwlLQO73NkwNsO+wvOP8DOcvGlyBfBRPjAgBA4+oG9beFpR5lnxU0cC5kGo4/lGzMTwsabg5LQcFxygsUfJtZZpyOTNn27eFW76M/R+n1sDRB484kwHKkoPF9smQAIfaEey+s7H2abuQ/MqWB+0gq/y9MWO6LUD7oGxtch3P2ezRM/4Li9iQIlW7Qnkwa7juT/Hsp53f6OVTvudt0A32aF3PKUF55+66gvJ0r2Rh/PMmP8fYuJdfWuOztTQIfecOQxLzfWOGcmiyDQ8nXbUn+TAoaXusxf2JQLz1nwJUkQLY7dY3E3/tyzra6rgPrmJfz67quiuJXC1+ntvVVEgzbldxTXgzVgt0xnSmx37bvZXWtpvtWU3VJk/Vb19fCpKD+Q2Fl8HraC7u1NcpcE88MXV5P5wuO+eDA2g4bQv6LtVM5y34UDFcIAACtqBvUj8GJN5KGzqSgfgxI/pMKaJxIGkSnJjRmD1c4/rxev3WGZoiBpPGLh9iomhQozetFGnuTrc9ZdnuST7+Gyb1XxwGPv6Y0bA9lghpFL0vqjFt7MrX+OyWW35RpyN4IxQHfuGy2F++voVpAuqkG+iyaHibmzcy2/jdh2fUFZe+3pOwUabMMDiFf42R7Z5K6qCggcq3H/En/Zl9PKa8vZba1tsM6sK55OL8+6qr7wvKg6AcFy20MywP/swb127qXNWWR71tt1CWz1m99XgtFQf0HU8+FVdKFGmVz1meGLq+n+IL031D/ZV7X8uqtPzPLHAsmxgUAgNY0MfzOywWNr4PJ/44NorzPbeNQAt+E/KE11pTcdxMBn9hI+ync6h08rWfVmoKgxEc5yx5JGjXxmN6e0MiPx/BLkmJPw5cKGr37Mtt/vGCbz9UoCydSjfw7Siyf7XE5beiLrWH24UAWKaj/QWY7T5dc71jOMfwRigP7bZfBoeXrR6Fa0KvN/Lk/87ftJY7/ndTyt3VUB9Y1L+fXdV0Vy8pvYfmLt0kvMGLw9M+Q/7XKUO5lTVrU+1YXdW3V+q3PayEvqB+fC8cvPcZD1Yw7e5wI04fwOt3hM0PX19O8BfVfKzjW+5O/707928UKz/UAAEBJTQT1d4X8ION/SUBmUuAm9oLK6+m/p+S+mwj4fJJad1vJdZ4tyLfHKuwr3cg/G5Z6dKUbm/FFSLqn55WCxuhXOdv8vEZZGDemy/SmejRnn6+WWO/LsHL82SpB+UUJ6mcD859UXP9EznHE8nFHxfLeVBkcSr5GT4XZgl5N5s/x1N/+Kbn/2KtzPDfJxo7qwLrm4fz6qKuy1+frJdb5X0H9trVm2W37Xjar1XDfaqOunaV+6/r884L6444cHybPf3liT/4fQ3Fgv8pQNLM8M/RxPX0aZv+CtSuPFhxrfL7ZHm59jRvLtYlxAQCgBU0E9TeH2SZlPJOz7tsl15014HMg5M8DMM3GkN+j6ssp6z1X0CCPY9VuyFn+9qQB+8wo3Vmwzd0hf7K2KmPfbg/Vgkh5PbTOllgvLxi9u6MGehOaCD5vyyk72ypuI74oyxuPuExvvjbK4BDydWxXmC2o32T+fFnzGMbD1DzaQR04i3k4v67rqi2h3rAysRfw3znrHh3ovWxWq+G+1UZdO0v91vX5f1Zwz36xZLks6rV/NZQfq77uM0Nf19PmsHyOnZg+Hmj7Ifa8z/vCJA7LM/5SycS4AADQoiaC+rcXbKOswznrniu57iwBnzVh+RAJz1bMu0sF5z0p8Lk/tNMr8qecbb5WYf3xkBhflVw+b+zYH2oGFaoM57IIQf0vMut/X/NYjhTkx7QGdFtlsO98HdsZZgvqN5k/2SFV7iu53uYK9XCfQf15OL+u66q84bHKvrjMC56WGbqjj3tZExb9vtVGXTtL/db1+ecF9au8LLo7FM+9VLaM13lm6Pt6WpeUnfhSaNfA2xBnQvdz8AAAAIkhBPX35qz7bcl1Zwn4ZD9j31ox704VnPe+io38Xxr4HfMCvFdKrhsbsH9WbIA9kbO/4zWPs0qjb96D+jty1n+/5rGsLQh4nJqyXltlsM98TWsjqF83f74P9YdZioHK3S3XgbOah/Pruq76ONQP6ucNrfLpQO9lTVj0+1Ybde0s9VvX5/9ZA/X6CwVl82KLzwzzej314ZlQHNA3MS4AALRsCEH9vM/wfy+57iwBn2zw5VzF9EvBeb9VsZH/WQO/YxyOJe8z6DJzE4yP6c9QbSKzV8Kt+RA+DuWC63nBgWcq7HPeg/pvhtnGB846nbO9+Jus7aEM9pmvaW0E9evmT17P2Hc6yLuugvrzcn5d1lV5gcyywbw7a5a9Pu5lTVj0+1Ybde2s9Vvf18KTFc93Xch/eV12XP86zwzzej31YXvBuf4x5TkEAABowFCD+n92EPC5HiZ/Nlw3ne64kT/2bqg38eCFGRqcayo23PKCA1UmgJv3oP63of6k0GXL07RtCupXz9O6+VMU8IhjRd/fYt51FdSfp/Prqq7KC2S+WGG/2fG4y4yn3ce9rCmLfN8aYlC/72vhyRrnfLKgfJb5AqbOM8M8X09dO1Bwrh9qXgEAQPtWa1B/a2ad6x3ld5sB1ftCfm+2LRPWuTtUHw+7jodH6b2w1HtrtQb114T8CfR2N/ybx/RCT2Wwj3zNGlJQP3onFAd54hjqm1rIu/0d/naLdn6z1lV5Y0yfq7D/bEDxzYHey5qyyPetoQb1uzr/poL6T4X647VXfWaY9+upa0Vj6j8pawAAoH2rNaj/5AzHO4u2A6pfhGoTD74Sqk9eV1YcSuKlcGsyxDj+9vmweoP6m0P93oZFil4UnOyxDHadr1lDC+rH3+jzUBz4jsf2Yqg2hEgTdWBTFuH8mqyrjob8IbHK1lM3K96L+7qXNWlR71vzGNRv8vybCuoX3TvLfKVR9ZlhEa6nLuv+oqGR1sseAABo32oN6h/MWW9jB/nddkB1T872r4bigNpvofkg2WOjdDZp2MXxkuNkaduSv63m4Xd2Fhz/3hmP6e8wnCGg+sjXMvl8redrdG3In/8gnX4MSxNZNpF3+zv+/eb1/Nq3EjytAAAuD0lEQVSoqzYV3FdfKLFudkz9nwd8L2vSot635imo38b5NxXUj26GehOxVn1mWITrqSuPFOTvl7IGAAC6sVqD+odnPOe6ugio5k3Slhc4fjzUm2iwSJwM8lKyzRgUeC2n8SyovzIdmPGYfszZ5pmey2CX+Vomn68N5Bo9OqHOHadPRumuGfNuf0+/47ycX9t11bGcdf8KS0H7KuuV+Yqnr3tZ0xbxvjUPQf02z7/JoP5fOdt6r4VnhkW5nrrwWkH+HpM1AADQDUH9bgNhXQRU8wJK53OWG/esfWPG/T2YCgqMz2dzwbKrOahf1KvtlRmP6UKoNkmdoH6/1+g9IT/YlQ0A7225DmzLkM+vy7rq7Zz141AmRXMMbAnLA5dlA2OHB/b7u2+1W5c0FdTv4vybDOpfytnWMy08MyzK9dSFbwvyd5usAQCAbqzWoP6hnPXe7yC/uwiobgj5n6qnJx7cmFrmnhn29XpmH+9MWX41B/VvKzj+UzMe01c523yj5zLYZb5mDT2onz7Oy2Fy8PtIi3Vg24Z2fl3XVeP7TLaH8dVk23ek6utnw63JSOPyByruo497WdMW8b411KB+V+ffZFD/Qs1tVX1mWJTrqW0bC/L2N1kDAADdMVHurXS5g/zuKmD4fs5+Xk/9/X/Jv12YYR8fZbZ/tsQ6qzmoH11vodzlDUuwbwBlsMt8TZuXoP5YPM9fQnHg+9GW6sCuDOH8+qirxmLw/kSY/HJjPJluHCP8zorb7+te1oZFu28NMajf5fk3GdT/LWdbZYbxamKi3Hm9nrp+lo3ppKwBAIDurNag/vaCY36ggTyN40q/3WEjP8+OMHniwfGn7Ptqbv/FzLbj5HpbWgwO1G2gN23W4PMnOevHvNvQ8DV8d8XGuKB+O/kTg4+Pl1guXpcvJWUhu++LLdWBTZiH8+urrkrfHy8m97R4LHHIkBjkj8PIxIDqR8n51J2Ms697WRsW7b41tKB+1+ffZFD/n8x2fmnpmWGRrqc2nSnIpycDAADQmdUa1I+ut9Dg3pZs92iHjfwiecOyPJU0TrPBkio25ZSbr0quu9qD+s8VnMPBmsezKWdbl6asI6jfXf7EoPerFZZ/IuQHvte1VAfOaujn12ddFcVA/dej9FMoHq+8CX3cy9qySPetIQX1+zj/poL660K1IeZmfWZYpOupLXlfCMa6fb1mFQAAdGcRg/plxyM+W3Dce2rmZQzg/DxKf09oNHYZUD2Ys68YhDseVg5rUMULof648EfD6g7qbyi45j6veTxP5Wzr+SnrCOp3lz/xevu+4jqv5ez/sZbqwFkN/fz6rKtiEP/HsDRW/p0t/w593Mvaskj3rSEF9fs4/6aC+tlnxLJfGNR9Zlik66kNDxbkz8UAAAB0qmh8310VtjG0oP7TJdd9quC4YxDmror5uD5p0MT1X+64kV8k9ma8UhAA+K9CozjrzAzBgffD6g7qR+8UnMe9NY7nZGYbv4fpPeUE9bvLn/HkjvdVWOfeUO0l6yx14KyGfn591VWxV/TPyTrPdPA79HEva8si3beGFNTv4/ybCuq/m9nGey0/M/R9Pd2elJ34hcSjYXheLcifVwMAANCZtaE4qL+3wnZmDervCfWD+qdz1v2gQvDg54Jjj5Oy3VNyO3EixC+S9eIwC+s6buTXaXydn2Gbn+Zs7+uS617MWffFlhvoTcobE79q8HljEhzIbuejitu5LawcZ7jMMD5DDOo3ka9jeUGvfyqs30ZQ/90K6+QNNbG+pTpwVkM/v77qqvOpde7s4Hfo417WpkW5b3UV1P9noOffRFD/tuR5cLx+fOFTZQ6aOs8MfV5PW8LKl1pDm3z2m4K82a1ZBQAA3XkgFAf1qwRat4XZgvp5Dd+yQf3Xc9b9rmDZGEx9KvNveyfkQez9diwUB5xiw+/pVAMsfhL+0JTjPZCzny9b/I3vDPljWO+dYZtFE6Rtm7LeoYL1ygaz14X+g/rnc/b/UkOBmZgeqbCNbOCrbK/Lrstgl/ka5b0k/LfC+k3mzzjofTOUDwRl69OLLdeBsxj6+fVRV+0KKwOnTyZ18ZoWr6Gu72VtWpT7Vht1bd36rY/zbyKo/2Zq3esVy+Uszwx9XU/nQ7Pz7jTt7gn5si4AAACdeWXCw/mlCtspavysLbl+XtDmxoz7zjYctyTndC5nGycm5MP4WOIYq/ET9OPJfz8OS+OjVh0SIm9c239a/p2zPV2vzLi9YwX59FPS4Mu6PdUw/yFnvSuZxnHRUByPhNnnf5jVP6H+EAZZz+RsK04CWWZCzTim7c3Uel9UaFD3UQa7zNfDBeVkSw/5cyG1jW9CuUkEs8MzPdpBHRgW9Pz6qKvennI/KZOuJ8cYe+hWCWJ2eS9r2yLct9qoa+vWb32cf15Qv8oQLXsy18QTFfNq1meGrq+n+DLg34J9nRlIu+HtCXkBAAB0IDYcYkDx2pQGSwwolBk/9Hio37MoHsuPBes/XGL9+OLgz5Dfc+3j5NhicOBmsp8NBcfwyYxBmLKNtm9D958tP5zZ12szbu/OkB+EHffYPZNp4I4nho0TuD5esN43yToXJjQOPwr9juNaFCD4K9T/WuBgWDlx7q+jtGPCOjszZf5sKBdM7bMMdpmvnxds7/ke8udCZhtfhMnDsWRf9LzUUR1Y19DPr4+66lCYPaif94KrzDXe5b2sbYtw32qjrq1bvw3lWrgZys0zcTTcCnD/XvJ5sOlnhq6vp6EH9R+ecHz/hsWYBBgAAAbpdNI4uRSW9/Atk2KDKva4ij0g08HGu0Lx2LfjoFyc6GtTwTHtmNBAHfdaPlQimHGkxDl8N+E4xt6o0WCLQaRpPSm3Jsd4eUpeHUuWbWOIhkuphtfdDWzvQIU8+mWUHks1Wn+bsvzR1H7ibx976n46YflYnuNwUdtbyrvNSRDi6pTytS/UGz97R+r3yQYs4zZ3JWl/WN7zMZaZZ0vuYwhlsM18jV8pPBryJ3RMl5N4jT+Yc35t5c+FkN9TN070GHua70x+21jPfZH5/Y9UyMum6sCq5uH8uqqr0j4OzQf2L1TIr7buZV2bx/tWG3XJrPVbn9dCfIHxU8H230zqiV1JXRF75r+SWf6jivVWG88MXV5PRcd9qMfr8J7kWf/GlHOOzycPaG4BAEDzpvXKL5vGny3/XnG9a5lG142K6x+fcn4vhvweRH8mjcSyQbg4vuyHYfqLj9gD79kS2z1dM5//bPj3H39632Rvr8cLGuvjdDlp6GeHYXqsoDzGAE56TPkzNfOuqXP8JBT3SpuWboTq48vGXvsXS+zz++T3LNsrbihlsK18rbOdf5MAV9v5c6HGcZ0N08e5brMOrGJezq/tuirPvin7rJOqvAhp+l7Wh3m7b7VRl8xavw3hWoh2JeXxzxLH/0fyzLe14m/b5jNDV9dTfNmdnaT3dA/X3v3JcdyoWf7iEETxq8NHAwAAQAmxN2/szRzHnI2fPO+coWG1JmnEHky2F1PsKRV7nW2Yw7y5LWms39vCth9M8ibmUex5HXveTRu26Y4k6DDO1x2K7/9Zn5SzdNk7mPzbRtkzt9Yk18XupOw/nfp9x9fNrL9vk3XgIp5fl3VVXC4GT88leRL3F8foji814hdqMXAZA19xrPAbSZr2suvyKruXuW+1p8/zj19d7MmUyaeTY7hvDurxtq+ndal6TlAcAAAAADoQA5QxSB8nGK0zznTsJR17KccgZ5xYOD3x5hrZCwAAAAAAzRiPvx2D+lsb2uaWcGvoE5NRAgAAAABAA94Ot3rUv9bwtuO42nF4Hj31AQAAAABgRnGM7fT495sb3v5HYWmSbAAAAAAAYEZXwq2A/r8tbP/nUToqmwEAAAAAYDYPh+W99GPa2uD2YzD/cjD0DgAAAAAAzGx3WBnU/zw0E4T/3yj9MUr3yGYAAAAAAJjd7aN0I6wM7H81SttqbC++DNgzSt+O0tXQbK9/AAAAAABY9eIQOf8VpBjcPxaWevTfEZb34F87SpuSvz09SqfCUs/8uN5nyd8AAAAAAICGHQn5Pfarpt9Gab/sBAAAAACAdsWx7z8YpZuhejA/9ug/FEyICwAAAAAAndowSgdG6cNRujhKf4elXvwxXR+lv8LS8Drx77FX/mZZBgAAAAAAAAAAAAAAAAAAAAAAAAAAAAAAAAAAAAAAAAAAAAAAAAAAAAAAAAAAAAAAAAAAAAAAAAAAAAAAAAAAAAAAAAAAAAAAAAAAAAAAAAAAAAAAAAAAAAAAAAAAAAAAAAAAAAAAAAAAAAAAAAAAAAAAAAAAAAAAAAAAAAAAAAAAAAAAAAAAAAAAAAAAAAAAAAAAAAAAAAAAAAAAAAAAAAAAAAAAAAAAAAAAAAAAAAAAAAAAAAAAAAAAAAAAAAAAAAAAALC6/TfABAAAAAAA5BDUBwAAAACAOSGoDwAAAAAAc0JQHwAAAAAAAAAAAAAAAAAAAAAAAAAAAAAAAAAAAAAAAAAAAAAAAAAAAAAAAAAAAAAAAAAAAAAAAAAAAAAAAAAAAAAAAAAAAAAAAABg5K5ROjxKawdwLPeM0mujdH6U/h6lm0mK//vsKD07Suv8ZDAoD47Si7IBFsqmUTozSjdG6doovTVHzzTPjdJ2z1UAAAAskjWj9PAovT5K34/Sf0m6vcdj2jBKJ0bp37AUwP9klL5LHVs6/TJK2/yM0GsdsmuU3h2l35Lr8k/ZAgvlm5z771AD+/HFYuwQcCl1rE+u8ucqAAAg41rIDzRWTTtlJR3aMUpHwlJv9+sFZbKvxmfsDfhjcgznM8cRG+U3c471atBjH7q0NSz1fj1XUIcI6sPi2F7wnPD3QI5vbfJ8cHKUfi841raD+kN+rponO2doW8WvSN6dsO1XK27bfQwAYMGdHqVPw1IPphsVHhRjD+TYw/izsBQU2SEr6cjPJctoH43P2Lvt22T/MXi/OWeZZwuOd6+fFjpxMAiGwGqyIww7qH+hRJ3UZlB/yM9V8yrm1TPh1tdfRSm+QHlllO6rsO0tYenlS9E2f0ruc2v8DAAAq8tjobiX0DjFz3E3yCp6EnvXbkz+d+xt+/2AGp8vpfb/6YTlvso53t1+WujEmtR/4zAXvwRBfVh0l8Jwh98Zj1W/KTmmroP6Q36umnfxN5300qTu/C3x685/C9pogvkAAKvYcxMePi/IHgZmz0Aan3F/10oGC+IEun+klr2sEQa9ORIE9WHRxS/n4vw28avUv0bpzYHed9eE/C9nuxxTfyjPVYvisQntqqdqbvO2sDyof6PjMgIAwEDdO+Hh8znZw8CsH0jj81hm/09PWf7uUXojWW+jnxF6kxfAEtQH+pL3VUGXAduhPFctkq9C8dfPdbwYlgf0d8liAACiNaE4qL9nTs/pkVF61E+7sIbQ+Mx+rn7IzwJzYXdYHUF990GYD5+FfoP6Q3muWiRPF+Tp5Rrbejgs/5pDD30AAKY+zMc0jz1B4niWcZ6A/X7WVVVeu2x83pmzf0F9mA+rIajvPgjzQ1B/8cR5E/4qyNcHKmwnTpKbHr7xf7IWAICsGwUPnjvn8FwuJMcumLG4+m58PhkE9WFerYagvvsgzA9B/cX0bkG+Hi+5fhyq8Yca6wEAsMosSlD/ldSxC2Ysrr4bn88GQX2YV4se1HcfhPkiqL+Ythbk6z+jtG7KunFo1C9S63wuOwEAKLIIQf1soEYwY3H13fj8IAjqw7xa5KC++yDMH0H9xfV1Qd4enrLeidSyl/wWAABMMu9B/ftH6e8gmLFa9N34PBUE9WFeLWpQ330Q5pOg/uJ6piBvv5mwzrHUclfD0jxOAABQaJ6D+tvD8kmkBDMWX9+NzzNBUB/m1SIG9d0HYbI7QveB8rIE9RdXnDD3WkH+bstZfm/q73G9B2QhAADTtBHUf3iUnpjw9/igGgOhR8NST5Y9ycNvFfH4/io49qaCGWuT/RwMS5/LvpAc954GGzx3j9LjBX97JMmf50fp0TkpT3Es0IeS3yAe+8tJ3u1vqIHSd+PzXGg/qL82KRPjPDyW/Df+/wdbOKchlcG7koDGuOzE/+5LjrHpPG772s7ub3eyj2PJPuO+d9Wo+4ZWfrqo78vYMkpPJft4McnfrZllhhLUb6qct30fbLs+L6qPxr/jS6myG891XYu/Sdd1wrzpqiw0dT+Kv+eBsBQ0/zcsBUmHeP5lg/prkvvFoaRsPpMst2mgz1VtX0+3J3l/ZODPx0UT5r6bc5+8nvr7E6ocAADKaCKovyZ5UI/jQP6erH8hZ5kY1Pm1YH8xMHGs5P7eL9jGtHSi5PbjUAanR+nmhG39mzTGHq7ZOIwBnPOp7aTtCEvjaGb3+WHy96sVzvnmlAbUvuQYJp1nmUBK7C16MtMoyUuxfMTJHG8bUOOzyLma5SydrlYoEweT6+bmlG3G4EQc23/rjAGKWcpg02IPte+mnPdnSbDn3qQc1dH2tZ0Vgw2fTNlf/NvZGffXZfnpur6f5umCsjpO34elYFjUd1C/yXLe5n2wq/o87VDyW/035dq8nJzDgSTwFYNhd2TS7QOuEyZZrff2Ju9Hjxccb92gftvnPy2ov2GU3gzFPb5j+jLMFthu8rmqi+spvsC9ktnmyYG2sXZMuAeOX25vTt1L/0vunQAAUErdoH78dPT55ME87+H9QqZR9EPJhuq0oGF8+D2XSnmN4G8zy4zTkSnbvj3Z/zjQ83oSBNqZBA+OFDQsT5ZsHMdeXu+FlT0r0w3YR6Y03h5J5f+FCct9EcoH7WLD4nDOfo+G6T1qbw/LJ/X6N8mPJ5N8i/n3Us7v9HOo1/u6y6D+izllKK+8fVdQ3s6VbGg+nuRHemK051Nlb2/SqP+jIEC3scI5NVkGmxCDOel5Cq4kgZHdqfIT8+JyznFU0fa1nRd0OJ/aztfJ9ZQ+r7dz9nem4u/ZVfnpq76f5L7Mb/ZrTtl5PRUsieXsqdBPUL/pct7WfbDr+jy6KyyfUPKrsNQDd1dybb4YqgW7x9fR0OqEslbTvb2p+9G2pI6bVE6u1bhndHEtTArqPxRWBq+nvbCr8xVUE89VXV5P5wuO+eBA21nfFBzvoSTf0vfL9zRLAQCoom5QPza830ge4icFeWJA6Z9UY/1E8rB/akJD7XCF48/rTV1n2IHNqQfr81MCXXk9JGNPqfU5y25P8unXMLln5rgx/9eURtuhTIO9KHhWZ0zWk6n13ymx/KZMI+1GKA74xmWzPVR/DdUDmIs2/M6bmW39b8Ky6wvK3m8hf3zWLsrgrNLn8/WU3/KlzHGs7fnaLhLrvPGkpb9PqUvfzNnfpQrXRRflZ0j1/diuzPbenVAeYpk6kwo29RHUb7ucN3Ef7KM+jy9m0kHRDwqW2xiWB/5nDep3XSdUtcj39jbuR8eT3/zDUBzwvTbQa6EoqP9gqi6tki7UKJuzPld1eT3FF6T/hvov8/rwbCj+wuLz1P//VJMUAICqmhh+5+WChsXB5H/Hh/28MUfjZ/J5PViuJg/uZTQRzIgNkJ/CrV7X03oNrSlocH+Us2zsnXQsOaa3JzRg4zH8kqSjSWAnr0G3L7P9xwu2+VyNsnAi1YC9o8Ty2d6E04Z12BrqD4nUVONzVk0G9T/IbOfpkusdyzmGP0JxYLbtMljX/Zntbi+xzjup5W/r+drO83SmHpvWY3NTQYDizIDKz5Dq++ixsHwojDdKrvdRQdlvO6jfRTlv4j7YdX0er83fwvKXS2unXCt5L2W+G9D9vkmLem/v4n6Ud61fG+i1kBfUj3Xp+KXHeKia8QvSE2H6EF6nO3yu6vp6mseg/row/QXNpWDuDgAAamgiqL+rIEj0XxJsmBSUiD188np+7im57yaCGZ+k1i0b2CrqefNYhX2lG7BxTO0vMw/1MTCW7sV4peCh/6ucbX5eoyyMG4rHSyz7aM4+Xy2x3pdh5diqVRoyixLUzwZWP6kZpPkvUz7uqFjemyqDdRxPbfefkuvE3nzj4VQ2Duza3p0p1w+V3N+XBfvbPNDy02d9H1+SpHvufl/hnG8L+cNztB3U76Kcz3of7KM+z5bB10us87+Ca6XK/BBd1gmzWg339jbuR3nDbF0b6LWQF9Qfv/z8cMJ9IPbk/zEUB4mrDEUzy3NVH9fTp6G5r766MmkOlFim79QcBQCgjiaC+pvDbBPTnslZ9+2S684azDgQ8seFnmZjyO8t9OWU9Z4raGzGcVg35Cx/e9I4e2bCQ3/e5I/x2KqM67q9YoDktZx9nq0RyPkvOf4uGp9NaCKovy2n7GyruI3bQv5Yu2V6qrVRBuv4MtTrRTkenuTRAV3bsQ5MB5uP1zifstdF3+Wnz/o+G+SsOr9DXr3VdlC/7XLexH2w6/p8S6g3rEzs8fp3zrplJ5bs+n4/q9Vwb2/jfrQr1A/qd33+nxXUpy+WLJdFvfavhvJj1dd9rurretocls8jE9PHA29r3R+Kg/oPaIoCAFBXE0H92wu2UdbhnHXPlVx3lmBG/Iw3/fn/sxXz7lLBeU8KfO4P7fT4+ylnm69VWH883MNXJZfP63X0Q80Gc5XhXBYhqP9FZv3vax7LkZoNxLbKYFXZoTTuq9Cgn1ZHdX1tZ4d72FJhX3fl1MP/Jv8+xPLTV31/KKwcrqCqJ0P3Qf02y3kT98E+6vO8IaDKvtzNC56WGbqjj/t9Exb93t7G/WhnqB/U7/r884L6VV4W3R2K5yspW8brPFf1fT2tS8pOfCm0a07aW0UvYJ4MAABQ0xCC+ntz1v225LqzBDOyn2hvrZh3pwrOe1/FBuwvDfyOeQG6KyXXjY2zceCpbID6iZz9Ha95nFWC4vMe1N+Rs/77NY9lbUFj/lSNIMovPdQ934f6Q8jEANXugVzb92WW+apGXuxL1cXXJtRhQyg/fdX32Z6ZL9U457yez3/OcTlv4j7YR33+cagf1M8bWuXTGut1cb9vwqLf29u4H80S1O/6/D8Ls3cUeKGgbF5s8blqXq+nPhUNO/R5AACAmoYQ1M8LtPxect1ZghnZwMK5iumXgvN+q2ID9rMGfsc4nEbeRFxlxqoeH9OfodqEla+EW+NjfxzKBdfzGr7PVNjnvAf13wyzjX2bdTpne/E3WdtDGawqr0fkOw1tu8tr+60K1/8ksefhI1N+uyGUnz7q+7wgXZ3emX0E9dss503cB/uoz/MCmWWDeXfWrL/6uN83YdHv7W3cj2YJ6g/hWqjac3tdyH9BW3Zc/zrPVfN6PfUl/kZfF5xz1SG1AADg/ww1qF820DJLMON6KB7jcpZ0uuMG7Ni7oV4PoAszNKZioGBtheXzGr5VJjeb96D+t6H+JKFly9O0bQ4lqL+94NjjJ+r3z7jtLq/tn8JswdQwZ+Wnj/r+ZM4662qcbx9B/TbLeRP3wT7q87xA5osV9psdj/vjgdUJTVvke/sQg/p9Xwt1hmM5GarNzTLrc9U8X099ODPlvF/RHAUAoI7VGtTfmlnnekf53WZA9b6Q3wNo0vjed4fqYz3X8fAovTdKf4TVG9RfE/Inh9vd8G8e0ws9lcGq3pnQyI1jZ2+qsc0ur+0NOcf9REv7Gkr56aO+v5pZ/kbN8+0jqN9WOW/iPthXfZ4X4DpXYf/ZgOKbA73fN2WR7+1DDep3df5NBfWfKqhfyjyfVH2umvfrqWuvpPLq54L8/lU2AQBQx2oN6j85w/HOou2A6heh2qR648bGly2caxwmIY57Pe7JHMeWPh9Wb1B/c6jfk65IUaD3ZI9lsOrxfx6KA54xEPNiqDZ0RJfX9u4Z684qhlJ+uq7v1+cs/3eDv9efc1rOm7gP9lWfHw35wz6VrctvVrzm+rrfN2lR7+3zGNRv8vybCuoX3R/KfKVR9blqEa6nruxL5dHVpOx830C7CwAA/r/VGtQ/mLPexg7yu+2A6p6c7ceGRFGw6LfQfADosVE6G5aChXEs4DjJ3Lbkb6t5+J2dBce/d8Zj+jsMZwioOtaG/LHd0+nHUL4HfJfX9oHQzFjv81R+uq7vnwjNBeL7Cuq3Uc6buA/2VZ9vKnj2eKHEutkx9X8e8P2+SYt6b5+noH4b599UUD+6GepN8lv1uWoRrqcuPBhufVUUy9+O5N+LJsz9WJYBAFDVag3qHw799JLpIqCaNwFZXuDv8VBvEr0isUfSpWSbscH7Wk7DUFB/ZTow4zH9mLPNMz2XwTqOTqiPxumTUbprQNf2M6H5IPvQy0/X9X1er9C6Abo+g/pNl/Mm7oN91ufHctb9KywF7ausV+ZLlb7u901bxHv7PAT12zz/JoP6f+Vs670WnqsW5XpqU/xy4veQPyxfnPw6b06C+FJmk6wDAKAKQf1uxiBuswFbJlhyPme5ca/RN2bc34OpBu/4fDYXLLuag/qPhHYmSLuQs80Pey6Ddd1TEOTIBv72DuTaztvXsy3tayjlp+v6fn9B8KOOIQT1myrnTdwH+67P385ZPw5NURTY2hKWBy6PzXCd7g/zZxHv7UMO6ndx/k0G9S/lbOuZFp6rFuV6asttYfkQO3nPBO+H6vPZAADACqs1qH8oZ733O8jvLgKqcfLOvM+w05PqbUwtc88M+3o9s493piy/moP6txUc/6kZj+mrnG2+0XMZnFWsfy6HyUHPIwO4tp/O2ddHLQYKhlB+uq7viyaArDPcw1CC+k2U8ybug33X5+PrNdvD+Gqy7TtS97QYGBtPRhqXP1BxH33c75u2iPf2oQb1uzr/JoP6F2puq+pz1aJcT21J/6ZFk3g/UJDvl2UfAABVmCi324fprgKqeb2AXk/9/X/Jv12YYR8fZbZ/tsQ6qzmoH11vodzlfXK/bwBlsAkxb38JxQHPR3u+tvP29VuL+TGE8tN1fb8nNDdB8NCC+rOU8ybug33X52MxeH8iTH65Mf5CI44RfmcD1+m8Bs8W7d4+xKB+l+ffZFD/t5xtlRnGq4mJcgWjl6S/Ppo2Rn7RhLkPyUYAAMparUH97QXH/EADeXo0ebDvqgGbZ0eYPKne+DPtfTW3/2Jm23HiuC0tNnzrNj6bNmtQ/5Oc9WPebWj4Gr674yBKHTHo9HiJ5WKZfSnJp+xxX+z52i7a12Mt5dkQyk/X9f2Wgv29WuNc+wjqt1XOm7gP9l2fp8vUxeS3iMcShwyJQf44jEwMqH6UnE/dyTj7ut+3YdHu7UML6nd9/k0G9f/JbOeXlp6rFul6alJ6WKKvR2n9lOWLJsw9oWkKAMAsAZ3VENSPrrfQmNyWbPdohw3YInnDajwVbn32mw4EVLEpp9x8VXLd1R7Uf67gHA7WPJ5NOdu61EMQpY4Y7KwSmH0i5Ac81/V8bf+Ts68vZtxXDJr8nHN9DqH89FHf/1PjOJu+1wyxnDdxH+yzPo9ioD4GwH4KxeOVN6GP+31bFunePqSgfh/n31RQf12oNozarM9Vi3Q9NSFd5n4N5Sa8LZow93ryNwAAmGoRg/plx9o9W3Dce2rmZQxOxEDc3xMaRF0GVA/m7CsGmI6HlZ/sV/FCqD+u99GwuoP6Gwquuc9rHk/eeOPP9xBEqSOWxe8rrvNaKNcrvstr+1TBvp6acV+vDrT89FHfnwnN9AztK6jfVjlv4j7YZ30eg/g/hqWx8u9s+Xfo437flkW6tw8pqN/H+TcV1M/WbWW/MKj7XLVI19OstiXHPb6fVJnLomjC3Gc1TwEAqPswH9OuCtsYWlD/6ZLrFk3AGAMMd1XMx/iZ7cVk/Zc7bsAWiT31rhQ0bv+r0ODLOjNDw/f9sLqD+tE7Bedxb43jOZnZxu9h+iffQwrqx33fV2Gde0O5F5BdXtuPFezrr1B9osq4r9jL/9cJv2Pf5aeP+v7Jgn1erHi+fQX12yrnTdwH+6rPY0/Wn5N1numgvunjft+WRbq3Dymo38f5NxXUfzezjfdafq7q+3q6PSk78QuJR0N/4ovJq8mx36hxLPcX5OM3mqcAAEyzNhQH9fdW2M6sQZ49MwRaTues+0GFhvHPBcceJxwrG5CLk/x9kawXhxBY13EDdpJXC87v/Azb/DRne1+XXPdizrovttz4bFLemOZVg/obk4ZvdjsfVdxO/Dw7OyxJmWFYhhbUf7fCOnlDDKwfwLX9TcG+YmN/R8l9bUjt6/EBl58+6vtJv2eVl4J5Q2Rcm+Ny3sR9sK/6/HxqnTs7qG/6uN+3aVHu7V0F9f8Z6Pk3EdS/LalDx+tfCdXmWanzXNXn9bQlrHypdbKHazDei3+Y4Vlw7FJBPm7XTAUAYJIHQnFQv0qgdduMQZ79oX5Q//Wcdb+b8ACeHRJj74Q8iMGeYxOCKbFR83SqcRE/d35oyvEeyNnPly3+xneG/PGZ986wzaKhMLZNWe9QwXplg5HrQv9B/fM5+3+poaBDTI/MENQp26Ow6zJYZBzsvFkhAJCtayb11O7y2t6WnEfevm4kv9WkIEuc1PLXUD7422f56au+31Ow35jvu0usvzUsfT2Rt42tc1zOZ70P9lGf7worA6dPJverNS3+Fl3f79u0KPf2Nu5HeXXFvwM9/yaC+m+G5eOxVymXszxX9XU9nQ/Nzi1TR7yffxtmHwIv7148Tu9rpgIAMMkrEx7Iq0xCWPRgv7bk+nkBiRsz7jvbKNqSnNO5nG2cmJAP42M5mzxgH0/++3G4NYZmleEO8sZs/afl3znbi/PKjNs7VpBPsZfV3TnL355qdP6Qs96VTMOvaJiJR8Ls8z/MKm/CzlM1t/VMyO/ZXWayyAfD8iDyF6F8j9E+ymCeC2H5p+brS6yTHXpm2qfuXV7bz07Z180kGHEita8YREr3uj8/B+Wnz/r+/Qn5+8aEQNSeJJ+LgvqxDorj2B9qITDURTmf5T7YR33+9pRrpUy6nhxj7KFbJYjZZZ3QtkW4t7dxPzpccB5bBnj+eUH9KhNr78lcE09UzKtZn6u6vp7iy4B/C/Z1pqPrbjy5d1Mv0ya9sL4rAABAzkNxDAhdm/IwfrLkA+XxUL/XTDyWHwvWf7jE+jGQ9GfI75X1cXJsp5OH47ifDQXH8MmMAYayDZJvC9bf3eLv/XBmX6/NuL07Q35we9wIOZNpvI0n9owTcD4eiscPPZ4EwIoCfB8VrPtqR9dNUeP3r1D/a4GDYeXEp7HH9qQhW3ZmyvzZUC5Q2GcZzHMhs/8vwuRhOLJB7JdK1i9dXdvRyzPsJwb0b5uD8tNnfR+dC5NfnKQDSPEeNg62/ZT8lpN+g3hP/HAOy/ks98E+6vNDYfagft7L1fUDrBPatAj39jbuR58XbPP5AZ7/oYJ9lZln4mi4FeD+vUId2uRzVdfXU99B/fuSe8ks85BlPTUhb6q8cAcAYIGdTh68L4XiYSKKUmwsfJYEU9LBortC8Wej42BnHMN4U8Ex7ZjQ+Br3Oj1UoqF+pMQ5fDfhOMbeqNEYiQGSab0EtybHeHlKXh1Llm1j+IFLqSDP3Q1s70CFPPolLE0mOm6Q/TZl+aOp/cTfPvaA+nRKIC8OF7W9pbzbnDSwr04pX/tCvbGhd4SVY6qOg3H7ksZiTPvD8l59scw8W3IfQyiDWRdCfg/NOMFf7GG8MznvQ+HWmLvjvDlScV9tXdtF18ZfFfYTz+eVGfKxi/IzpPo+em1CYCcvfZ0cV95EubF366mknlk7x+V8lvtgV/V52seh+cD+hYHWCW2ax3t7G/ejGPiMX7S8P+VZIf7uD07YZh/XQqyXfirY/ptJPbErqSv2JPeL9PIflXi+DS0/V3V5PRUd96EWr7NNyf3v+oS6p87191jyO0/Kp3iNx5fmGzVlAQBWr2m98sum8Se5v1dc71qmQXGj4vrHp5zfiwVBnj+TBlDZIGUcO/XDMP3Fx7dJQGzadk/XzOc/G/79x5+VN9mT6fGChug4XU4asWtzGjHXChou6THBz9TMu6bO8ZOKgcPsJ+dVe1fFRtvFEvv8Pvk9y34dMJQymHWh4vHEfDkbpo9v3NW1PUmc/O+tkN97Oh3YjQGoexvKz7bKzxDr+/Hv+dGU3/PnsPzFxe5UwOp0Eixbu0DlfJb7YNv1eZ59U/ZZJx0ZaJ3Qlnm7t7dxP6qzvXidHBjQtRDtSsrjnyWO/4+knqw6H0ibz1VdXU+bw8pJek+3eI19WCGf4rBCcU6I+yds71xyT71R43eI5etlTVoAABZR7CUde6PG8VTj57w7Z2g0rEkaaAeT7cV0KAkKbZjDvLktaYje28K2H0zyJuZR7NEeA2XThm26I2lQj/N1h+L7f9Yn5Sxd9g4m/7aoPbXWJGVmd1Iunk6d+7hMbWxwX11e2w+m6qXxb/lYaC9AuNrKTwys7cqcb8zvvKB4LGNPhfYD+X2W81nvg13W53G5GDw9l+RJ3F8cozu+1IhfdcTAZQySxd6xN5I07aXV5VV2v3dvb0+f5x97fe/JlMmnk2O4bw7u521fT+tS9dyjAQAAAABoXQxQxiB9nPOgzpwk8cVM7KUcg5xxYuH0xJtrZC8AAAAAADRjPP52DOpvbWibW8KtoU9ul8UAAAAAADC7t8OtHvWvNbztOK52HJ5HT30AAAAAAJhRHGM7Pf795oa3HydO/l42AwAAAADA7K6EWwH9f1vY/s+jdFQ2AwAAAADAbB4Oy3vpx7S1we3HYP7lYOgdgKruGqVDo3RilD4epXOjtL5g2Z3J3+Ny74/SvmAeEwAAAICFtDusDOp/HpoJwv9vlP4YpXtkM0Bpj43SF0l9HF+KPheWJh2fJtbb20fpZLLuP6P0vOwEAAAAWCyxJ+eNsDKw/9UobauxvRhU2jNK347S1dBsr3+ARbYxLE0sPq6HX5phW6dCe5OfAwAAANCzOETOfwUpBvePhaUe/XeE5T34147SpuRvT4elINIfyXqfJX8DYLq7w9L8I+O69+kZt/dopi7fLosBAAAAFsuRkN9jv2r6bZT2y06A0mJA//dUPfrehGXjF1SXkvr60ITl1mXq5uOyGQAAAGDxxLHvPxilm6F6MD/26I8BJhPiApQXJ769nKpLr4TiyXDj109/pJb9acq203X0ZVkNAAAAsLg2jNKBUfpwlC6O0t9hqVdoTNdH6a+wNLxO/Hvslb9ZlgHU8m5YHnx/ZsKyxzPL/jVl2+llr8tqAAAAAACoLw6lkx2+rOhrp/iyNfsV1YUJ216TWfaG7AYAAAAAgPo+DssD7y9NWHZ/WDns2QcTlr8js+w12Q0AAAAAAPXEYcv+DcsD73dNWP5kWBnUf3LC8rvDynlPAAAAAACAGo6G5UH376Ys/3lYOZzOugnLH84s/64sBwAAAACAes6G5UH3t6Ys/3dm+fenLH8qs/yjshwAAAAAAOr5NZQfSie6nlo2Dttz75Tlf0kt/7PsBgAAAACA+uLwOemg/tYpy19LLfvOlGW3ZrZ9RHYDAAAAAEB92Uly10xZ/odkuaujtGHKsm+G5b3018huAAAAAACoL93z/r8py24apZvJcq9NWfa2Ufortd1dshoAAAAAAGZzPpTvqf9+arljU7b7amrZ47IZAAAAAABmF8e5LzOm/t7k738k/z09YZsPhlvD+nwxSmtlMwAAAAAAzC72zB+Pk1/UA/+JUbo+Sr+P0j2j9F3y/zflLHt/uBX4/3yU1stiAAAAAABozl2j9FNYCsTHMfafSP793rA0dE789+9HaUvy7/eFpcB9DO5vS/4t/u2VUbqRpJdlKwAAAAAAtGPdKD0/Sl+HpV74MTAfe+afHaUDOcvHFwHvjdIvybJxnW/D0lj6m2UnAEA3/h9WF3UJdGLtuwAABwx0RVh0TWF0aE1MADxtYXRoIHhtbG5zPSJodHRwOi8vd3d3LnczLm9yZy8xOTk4L01hdGgvTWF0aE1MIj48bXN0eWxlIG1hdGhzaXplPSIxNnB4Ij48bWk+Rmlyc3Q8L21pPjxtbz4mI3hBMDs8L21vPjxtaT5zdGFnZTwvbWk+PG1vPiYjeEEwOzwvbW8+PG1pPnZhcmlhYmxlPC9taT48bW8+OjwvbW8+PG1vPiYjeEEwOzwvbW8+PG1pIG1hdGh2YXJpYW50PSJib2xkIj55PC9taT48bW8+LDwvbW8+PG1pPnNlY29uZDwvbWk+PG1vPiYjeEEwOzwvbW8+PG1pPnN0YWdlPC9taT48bW8+JiN4QTA7PC9tbz48bWk+dmFyaWFibGU8L21pPjxtbz4mI3hBMDs8L21vPjxtaT5hdDwvbWk+PG1vPiYjeEEwOzwvbW8+PG1pPnNjZW5hcmlvPC9taT48bW8+JiN4QTA7PC9tbz48bWkgbWF0aHZhcmlhbnQ9Im5vcm1hbCI+JiN4M0M5OzwvbWk+PG1vPjo8L21vPjxtbyBtYXRodmFyaWFudD0iYm9sZCI+JiN4QTA7PC9tbz48bXN1Yj48bWkgbWF0aHZhcmlhbnQ9ImJvbGQiPng8L21pPjxtaSBtYXRodmFyaWFudD0iYm9sZCI+JiN4M0M5OzwvbWk+PC9tc3ViPjxtc3BhY2UgbGluZWJyZWFrPSJuZXdsaW5lIi8+PG1pPkRpc2NyZXRlPC9taT48bW8+JiN4QTA7PC9tbz48bWk+c2V0PC9taT48bW8+JiN4QTA7PC9tbz48bWk+b2Y8L21pPjxtbz4mI3hBMDs8L21vPjxtaT5zY2VuYXJpb3M8L21pPjxtbz46PC9tbz48bW8+JiN4MjAwOTs8L21vPjxtaT4mI3gzQTk7PC9taT48bW8+PTwvbW8+PG1vPns8L21vPjxtbj4xPC9tbj48bW8+LDwvbW8+PG1uPjI8L21uPjxtbz4sPC9tbz48bW8+LjwvbW8+PG1vPi48L21vPjxtbz4uPC9tbz48bW8+LDwvbW8+PG1pPlM8L21pPjxtbz59PC9tbz48bXNwYWNlIGxpbmVicmVhaz0ibmV3bGluZSIvPjxtaT5FeHBlY3RlZDwvbWk+PG1vPiYjeEEwOzwvbW8+PG1pPkNvc3Q8L21pPjxtbz4mI3hBMDs8L21vPjxtaT5GdW5jdGlvbjwvbWk+PG1vPjo8L21vPjxtbz4mI3hBMDs8L21vPjxtbz4mI3hBMDs8L21vPjxtc3ViPjxtaT5mPC9taT48bWk+JiN4M0M5OzwvbWk+PC9tc3ViPjxtbz4mI3hBMDs8L21vPjxtZmVuY2VkPjxtcm93Pjxtbz4mI3hBMDs8L21vPjxtaSBtYXRodmFyaWFudD0iYm9sZCI+eTwvbWk+PG1vIG1hdGh2YXJpYW50PSJib2xkIj4sPC9tbz48bW8gbWF0aHZhcmlhbnQ9ImJvbGQiPiYjeEEwOzwvbW8+PG1zdWI+PG1pIG1hdGh2YXJpYW50PSJib2xkIj54PC9taT48bWkgbWF0aHZhcmlhbnQ9ImJvbGQiPiYjeDNDOTs8L21pPjwvbXN1Yj48bW8+JiN4QTA7PC9tbz48bW8+JiN4QTA7PC9tbz48L21yb3c+PC9tZmVuY2VkPjxtc3BhY2UgbGluZWJyZWFrPSJuZXdsaW5lIi8+PG1pPkludGVydmFsPC9taT48bW8+JiN4QTA7PC9tbz48bWk+Zm9yPC9taT48bW8+JiN4QTA7PC9tbz48bWk+Zmlyc3Q8L21pPjxtbz4mI3hBMDs8L21vPjxtaT5zdGFnZTwvbWk+PG1vPiYjeEEwOzwvbW8+PG1pPnZhcmlhYmxlPC9taT48bW8+OjwvbW8+PG1vPiYjeEEwOzwvbW8+PG1lbmNsb3NlIG5vdGF0aW9uPSJ0b3AiPjxtaT5ZPC9taT48L21lbmNsb3NlPjxtc3BhY2UgbGluZWJyZWFrPSJuZXdsaW5lIi8+PG1pPkludGVydmFsPC9taT48bW8+JiN4QTA7PC9tbz48bWk+Zm9yPC9taT48bW8+JiN4QTA7PC9tbz48bWk+c2Vjb25kPC9taT48bW8+JiN4QTA7PC9tbz48bWk+c3RhZ2U8L21pPjxtbz4mI3hBMDs8L21vPjxtaT52YXJpYWJsZTwvbWk+PG1vPjo8L21vPjxtbz4mI3hBMDs8L21vPjxtc3ViPjxtb3Zlcj48bWk+WDwvbWk+PG1vPiYjeEFGOzwvbW8+PC9tb3Zlcj48bWk+JiN4M0M5OzwvbWk+PC9tc3ViPjxtc3BhY2UgbGluZWJyZWFrPSJuZXdsaW5lIi8+PC9tc3R5bGU+PC9tYXRoPsUZFcAAAAAASUVORK5CYII=\&quot;,\&quot;slideId\&quot;:2766,\&quot;accessibleText\&quot;:\&quot;First space stage space variable colon space bold y comma second space stage space variable space at space scenario space straight omega colon bold space bold x subscript bold omega\\nDiscrete space set space of space scenarios colon thin space capital omega equals left curly bracket 1 comma 2 comma... comma S right curly bracket\\nExpected space Cost space Function colon space space f subscript omega space open parentheses space bold y bold comma bold space bold x subscript bold omega space space close parentheses\\nInterval space for space first space stage space variable colon space top enclose Y\\nInterval space for space second space stage space variable colon space X with bar on top subscript omega\\n\&quot;,\&quot;imageHeight\&quot;:137.37133333333333}]&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17c697f2-26f5-46ab-afbb-b0ea2635dd9c" xsi:nil="true"/>
    <lcf76f155ced4ddcb4097134ff3c332f xmlns="69b9bdcc-0b12-4dc3-9acb-67f942ae7de6">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AC91CA193621E42BC9AFE5C9A16BDB9" ma:contentTypeVersion="17" ma:contentTypeDescription="Create a new document." ma:contentTypeScope="" ma:versionID="8f0ca10f63f56faf2795e6ac86399578">
  <xsd:schema xmlns:xsd="http://www.w3.org/2001/XMLSchema" xmlns:xs="http://www.w3.org/2001/XMLSchema" xmlns:p="http://schemas.microsoft.com/office/2006/metadata/properties" xmlns:ns2="69b9bdcc-0b12-4dc3-9acb-67f942ae7de6" xmlns:ns3="17c697f2-26f5-46ab-afbb-b0ea2635dd9c" targetNamespace="http://schemas.microsoft.com/office/2006/metadata/properties" ma:root="true" ma:fieldsID="ca32de1aa7965e411563a0cbe7ad920c" ns2:_="" ns3:_="">
    <xsd:import namespace="69b9bdcc-0b12-4dc3-9acb-67f942ae7de6"/>
    <xsd:import namespace="17c697f2-26f5-46ab-afbb-b0ea2635dd9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3:SharedWithUsers" minOccurs="0"/>
                <xsd:element ref="ns3:SharedWithDetails" minOccurs="0"/>
                <xsd:element ref="ns2:lcf76f155ced4ddcb4097134ff3c332f" minOccurs="0"/>
                <xsd:element ref="ns3:TaxCatchAll" minOccurs="0"/>
                <xsd:element ref="ns2:MediaLengthInSecond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b9bdcc-0b12-4dc3-9acb-67f942ae7de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c2506c3-735d-4e70-aa79-204d06275b9f"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7c697f2-26f5-46ab-afbb-b0ea2635dd9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712b394-61ad-454a-963e-7193671de8c6}" ma:internalName="TaxCatchAll" ma:showField="CatchAllData" ma:web="17c697f2-26f5-46ab-afbb-b0ea2635dd9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739E349-A9DA-4569-B71E-A0A0F5D69ACB}">
  <ds:schemaRefs>
    <ds:schemaRef ds:uri="http://schemas.microsoft.com/sharepoint/v3/contenttype/forms"/>
  </ds:schemaRefs>
</ds:datastoreItem>
</file>

<file path=customXml/itemProps2.xml><?xml version="1.0" encoding="utf-8"?>
<ds:datastoreItem xmlns:ds="http://schemas.openxmlformats.org/officeDocument/2006/customXml" ds:itemID="{4F564891-7C6B-43D3-B3DA-B9F932417E50}">
  <ds:schemaRefs>
    <ds:schemaRef ds:uri="http://schemas.microsoft.com/office/infopath/2007/PartnerControls"/>
    <ds:schemaRef ds:uri="http://purl.org/dc/terms/"/>
    <ds:schemaRef ds:uri="http://www.w3.org/XML/1998/namespace"/>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17c697f2-26f5-46ab-afbb-b0ea2635dd9c"/>
    <ds:schemaRef ds:uri="69b9bdcc-0b12-4dc3-9acb-67f942ae7de6"/>
    <ds:schemaRef ds:uri="http://purl.org/dc/dcmitype/"/>
  </ds:schemaRefs>
</ds:datastoreItem>
</file>

<file path=customXml/itemProps3.xml><?xml version="1.0" encoding="utf-8"?>
<ds:datastoreItem xmlns:ds="http://schemas.openxmlformats.org/officeDocument/2006/customXml" ds:itemID="{5E030836-C47F-42C1-8EAE-113AC99DEF8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9b9bdcc-0b12-4dc3-9acb-67f942ae7de6"/>
    <ds:schemaRef ds:uri="17c697f2-26f5-46ab-afbb-b0ea2635dd9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37881</TotalTime>
  <Words>414</Words>
  <Application>Microsoft Macintosh PowerPoint</Application>
  <PresentationFormat>Widescreen</PresentationFormat>
  <Paragraphs>87</Paragraphs>
  <Slides>14</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Times</vt:lpstr>
      <vt:lpstr>Arial</vt:lpstr>
      <vt:lpstr>Scott Group Slide</vt:lpstr>
      <vt:lpstr>PowerPoint Presentation</vt:lpstr>
      <vt:lpstr>Motivation</vt:lpstr>
      <vt:lpstr>Dataset Overview</vt:lpstr>
      <vt:lpstr>Workflow</vt:lpstr>
      <vt:lpstr>Baseline Model</vt:lpstr>
      <vt:lpstr>Baseline Model</vt:lpstr>
      <vt:lpstr>Improved Model</vt:lpstr>
      <vt:lpstr>Improved Model</vt:lpstr>
      <vt:lpstr>Improved Model</vt:lpstr>
      <vt:lpstr>Neural Network?</vt:lpstr>
      <vt:lpstr>Improved Model</vt:lpstr>
      <vt:lpstr>Feature Reduction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Scott Group Template</dc:title>
  <dc:creator>Pengfei Cheng</dc:creator>
  <cp:lastModifiedBy>Yang, Jingzhi</cp:lastModifiedBy>
  <cp:revision>262</cp:revision>
  <cp:lastPrinted>2025-04-09T18:40:19Z</cp:lastPrinted>
  <dcterms:created xsi:type="dcterms:W3CDTF">2013-02-27T21:09:56Z</dcterms:created>
  <dcterms:modified xsi:type="dcterms:W3CDTF">2025-11-22T01:01:30Z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0x0101009AC91CA193621E42BC9AFE5C9A16BDB9</vt:lpwstr>
  </property>
  <property fmtid="{D5CDD505-2E9C-101B-9397-08002B2CF9AE}" pid="3" name="MediaServiceImageTags">
    <vt:lpwstr/>
  </property>
</Properties>
</file>